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143500" cx="9144000"/>
  <p:notesSz cx="5143500" cy="9144000"/>
  <p:embeddedFontLst>
    <p:embeddedFont>
      <p:font typeface="Roboto"/>
      <p:regular r:id="rId30"/>
      <p:bold r:id="rId31"/>
      <p:italic r:id="rId32"/>
      <p:boldItalic r:id="rId33"/>
    </p:embeddedFont>
    <p:embeddedFont>
      <p:font typeface="Roboto Mono"/>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8" roundtripDataSignature="AMtx7mj6rqTZNXeQAe9g+h4pJbrbQPfSD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6914E09-2C7A-4806-8AC3-76DB3140FBE1}">
  <a:tblStyle styleId="{96914E09-2C7A-4806-8AC3-76DB3140FBE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bold.fntdata"/><Relationship Id="rId30" Type="http://schemas.openxmlformats.org/officeDocument/2006/relationships/font" Target="fonts/Roboto-regular.fntdata"/><Relationship Id="rId11" Type="http://schemas.openxmlformats.org/officeDocument/2006/relationships/slide" Target="slides/slide6.xml"/><Relationship Id="rId33" Type="http://schemas.openxmlformats.org/officeDocument/2006/relationships/font" Target="fonts/Roboto-boldItalic.fntdata"/><Relationship Id="rId10" Type="http://schemas.openxmlformats.org/officeDocument/2006/relationships/slide" Target="slides/slide5.xml"/><Relationship Id="rId32" Type="http://schemas.openxmlformats.org/officeDocument/2006/relationships/font" Target="fonts/Roboto-italic.fntdata"/><Relationship Id="rId13" Type="http://schemas.openxmlformats.org/officeDocument/2006/relationships/slide" Target="slides/slide8.xml"/><Relationship Id="rId35" Type="http://schemas.openxmlformats.org/officeDocument/2006/relationships/font" Target="fonts/RobotoMono-bold.fntdata"/><Relationship Id="rId12" Type="http://schemas.openxmlformats.org/officeDocument/2006/relationships/slide" Target="slides/slide7.xml"/><Relationship Id="rId34" Type="http://schemas.openxmlformats.org/officeDocument/2006/relationships/font" Target="fonts/RobotoMono-regular.fntdata"/><Relationship Id="rId15" Type="http://schemas.openxmlformats.org/officeDocument/2006/relationships/slide" Target="slides/slide10.xml"/><Relationship Id="rId37" Type="http://schemas.openxmlformats.org/officeDocument/2006/relationships/font" Target="fonts/RobotoMono-boldItalic.fntdata"/><Relationship Id="rId14" Type="http://schemas.openxmlformats.org/officeDocument/2006/relationships/slide" Target="slides/slide9.xml"/><Relationship Id="rId36" Type="http://schemas.openxmlformats.org/officeDocument/2006/relationships/font" Target="fonts/RobotoMono-italic.fntdata"/><Relationship Id="rId17" Type="http://schemas.openxmlformats.org/officeDocument/2006/relationships/slide" Target="slides/slide12.xml"/><Relationship Id="rId16" Type="http://schemas.openxmlformats.org/officeDocument/2006/relationships/slide" Target="slides/slide11.xml"/><Relationship Id="rId38" Type="http://customschemas.google.com/relationships/presentationmetadata" Target="meta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 name="Google Shape;5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 name="Google Shape;5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d26b78a17e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9" name="Google Shape;69;g3d26b78a17e_0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 name="Google Shape;70;g3d26b78a17e_0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d26b78a17e_0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2" name="Google Shape;82;g3d26b78a17e_0_2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g3d26b78a17e_0_2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d4367663e0_1_1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5" name="Google Shape;95;g3d4367663e0_1_14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g3d4367663e0_1_14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d26b78a17e_0_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d26b78a17e_0_6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g3d26b78a17e_0_6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d4367663e0_1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g3d4367663e0_1_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g3d4367663e0_1_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d4367663e0_1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g3d4367663e0_1_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g3d4367663e0_1_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d4367663e0_1_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g3d4367663e0_1_1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g3d4367663e0_1_1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d4367663e0_1_1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g3d4367663e0_1_1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g3d4367663e0_1_1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dc97b155af_0_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g3dc97b155af_0_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b="1" lang="en-US">
                <a:latin typeface="Arial"/>
                <a:ea typeface="Arial"/>
                <a:cs typeface="Arial"/>
                <a:sym typeface="Arial"/>
              </a:rPr>
              <a:t># Correlation heatmap</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cols = ['brent_price', 'wti_price', 'dxy_index', 'vix', 'gpr_index', 'brent_return', 'wti_return']</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fig, ax = plt.subplots(figsize=(9, 7))</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sns.heatmap(df[cols].corr(), annot=True, fmt='.2f', cmap='coolwarm', ax=ax)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ax.set_title('Correlation Matrix')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plt.tight_layout()</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plt.show()</a:t>
            </a:r>
            <a:endParaRPr b="1">
              <a:latin typeface="Arial"/>
              <a:ea typeface="Arial"/>
              <a:cs typeface="Arial"/>
              <a:sym typeface="Arial"/>
            </a:endParaRPr>
          </a:p>
          <a:p>
            <a:pPr indent="0" lvl="0" marL="0" rtl="0" algn="l">
              <a:spcBef>
                <a:spcPts val="0"/>
              </a:spcBef>
              <a:spcAft>
                <a:spcPts val="0"/>
              </a:spcAft>
              <a:buNone/>
            </a:pPr>
            <a:r>
              <a:t/>
            </a:r>
            <a:endParaRPr/>
          </a:p>
        </p:txBody>
      </p:sp>
      <p:sp>
        <p:nvSpPr>
          <p:cNvPr id="243" name="Google Shape;243;g3dc97b155af_0_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3" name="Google Shape;25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d26b78a17e_0_1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g3d26b78a17e_0_1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a:latin typeface="Arial"/>
                <a:ea typeface="Arial"/>
                <a:cs typeface="Arial"/>
                <a:sym typeface="Arial"/>
              </a:rPr>
              <a:t># Correlation heatmap</a:t>
            </a:r>
            <a:endParaRPr b="1">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a:latin typeface="Arial"/>
                <a:ea typeface="Arial"/>
                <a:cs typeface="Arial"/>
                <a:sym typeface="Arial"/>
              </a:rPr>
              <a:t>cols = ['brent_price', 'wti_price', 'dxy_index', 'vix', 'gpr_index', 'brent_return', 'wti_return']</a:t>
            </a:r>
            <a:endParaRPr b="1">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a:latin typeface="Arial"/>
                <a:ea typeface="Arial"/>
                <a:cs typeface="Arial"/>
                <a:sym typeface="Arial"/>
              </a:rPr>
              <a:t>fig, ax = plt.subplots(figsize=(9, 7))</a:t>
            </a:r>
            <a:endParaRPr b="1">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a:latin typeface="Arial"/>
                <a:ea typeface="Arial"/>
                <a:cs typeface="Arial"/>
                <a:sym typeface="Arial"/>
              </a:rPr>
              <a:t>sns.heatmap(df[cols].corr(), annot=True, fmt='.2f', cmap='coolwarm', ax=ax)</a:t>
            </a:r>
            <a:endParaRPr b="1">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a:latin typeface="Arial"/>
                <a:ea typeface="Arial"/>
                <a:cs typeface="Arial"/>
                <a:sym typeface="Arial"/>
              </a:rPr>
              <a:t>ax.set_title('Correlation Matrix')</a:t>
            </a:r>
            <a:endParaRPr b="1">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a:latin typeface="Arial"/>
                <a:ea typeface="Arial"/>
                <a:cs typeface="Arial"/>
                <a:sym typeface="Arial"/>
              </a:rPr>
              <a:t>plt.tight_layout()</a:t>
            </a:r>
            <a:endParaRPr b="1">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a:latin typeface="Arial"/>
                <a:ea typeface="Arial"/>
                <a:cs typeface="Arial"/>
                <a:sym typeface="Arial"/>
              </a:rPr>
              <a:t>plt.show()</a:t>
            </a:r>
            <a:endParaRPr b="1">
              <a:latin typeface="Arial"/>
              <a:ea typeface="Arial"/>
              <a:cs typeface="Arial"/>
              <a:sym typeface="Arial"/>
            </a:endParaRPr>
          </a:p>
          <a:p>
            <a:pPr indent="0" lvl="0" marL="0" rtl="0" algn="l">
              <a:spcBef>
                <a:spcPts val="0"/>
              </a:spcBef>
              <a:spcAft>
                <a:spcPts val="0"/>
              </a:spcAft>
              <a:buNone/>
            </a:pPr>
            <a:r>
              <a:t/>
            </a:r>
            <a:endParaRPr/>
          </a:p>
        </p:txBody>
      </p:sp>
      <p:sp>
        <p:nvSpPr>
          <p:cNvPr id="266" name="Google Shape;266;g3d26b78a17e_0_1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d26b78a17e_0_2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g3d26b78a17e_0_2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b="1" lang="en-US">
                <a:latin typeface="Arial"/>
                <a:ea typeface="Arial"/>
                <a:cs typeface="Arial"/>
                <a:sym typeface="Arial"/>
              </a:rPr>
              <a:t># Correlation heatmap</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cols = ['brent_price', 'wti_price', 'dxy_index', 'vix', 'gpr_index', 'brent_return', 'wti_return']</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fig, ax = plt.subplots(figsize=(9, 7))</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sns.heatmap(df[cols].corr(), annot=True, fmt='.2f', cmap='coolwarm', ax=ax)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ax.set_title('Correlation Matrix')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plt.tight_layout()</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plt.show()</a:t>
            </a:r>
            <a:endParaRPr b="1">
              <a:latin typeface="Arial"/>
              <a:ea typeface="Arial"/>
              <a:cs typeface="Arial"/>
              <a:sym typeface="Arial"/>
            </a:endParaRPr>
          </a:p>
          <a:p>
            <a:pPr indent="0" lvl="0" marL="0" rtl="0" algn="l">
              <a:spcBef>
                <a:spcPts val="0"/>
              </a:spcBef>
              <a:spcAft>
                <a:spcPts val="0"/>
              </a:spcAft>
              <a:buNone/>
            </a:pPr>
            <a:r>
              <a:t/>
            </a:r>
            <a:endParaRPr/>
          </a:p>
        </p:txBody>
      </p:sp>
      <p:sp>
        <p:nvSpPr>
          <p:cNvPr id="277" name="Google Shape;277;g3d26b78a17e_0_2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dccfc74559_2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 name="Google Shape;285;g3dccfc74559_2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b="1" lang="en-US">
                <a:latin typeface="Arial"/>
                <a:ea typeface="Arial"/>
                <a:cs typeface="Arial"/>
                <a:sym typeface="Arial"/>
              </a:rPr>
              <a:t># Correlation heatmap</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cols = ['brent_price', 'wti_price', 'dxy_index', 'vix', 'gpr_index', 'brent_return', 'wti_return']</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fig, ax = plt.subplots(figsize=(9, 7))</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sns.heatmap(df[cols].corr(), annot=True, fmt='.2f', cmap='coolwarm', ax=ax)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ax.set_title('Correlation Matrix')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plt.tight_layout()</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plt.show()</a:t>
            </a:r>
            <a:endParaRPr b="1">
              <a:latin typeface="Arial"/>
              <a:ea typeface="Arial"/>
              <a:cs typeface="Arial"/>
              <a:sym typeface="Arial"/>
            </a:endParaRPr>
          </a:p>
          <a:p>
            <a:pPr indent="0" lvl="0" marL="0" rtl="0" algn="l">
              <a:spcBef>
                <a:spcPts val="0"/>
              </a:spcBef>
              <a:spcAft>
                <a:spcPts val="0"/>
              </a:spcAft>
              <a:buNone/>
            </a:pPr>
            <a:r>
              <a:t/>
            </a:r>
            <a:endParaRPr/>
          </a:p>
        </p:txBody>
      </p:sp>
      <p:sp>
        <p:nvSpPr>
          <p:cNvPr id="286" name="Google Shape;286;g3dccfc74559_2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dd1eb556c5_4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 name="Google Shape;295;g3dd1eb556c5_4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b="1" lang="en-US">
                <a:latin typeface="Arial"/>
                <a:ea typeface="Arial"/>
                <a:cs typeface="Arial"/>
                <a:sym typeface="Arial"/>
              </a:rPr>
              <a:t># Correlation heatmap</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cols = ['brent_price', 'wti_price', 'dxy_index', 'vix', 'gpr_index', 'brent_return', 'wti_return']</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fig, ax = plt.subplots(figsize=(9, 7))</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sns.heatmap(df[cols].corr(), annot=True, fmt='.2f', cmap='coolwarm', ax=ax)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ax.set_title('Correlation Matrix')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plt.tight_layout()</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plt.show()</a:t>
            </a:r>
            <a:endParaRPr b="1">
              <a:latin typeface="Arial"/>
              <a:ea typeface="Arial"/>
              <a:cs typeface="Arial"/>
              <a:sym typeface="Arial"/>
            </a:endParaRPr>
          </a:p>
          <a:p>
            <a:pPr indent="0" lvl="0" marL="0" rtl="0" algn="l">
              <a:spcBef>
                <a:spcPts val="0"/>
              </a:spcBef>
              <a:spcAft>
                <a:spcPts val="0"/>
              </a:spcAft>
              <a:buNone/>
            </a:pPr>
            <a:r>
              <a:t/>
            </a:r>
            <a:endParaRPr/>
          </a:p>
        </p:txBody>
      </p:sp>
      <p:sp>
        <p:nvSpPr>
          <p:cNvPr id="296" name="Google Shape;296;g3dd1eb556c5_4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d26b78a17e_0_2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g3d26b78a17e_0_2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b="1" lang="en-US">
                <a:latin typeface="Arial"/>
                <a:ea typeface="Arial"/>
                <a:cs typeface="Arial"/>
                <a:sym typeface="Arial"/>
              </a:rPr>
              <a:t># Correlation heatmap</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cols = ['brent_price', 'wti_price', 'dxy_index', 'vix', 'gpr_index', 'brent_return', 'wti_return']</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fig, ax = plt.subplots(figsize=(9, 7))</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sns.heatmap(df[cols].corr(), annot=True, fmt='.2f', cmap='coolwarm', ax=ax)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ax.set_title('Correlation Matrix')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plt.tight_layout()</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plt.show()</a:t>
            </a:r>
            <a:endParaRPr b="1">
              <a:latin typeface="Arial"/>
              <a:ea typeface="Arial"/>
              <a:cs typeface="Arial"/>
              <a:sym typeface="Arial"/>
            </a:endParaRPr>
          </a:p>
          <a:p>
            <a:pPr indent="0" lvl="0" marL="0" rtl="0" algn="l">
              <a:spcBef>
                <a:spcPts val="0"/>
              </a:spcBef>
              <a:spcAft>
                <a:spcPts val="0"/>
              </a:spcAft>
              <a:buNone/>
            </a:pPr>
            <a:r>
              <a:t/>
            </a:r>
            <a:endParaRPr/>
          </a:p>
        </p:txBody>
      </p:sp>
      <p:sp>
        <p:nvSpPr>
          <p:cNvPr id="305" name="Google Shape;305;g3d26b78a17e_0_2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dc9337976c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4" name="Google Shape;314;g3dc9337976c_0_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b="1" lang="en-US">
                <a:latin typeface="Arial"/>
                <a:ea typeface="Arial"/>
                <a:cs typeface="Arial"/>
                <a:sym typeface="Arial"/>
              </a:rPr>
              <a:t># Correlation heatmap</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cols = ['brent_price', 'wti_price', 'dxy_index', 'vix', 'gpr_index', 'brent_return', 'wti_return']</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fig, ax = plt.subplots(figsize=(9, 7))</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sns.heatmap(df[cols].corr(), annot=True, fmt='.2f', cmap='coolwarm', ax=ax)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ax.set_title('Correlation Matrix')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plt.tight_layout()</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plt.show()</a:t>
            </a:r>
            <a:endParaRPr b="1">
              <a:latin typeface="Arial"/>
              <a:ea typeface="Arial"/>
              <a:cs typeface="Arial"/>
              <a:sym typeface="Arial"/>
            </a:endParaRPr>
          </a:p>
          <a:p>
            <a:pPr indent="0" lvl="0" marL="0" rtl="0" algn="l">
              <a:spcBef>
                <a:spcPts val="0"/>
              </a:spcBef>
              <a:spcAft>
                <a:spcPts val="0"/>
              </a:spcAft>
              <a:buNone/>
            </a:pPr>
            <a:r>
              <a:t/>
            </a:r>
            <a:endParaRPr/>
          </a:p>
        </p:txBody>
      </p:sp>
      <p:sp>
        <p:nvSpPr>
          <p:cNvPr id="315" name="Google Shape;315;g3dc9337976c_0_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d26b78a17e_0_2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5" name="Google Shape;325;g3d26b78a17e_0_2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b="1" lang="en-US">
                <a:latin typeface="Arial"/>
                <a:ea typeface="Arial"/>
                <a:cs typeface="Arial"/>
                <a:sym typeface="Arial"/>
              </a:rPr>
              <a:t># Correlation heatmap</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cols = ['brent_price', 'wti_price', 'dxy_index', 'vix', 'gpr_index', 'brent_return', 'wti_return']</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fig, ax = plt.subplots(figsize=(9, 7))</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sns.heatmap(df[cols].corr(), annot=True, fmt='.2f', cmap='coolwarm', ax=ax)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ax.set_title('Correlation Matrix')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plt.tight_layout()</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plt.show()</a:t>
            </a:r>
            <a:endParaRPr b="1">
              <a:latin typeface="Arial"/>
              <a:ea typeface="Arial"/>
              <a:cs typeface="Arial"/>
              <a:sym typeface="Arial"/>
            </a:endParaRPr>
          </a:p>
          <a:p>
            <a:pPr indent="0" lvl="0" marL="0" rtl="0" algn="l">
              <a:spcBef>
                <a:spcPts val="0"/>
              </a:spcBef>
              <a:spcAft>
                <a:spcPts val="0"/>
              </a:spcAft>
              <a:buNone/>
            </a:pPr>
            <a:r>
              <a:t/>
            </a:r>
            <a:endParaRPr/>
          </a:p>
        </p:txBody>
      </p:sp>
      <p:sp>
        <p:nvSpPr>
          <p:cNvPr id="326" name="Google Shape;326;g3d26b78a17e_0_2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d26b78a17e_0_2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5" name="Google Shape;335;g3d26b78a17e_0_2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b="1" lang="en-US">
                <a:latin typeface="Arial"/>
                <a:ea typeface="Arial"/>
                <a:cs typeface="Arial"/>
                <a:sym typeface="Arial"/>
              </a:rPr>
              <a:t># Correlation heatmap</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cols = ['brent_price', 'wti_price', 'dxy_index', 'vix', 'gpr_index', 'brent_return', 'wti_return']</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fig, ax = plt.subplots(figsize=(9, 7))</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sns.heatmap(df[cols].corr(), annot=True, fmt='.2f', cmap='coolwarm', ax=ax)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ax.set_title('Correlation Matrix')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plt.tight_layout()</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plt.show()</a:t>
            </a:r>
            <a:endParaRPr b="1">
              <a:latin typeface="Arial"/>
              <a:ea typeface="Arial"/>
              <a:cs typeface="Arial"/>
              <a:sym typeface="Arial"/>
            </a:endParaRPr>
          </a:p>
          <a:p>
            <a:pPr indent="0" lvl="0" marL="0" rtl="0" algn="l">
              <a:spcBef>
                <a:spcPts val="0"/>
              </a:spcBef>
              <a:spcAft>
                <a:spcPts val="0"/>
              </a:spcAft>
              <a:buNone/>
            </a:pPr>
            <a:r>
              <a:t/>
            </a:r>
            <a:endParaRPr/>
          </a:p>
        </p:txBody>
      </p:sp>
      <p:sp>
        <p:nvSpPr>
          <p:cNvPr id="336" name="Google Shape;336;g3d26b78a17e_0_2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dc97b155af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 name="Google Shape;344;g3dc97b155af_0_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b="1" lang="en-US">
                <a:latin typeface="Arial"/>
                <a:ea typeface="Arial"/>
                <a:cs typeface="Arial"/>
                <a:sym typeface="Arial"/>
              </a:rPr>
              <a:t># Correlation heatmap</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cols = ['brent_price', 'wti_price', 'dxy_index', 'vix', 'gpr_index', 'brent_return', 'wti_return']</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fig, ax = plt.subplots(figsize=(9, 7))</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sns.heatmap(df[cols].corr(), annot=True, fmt='.2f', cmap='coolwarm', ax=ax)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ax.set_title('Correlation Matrix')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plt.tight_layout()</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plt.show()</a:t>
            </a:r>
            <a:endParaRPr b="1">
              <a:latin typeface="Arial"/>
              <a:ea typeface="Arial"/>
              <a:cs typeface="Arial"/>
              <a:sym typeface="Arial"/>
            </a:endParaRPr>
          </a:p>
          <a:p>
            <a:pPr indent="0" lvl="0" marL="0" rtl="0" algn="l">
              <a:spcBef>
                <a:spcPts val="0"/>
              </a:spcBef>
              <a:spcAft>
                <a:spcPts val="0"/>
              </a:spcAft>
              <a:buNone/>
            </a:pPr>
            <a:r>
              <a:t/>
            </a:r>
            <a:endParaRPr/>
          </a:p>
        </p:txBody>
      </p:sp>
      <p:sp>
        <p:nvSpPr>
          <p:cNvPr id="345" name="Google Shape;345;g3dc97b155af_0_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dccfc74559_0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 name="Google Shape;355;g3dccfc74559_0_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b="1" lang="en-US">
                <a:latin typeface="Arial"/>
                <a:ea typeface="Arial"/>
                <a:cs typeface="Arial"/>
                <a:sym typeface="Arial"/>
              </a:rPr>
              <a:t># Correlation heatmap</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cols = ['brent_price', 'wti_price', 'dxy_index', 'vix', 'gpr_index', 'brent_return', 'wti_return']</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fig, ax = plt.subplots(figsize=(9, 7))</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sns.heatmap(df[cols].corr(), annot=True, fmt='.2f', cmap='coolwarm', ax=ax)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ax.set_title('Correlation Matrix')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plt.tight_layout()</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plt.show()</a:t>
            </a:r>
            <a:endParaRPr b="1">
              <a:latin typeface="Arial"/>
              <a:ea typeface="Arial"/>
              <a:cs typeface="Arial"/>
              <a:sym typeface="Arial"/>
            </a:endParaRPr>
          </a:p>
          <a:p>
            <a:pPr indent="0" lvl="0" marL="0" rtl="0" algn="l">
              <a:spcBef>
                <a:spcPts val="0"/>
              </a:spcBef>
              <a:spcAft>
                <a:spcPts val="0"/>
              </a:spcAft>
              <a:buNone/>
            </a:pPr>
            <a:r>
              <a:t/>
            </a:r>
            <a:endParaRPr/>
          </a:p>
        </p:txBody>
      </p:sp>
      <p:sp>
        <p:nvSpPr>
          <p:cNvPr id="356" name="Google Shape;356;g3dccfc74559_0_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dccfc74559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7" name="Google Shape;367;g3dccfc74559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b="1" lang="en-US">
                <a:latin typeface="Arial"/>
                <a:ea typeface="Arial"/>
                <a:cs typeface="Arial"/>
                <a:sym typeface="Arial"/>
              </a:rPr>
              <a:t># Correlation heatmap</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cols = ['brent_price', 'wti_price', 'dxy_index', 'vix', 'gpr_index', 'brent_return', 'wti_return']</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fig, ax = plt.subplots(figsize=(9, 7))</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sns.heatmap(df[cols].corr(), annot=True, fmt='.2f', cmap='coolwarm', ax=ax)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ax.set_title('Correlation Matrix')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plt.tight_layout()</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plt.show()</a:t>
            </a:r>
            <a:endParaRPr b="1">
              <a:latin typeface="Arial"/>
              <a:ea typeface="Arial"/>
              <a:cs typeface="Arial"/>
              <a:sym typeface="Arial"/>
            </a:endParaRPr>
          </a:p>
          <a:p>
            <a:pPr indent="0" lvl="0" marL="0" rtl="0" algn="l">
              <a:spcBef>
                <a:spcPts val="0"/>
              </a:spcBef>
              <a:spcAft>
                <a:spcPts val="0"/>
              </a:spcAft>
              <a:buNone/>
            </a:pPr>
            <a:r>
              <a:t/>
            </a:r>
            <a:endParaRPr/>
          </a:p>
        </p:txBody>
      </p:sp>
      <p:sp>
        <p:nvSpPr>
          <p:cNvPr id="368" name="Google Shape;368;g3dccfc74559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d4367663e0_1_1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3d4367663e0_1_16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7" name="Google Shape;377;g3d4367663e0_1_16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g3dc9337976c_0_77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5" name="Google Shape;15;g3dc9337976c_0_77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g3dc9337976c_0_77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g3dc9337976c_0_778"/>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g3dc9337976c_0_77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g3dc9337976c_0_78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g3dc9337976c_0_78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g3dc9337976c_0_78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g3dc9337976c_0_78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 name="Google Shape;26;g3dc9337976c_0_78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g3dc9337976c_0_78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g3dc9337976c_0_78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g3dc9337976c_0_79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1" name="Google Shape;31;g3dc9337976c_0_79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g3dc9337976c_0_793"/>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g3dc9337976c_0_793"/>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g3dc9337976c_0_79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g3dc9337976c_0_797"/>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8" name="Google Shape;38;g3dc9337976c_0_79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g3dc9337976c_0_80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g3dc9337976c_0_800"/>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g3dc9337976c_0_800"/>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g3dc9337976c_0_800"/>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4" name="Google Shape;44;g3dc9337976c_0_80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g3dc9337976c_0_806"/>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7" name="Google Shape;47;g3dc9337976c_0_80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g3dc9337976c_0_809"/>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0" name="Google Shape;50;g3dc9337976c_0_809"/>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1" name="Google Shape;51;g3dc9337976c_0_80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g3dc9337976c_0_8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4" name="Shape 5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 name="Shape 9"/>
        <p:cNvGrpSpPr/>
        <p:nvPr/>
      </p:nvGrpSpPr>
      <p:grpSpPr>
        <a:xfrm>
          <a:off x="0" y="0"/>
          <a:ext cx="0" cy="0"/>
          <a:chOff x="0" y="0"/>
          <a:chExt cx="0" cy="0"/>
        </a:xfrm>
      </p:grpSpPr>
      <p:sp>
        <p:nvSpPr>
          <p:cNvPr id="10" name="Google Shape;10;g3dc9337976c_0_77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1" name="Google Shape;11;g3dc9337976c_0_77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12" name="Google Shape;12;g3dc9337976c_0_7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hyperlink" Target="https://www.google.com/search?q=U.S.+Dollar+Index+%28DXY%29&amp;sca_esv=002f5cc141b4142f&amp;sxsrf=ANbL-n4QYVrtr0nn7sHjY_sZm1mHX40k3g%3A1774887098587&amp;source=hp&amp;ei=uqDKadaAIZ2E4-EPx5ff8QI&amp;iflsig=AFdpzrgAAAAAacquyvh7SXIsL8Fm2LpsL5SFddgYbLWz&amp;ved=2ahUKEwiKmcjZgciTAxW6wzgGHTJbDjYQgK4QegQIAxAB&amp;uact=5&amp;oq=Macroeconomic+Indicators%0D%0A%0D%0AU.S.+Dollar+Index+%28DXY%29%0D%0AVIX+volatility+index%0D%0AGeopolitical+Indicators%0D%0A%0D%0AGeopolitical+Risk+Index+%28GPR%29%0D%0AEngineered+Features%0D%0A%0D%0ADaily+returns%0D%0ALagged+prices%0D%0ARolling+volatility+measures%0D%0ABrent%E2%80%93WTI+spread&amp;gs_lp=Egdnd3Mtd2l6It0BTWFjcm9lY29ub21pYyBJbmRpY2F0b3JzCgpVLlMuIERvbGxhciBJbmRleCAoRFhZKQpWSVggdm9sYXRpbGl0eSBpbmRleApHZW9wb2xpdGljYWwgSW5kaWNhdG9ycwoKR2VvcG9saXRpY2FsIFJpc2sgSW5kZXggKEdQUikKRW5naW5lZXJlZCBGZWF0dXJlcwoKRGFpbHkgcmV0dXJucwpMYWdnZWQgcHJpY2VzClJvbGxpbmcgdm9sYXRpbGl0eSBtZWFzdXJlcwpCcmVudOKAk1dUSSBzcHJlYWRIAFAAWABwAHgAkAEAmAEAoAEAqgEAuAEDyAEA-AEC-AEBmAIAoAIAmAMAkgcAoAcAsgcAuAcAwgcAyAcAgAgB&amp;sclient=gws-wiz&amp;mstk=AUtExfATymvSPqoWNr08D1GUPNREOyFvx-_VyWNeVQ4pkjYrVXhTo4AgFmEWBJ1nL0jPBj7bs7O2xnmgK40Ru30-r8Jokad9eJDiCwHPMJhwOh7UKKqVIgjo5FoFr2aQaj4HJkCWlJte3D3upCOvVH4w6Ae715s_neayNo7UHqqPBSmLrOg&amp;csui=3" TargetMode="External"/><Relationship Id="rId4" Type="http://schemas.openxmlformats.org/officeDocument/2006/relationships/hyperlink" Target="https://www.google.com/search?q=VIX+Volatility+Index&amp;sca_esv=002f5cc141b4142f&amp;sxsrf=ANbL-n4QYVrtr0nn7sHjY_sZm1mHX40k3g%3A1774887098587&amp;source=hp&amp;ei=uqDKadaAIZ2E4-EPx5ff8QI&amp;iflsig=AFdpzrgAAAAAacquyvh7SXIsL8Fm2LpsL5SFddgYbLWz&amp;ved=2ahUKEwiKmcjZgciTAxW6wzgGHTJbDjYQgK4QegQIAxAD&amp;uact=5&amp;oq=Macroeconomic+Indicators%0D%0A%0D%0AU.S.+Dollar+Index+%28DXY%29%0D%0AVIX+volatility+index%0D%0AGeopolitical+Indicators%0D%0A%0D%0AGeopolitical+Risk+Index+%28GPR%29%0D%0AEngineered+Features%0D%0A%0D%0ADaily+returns%0D%0ALagged+prices%0D%0ARolling+volatility+measures%0D%0ABrent%E2%80%93WTI+spread&amp;gs_lp=Egdnd3Mtd2l6It0BTWFjcm9lY29ub21pYyBJbmRpY2F0b3JzCgpVLlMuIERvbGxhciBJbmRleCAoRFhZKQpWSVggdm9sYXRpbGl0eSBpbmRleApHZW9wb2xpdGljYWwgSW5kaWNhdG9ycwoKR2VvcG9saXRpY2FsIFJpc2sgSW5kZXggKEdQUikKRW5naW5lZXJlZCBGZWF0dXJlcwoKRGFpbHkgcmV0dXJucwpMYWdnZWQgcHJpY2VzClJvbGxpbmcgdm9sYXRpbGl0eSBtZWFzdXJlcwpCcmVudOKAk1dUSSBzcHJlYWRIAFAAWABwAHgAkAEAmAEAoAEAqgEAuAEDyAEA-AEC-AEBmAIAoAIAmAMAkgcAoAcAsgcAuAcAwgcAyAcAgAgB&amp;sclient=gws-wiz&amp;mstk=AUtExfATymvSPqoWNr08D1GUPNREOyFvx-_VyWNeVQ4pkjYrVXhTo4AgFmEWBJ1nL0jPBj7bs7O2xnmgK40Ru30-r8Jokad9eJDiCwHPMJhwOh7UKKqVIgjo5FoFr2aQaj4HJkCWlJte3D3upCOvVH4w6Ae715s_neayNo7UHqqPBSmLrOg&amp;csui=3"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59" name="Shape 59"/>
        <p:cNvGrpSpPr/>
        <p:nvPr/>
      </p:nvGrpSpPr>
      <p:grpSpPr>
        <a:xfrm>
          <a:off x="0" y="0"/>
          <a:ext cx="0" cy="0"/>
          <a:chOff x="0" y="0"/>
          <a:chExt cx="0" cy="0"/>
        </a:xfrm>
      </p:grpSpPr>
      <p:sp>
        <p:nvSpPr>
          <p:cNvPr id="60" name="Google Shape;60;p1"/>
          <p:cNvSpPr/>
          <p:nvPr/>
        </p:nvSpPr>
        <p:spPr>
          <a:xfrm>
            <a:off x="0" y="0"/>
            <a:ext cx="457200" cy="5143500"/>
          </a:xfrm>
          <a:prstGeom prst="rect">
            <a:avLst/>
          </a:prstGeom>
          <a:solidFill>
            <a:srgbClr val="073763"/>
          </a:solidFill>
          <a:ln cap="flat" cmpd="sng" w="12700">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
          <p:cNvSpPr/>
          <p:nvPr/>
        </p:nvSpPr>
        <p:spPr>
          <a:xfrm>
            <a:off x="777240" y="59436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600"/>
              <a:buFont typeface="Calibri"/>
              <a:buNone/>
            </a:pPr>
            <a:r>
              <a:rPr b="1" i="0" lang="en-US" sz="3600" u="none" cap="none" strike="noStrike">
                <a:solidFill>
                  <a:schemeClr val="dk1"/>
                </a:solidFill>
                <a:latin typeface="Calibri"/>
                <a:ea typeface="Calibri"/>
                <a:cs typeface="Calibri"/>
                <a:sym typeface="Calibri"/>
              </a:rPr>
              <a:t>GLOBAL OIL PRICES</a:t>
            </a:r>
            <a:endParaRPr b="0" i="0" sz="3600" u="none" cap="none" strike="noStrike">
              <a:solidFill>
                <a:schemeClr val="dk1"/>
              </a:solidFill>
              <a:latin typeface="Calibri"/>
              <a:ea typeface="Calibri"/>
              <a:cs typeface="Calibri"/>
              <a:sym typeface="Calibri"/>
            </a:endParaRPr>
          </a:p>
        </p:txBody>
      </p:sp>
      <p:sp>
        <p:nvSpPr>
          <p:cNvPr id="62" name="Google Shape;62;p1"/>
          <p:cNvSpPr/>
          <p:nvPr/>
        </p:nvSpPr>
        <p:spPr>
          <a:xfrm>
            <a:off x="777240" y="123444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A500"/>
              </a:buClr>
              <a:buSzPts val="2200"/>
              <a:buFont typeface="Calibri"/>
              <a:buNone/>
            </a:pPr>
            <a:r>
              <a:rPr b="0" i="0" lang="en-US" sz="2200" u="none" cap="none" strike="noStrike">
                <a:solidFill>
                  <a:srgbClr val="F0A500"/>
                </a:solidFill>
                <a:latin typeface="Calibri"/>
                <a:ea typeface="Calibri"/>
                <a:cs typeface="Calibri"/>
                <a:sym typeface="Calibri"/>
              </a:rPr>
              <a:t>&amp; Geopolitical Events Pipeline</a:t>
            </a:r>
            <a:endParaRPr b="0" i="0" sz="2200" u="none" cap="none" strike="noStrike">
              <a:solidFill>
                <a:schemeClr val="dk1"/>
              </a:solidFill>
              <a:latin typeface="Calibri"/>
              <a:ea typeface="Calibri"/>
              <a:cs typeface="Calibri"/>
              <a:sym typeface="Calibri"/>
            </a:endParaRPr>
          </a:p>
        </p:txBody>
      </p:sp>
      <p:sp>
        <p:nvSpPr>
          <p:cNvPr id="63" name="Google Shape;63;p1"/>
          <p:cNvSpPr/>
          <p:nvPr/>
        </p:nvSpPr>
        <p:spPr>
          <a:xfrm>
            <a:off x="548640" y="4815840"/>
            <a:ext cx="8412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7D2FE"/>
              </a:buClr>
              <a:buSzPts val="1200"/>
              <a:buFont typeface="Calibri"/>
              <a:buNone/>
            </a:pPr>
            <a:r>
              <a:rPr b="0" i="1" lang="en-US" sz="1200" u="none" cap="none" strike="noStrike">
                <a:solidFill>
                  <a:schemeClr val="dk1"/>
                </a:solidFill>
                <a:latin typeface="Calibri"/>
                <a:ea typeface="Calibri"/>
                <a:cs typeface="Calibri"/>
                <a:sym typeface="Calibri"/>
              </a:rPr>
              <a:t>From Raw CSV to Business Insight — Powered by DuckDB, Meltano, BigQuery, dbt &amp; Dagster</a:t>
            </a:r>
            <a:endParaRPr b="0" i="1" sz="1200" u="none" cap="none" strike="noStrike">
              <a:solidFill>
                <a:schemeClr val="dk1"/>
              </a:solidFill>
              <a:latin typeface="Calibri"/>
              <a:ea typeface="Calibri"/>
              <a:cs typeface="Calibri"/>
              <a:sym typeface="Calibri"/>
            </a:endParaRPr>
          </a:p>
        </p:txBody>
      </p:sp>
      <p:sp>
        <p:nvSpPr>
          <p:cNvPr id="64" name="Google Shape;64;p1"/>
          <p:cNvSpPr/>
          <p:nvPr/>
        </p:nvSpPr>
        <p:spPr>
          <a:xfrm>
            <a:off x="777240" y="1783080"/>
            <a:ext cx="5029200" cy="36576"/>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
          <p:cNvSpPr/>
          <p:nvPr/>
        </p:nvSpPr>
        <p:spPr>
          <a:xfrm>
            <a:off x="701475" y="1820747"/>
            <a:ext cx="7315200" cy="1025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2FE"/>
              </a:buClr>
              <a:buSzPts val="1400"/>
              <a:buFont typeface="Calibri"/>
              <a:buNone/>
            </a:pPr>
            <a:r>
              <a:rPr lang="en-US">
                <a:solidFill>
                  <a:schemeClr val="dk1"/>
                </a:solidFill>
                <a:latin typeface="Calibri"/>
                <a:ea typeface="Calibri"/>
                <a:cs typeface="Calibri"/>
                <a:sym typeface="Calibri"/>
              </a:rPr>
              <a:t>Advanced Professional Certificate in Data Science &amp; Artificial Intelligence  </a:t>
            </a:r>
            <a:endParaRPr>
              <a:solidFill>
                <a:schemeClr val="dk1"/>
              </a:solidFill>
              <a:latin typeface="Calibri"/>
              <a:ea typeface="Calibri"/>
              <a:cs typeface="Calibri"/>
              <a:sym typeface="Calibri"/>
            </a:endParaRPr>
          </a:p>
          <a:p>
            <a:pPr indent="0" lvl="0" marL="0" marR="0" rtl="0" algn="l">
              <a:spcBef>
                <a:spcPts val="0"/>
              </a:spcBef>
              <a:spcAft>
                <a:spcPts val="0"/>
              </a:spcAft>
              <a:buClr>
                <a:srgbClr val="C7D2FE"/>
              </a:buClr>
              <a:buSzPts val="1400"/>
              <a:buFont typeface="Calibri"/>
              <a:buNone/>
            </a:pPr>
            <a:r>
              <a:t/>
            </a:r>
            <a:endParaRPr>
              <a:solidFill>
                <a:schemeClr val="dk1"/>
              </a:solidFill>
              <a:latin typeface="Calibri"/>
              <a:ea typeface="Calibri"/>
              <a:cs typeface="Calibri"/>
              <a:sym typeface="Calibri"/>
            </a:endParaRPr>
          </a:p>
          <a:p>
            <a:pPr indent="0" lvl="0" marL="0" marR="0" rtl="0" algn="l">
              <a:spcBef>
                <a:spcPts val="0"/>
              </a:spcBef>
              <a:spcAft>
                <a:spcPts val="0"/>
              </a:spcAft>
              <a:buClr>
                <a:srgbClr val="C7D2FE"/>
              </a:buClr>
              <a:buSzPts val="1400"/>
              <a:buFont typeface="Calibri"/>
              <a:buNone/>
            </a:pPr>
            <a:r>
              <a:rPr b="0" i="0" lang="en-US" sz="1400" u="none" cap="none" strike="noStrike">
                <a:solidFill>
                  <a:schemeClr val="dk1"/>
                </a:solidFill>
                <a:latin typeface="Calibri"/>
                <a:ea typeface="Calibri"/>
                <a:cs typeface="Calibri"/>
                <a:sym typeface="Calibri"/>
              </a:rPr>
              <a:t>Module 2 Project | </a:t>
            </a:r>
            <a:r>
              <a:rPr lang="en-US">
                <a:solidFill>
                  <a:schemeClr val="dk1"/>
                </a:solidFill>
                <a:latin typeface="Calibri"/>
                <a:ea typeface="Calibri"/>
                <a:cs typeface="Calibri"/>
                <a:sym typeface="Calibri"/>
              </a:rPr>
              <a:t>DSAI-4 |Group- 8</a:t>
            </a:r>
            <a:endParaRPr>
              <a:solidFill>
                <a:schemeClr val="dk1"/>
              </a:solidFill>
              <a:latin typeface="Calibri"/>
              <a:ea typeface="Calibri"/>
              <a:cs typeface="Calibri"/>
              <a:sym typeface="Calibri"/>
            </a:endParaRPr>
          </a:p>
          <a:p>
            <a:pPr indent="0" lvl="0" marL="0" marR="0" rtl="0" algn="l">
              <a:spcBef>
                <a:spcPts val="0"/>
              </a:spcBef>
              <a:spcAft>
                <a:spcPts val="0"/>
              </a:spcAft>
              <a:buNone/>
            </a:pPr>
            <a:r>
              <a:t/>
            </a:r>
            <a:endParaRPr>
              <a:solidFill>
                <a:srgbClr val="C7D2FE"/>
              </a:solidFill>
              <a:latin typeface="Calibri"/>
              <a:ea typeface="Calibri"/>
              <a:cs typeface="Calibri"/>
              <a:sym typeface="Calibri"/>
            </a:endParaRPr>
          </a:p>
        </p:txBody>
      </p:sp>
      <p:sp>
        <p:nvSpPr>
          <p:cNvPr id="66" name="Google Shape;66;p1"/>
          <p:cNvSpPr txBox="1"/>
          <p:nvPr/>
        </p:nvSpPr>
        <p:spPr>
          <a:xfrm>
            <a:off x="854065" y="3041750"/>
            <a:ext cx="20847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solidFill>
                  <a:schemeClr val="dk1"/>
                </a:solidFill>
                <a:latin typeface="Calibri"/>
                <a:ea typeface="Calibri"/>
                <a:cs typeface="Calibri"/>
                <a:sym typeface="Calibri"/>
              </a:rPr>
              <a:t>Team Members</a:t>
            </a:r>
            <a:endParaRPr b="1"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Daniel Chan Chee Seng</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Edwin Yap Wei Tian</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Julius Tiew</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Jagatheeswaran Rajagurunathan</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Bhupinder Kaur </a:t>
            </a:r>
            <a:endParaRPr sz="12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71" name="Shape 71"/>
        <p:cNvGrpSpPr/>
        <p:nvPr/>
      </p:nvGrpSpPr>
      <p:grpSpPr>
        <a:xfrm>
          <a:off x="0" y="0"/>
          <a:ext cx="0" cy="0"/>
          <a:chOff x="0" y="0"/>
          <a:chExt cx="0" cy="0"/>
        </a:xfrm>
      </p:grpSpPr>
      <p:sp>
        <p:nvSpPr>
          <p:cNvPr id="72" name="Google Shape;72;g3d26b78a17e_0_1"/>
          <p:cNvSpPr/>
          <p:nvPr/>
        </p:nvSpPr>
        <p:spPr>
          <a:xfrm>
            <a:off x="0" y="0"/>
            <a:ext cx="9144000" cy="454500"/>
          </a:xfrm>
          <a:prstGeom prst="rect">
            <a:avLst/>
          </a:prstGeom>
          <a:solidFill>
            <a:srgbClr val="073763"/>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g3d26b78a17e_0_1"/>
          <p:cNvSpPr/>
          <p:nvPr/>
        </p:nvSpPr>
        <p:spPr>
          <a:xfrm>
            <a:off x="365750" y="91445"/>
            <a:ext cx="8229600" cy="29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Executive Summary</a:t>
            </a:r>
            <a:endParaRPr b="0" i="0" sz="2600" u="none" cap="none" strike="noStrike">
              <a:solidFill>
                <a:schemeClr val="dk1"/>
              </a:solidFill>
              <a:latin typeface="Calibri"/>
              <a:ea typeface="Calibri"/>
              <a:cs typeface="Calibri"/>
              <a:sym typeface="Calibri"/>
            </a:endParaRPr>
          </a:p>
        </p:txBody>
      </p:sp>
      <p:sp>
        <p:nvSpPr>
          <p:cNvPr id="74" name="Google Shape;74;g3d26b78a17e_0_1"/>
          <p:cNvSpPr txBox="1"/>
          <p:nvPr/>
        </p:nvSpPr>
        <p:spPr>
          <a:xfrm>
            <a:off x="162950" y="1392784"/>
            <a:ext cx="8789400" cy="1032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
              </a:spcBef>
              <a:spcAft>
                <a:spcPts val="0"/>
              </a:spcAft>
              <a:buNone/>
            </a:pPr>
            <a:r>
              <a:rPr lang="en-US" sz="1200">
                <a:solidFill>
                  <a:schemeClr val="dk1"/>
                </a:solidFill>
                <a:latin typeface="Calibri"/>
                <a:ea typeface="Calibri"/>
                <a:cs typeface="Calibri"/>
                <a:sym typeface="Calibri"/>
              </a:rPr>
              <a:t>The global oil market is highly sensitive to geopolitical events, macroeconomic shifts, and market sentiment. Understanding how these factors interact with oil price movements is critical for energy analysts, policymakers, and investors. </a:t>
            </a:r>
            <a:endParaRPr sz="1200">
              <a:solidFill>
                <a:schemeClr val="dk1"/>
              </a:solidFill>
              <a:latin typeface="Calibri"/>
              <a:ea typeface="Calibri"/>
              <a:cs typeface="Calibri"/>
              <a:sym typeface="Calibri"/>
            </a:endParaRPr>
          </a:p>
          <a:p>
            <a:pPr indent="0" lvl="0" marL="0" rtl="0" algn="l">
              <a:lnSpc>
                <a:spcPct val="115000"/>
              </a:lnSpc>
              <a:spcBef>
                <a:spcPts val="200"/>
              </a:spcBef>
              <a:spcAft>
                <a:spcPts val="200"/>
              </a:spcAft>
              <a:buNone/>
            </a:pPr>
            <a:r>
              <a:rPr lang="en-US" sz="1200">
                <a:solidFill>
                  <a:schemeClr val="dk1"/>
                </a:solidFill>
                <a:latin typeface="Calibri"/>
                <a:ea typeface="Calibri"/>
                <a:cs typeface="Calibri"/>
                <a:sym typeface="Calibri"/>
              </a:rPr>
              <a:t>However, the relationship between geopolitical risk, financial market volatility, and oil prices is complex, non-linear, and varies across different market regimes.</a:t>
            </a:r>
            <a:endParaRPr sz="1200">
              <a:solidFill>
                <a:schemeClr val="dk1"/>
              </a:solidFill>
              <a:latin typeface="Calibri"/>
              <a:ea typeface="Calibri"/>
              <a:cs typeface="Calibri"/>
              <a:sym typeface="Calibri"/>
            </a:endParaRPr>
          </a:p>
        </p:txBody>
      </p:sp>
      <p:sp>
        <p:nvSpPr>
          <p:cNvPr id="75" name="Google Shape;75;g3d26b78a17e_0_1"/>
          <p:cNvSpPr txBox="1"/>
          <p:nvPr/>
        </p:nvSpPr>
        <p:spPr>
          <a:xfrm>
            <a:off x="166800" y="1008634"/>
            <a:ext cx="3000000" cy="67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US" sz="1600">
                <a:solidFill>
                  <a:schemeClr val="dk1"/>
                </a:solidFill>
                <a:latin typeface="Calibri"/>
                <a:ea typeface="Calibri"/>
                <a:cs typeface="Calibri"/>
                <a:sym typeface="Calibri"/>
              </a:rPr>
              <a:t>Background</a:t>
            </a:r>
            <a:endParaRPr b="1" sz="1600">
              <a:solidFill>
                <a:schemeClr val="dk1"/>
              </a:solidFill>
              <a:latin typeface="Calibri"/>
              <a:ea typeface="Calibri"/>
              <a:cs typeface="Calibri"/>
              <a:sym typeface="Calibri"/>
            </a:endParaRPr>
          </a:p>
          <a:p>
            <a:pPr indent="0" lvl="0" marL="0" rtl="0" algn="l">
              <a:lnSpc>
                <a:spcPct val="115000"/>
              </a:lnSpc>
              <a:spcBef>
                <a:spcPts val="400"/>
              </a:spcBef>
              <a:spcAft>
                <a:spcPts val="0"/>
              </a:spcAft>
              <a:buNone/>
            </a:pPr>
            <a:r>
              <a:t/>
            </a:r>
            <a:endParaRPr sz="1000">
              <a:solidFill>
                <a:schemeClr val="dk1"/>
              </a:solidFill>
              <a:highlight>
                <a:schemeClr val="lt1"/>
              </a:highlight>
            </a:endParaRPr>
          </a:p>
        </p:txBody>
      </p:sp>
      <p:sp>
        <p:nvSpPr>
          <p:cNvPr id="76" name="Google Shape;76;g3d26b78a17e_0_1"/>
          <p:cNvSpPr txBox="1"/>
          <p:nvPr/>
        </p:nvSpPr>
        <p:spPr>
          <a:xfrm>
            <a:off x="162950" y="2704743"/>
            <a:ext cx="8572500" cy="116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200">
                <a:solidFill>
                  <a:srgbClr val="3C4043"/>
                </a:solidFill>
                <a:latin typeface="Calibri"/>
                <a:ea typeface="Calibri"/>
                <a:cs typeface="Calibri"/>
                <a:sym typeface="Calibri"/>
              </a:rPr>
              <a:t>This dataset explores the relationship between </a:t>
            </a:r>
            <a:r>
              <a:rPr b="1" lang="en-US" sz="1200">
                <a:solidFill>
                  <a:srgbClr val="3C4043"/>
                </a:solidFill>
                <a:latin typeface="Calibri"/>
                <a:ea typeface="Calibri"/>
                <a:cs typeface="Calibri"/>
                <a:sym typeface="Calibri"/>
              </a:rPr>
              <a:t>global oil markets and geopolitical events</a:t>
            </a:r>
            <a:r>
              <a:rPr lang="en-US" sz="1200">
                <a:solidFill>
                  <a:srgbClr val="3C4043"/>
                </a:solidFill>
                <a:latin typeface="Calibri"/>
                <a:ea typeface="Calibri"/>
                <a:cs typeface="Calibri"/>
                <a:sym typeface="Calibri"/>
              </a:rPr>
              <a:t> from </a:t>
            </a:r>
            <a:r>
              <a:rPr b="1" lang="en-US" sz="1200">
                <a:solidFill>
                  <a:srgbClr val="3C4043"/>
                </a:solidFill>
                <a:latin typeface="Calibri"/>
                <a:ea typeface="Calibri"/>
                <a:cs typeface="Calibri"/>
                <a:sym typeface="Calibri"/>
              </a:rPr>
              <a:t>2010 to 2026</a:t>
            </a:r>
            <a:r>
              <a:rPr lang="en-US" sz="1200">
                <a:solidFill>
                  <a:srgbClr val="3C4043"/>
                </a:solidFill>
                <a:latin typeface="Calibri"/>
                <a:ea typeface="Calibri"/>
                <a:cs typeface="Calibri"/>
                <a:sym typeface="Calibri"/>
              </a:rPr>
              <a:t>. It combines daily oil price data with macroeconomic indicators, a geopolitical risk index, and a curated timeline of major global events that have historically influenced energy markets.</a:t>
            </a:r>
            <a:endParaRPr sz="1200">
              <a:solidFill>
                <a:srgbClr val="3C4043"/>
              </a:solidFill>
              <a:latin typeface="Calibri"/>
              <a:ea typeface="Calibri"/>
              <a:cs typeface="Calibri"/>
              <a:sym typeface="Calibri"/>
            </a:endParaRPr>
          </a:p>
          <a:p>
            <a:pPr indent="0" lvl="0" marL="0" rtl="0" algn="l">
              <a:lnSpc>
                <a:spcPct val="115000"/>
              </a:lnSpc>
              <a:spcBef>
                <a:spcPts val="1200"/>
              </a:spcBef>
              <a:spcAft>
                <a:spcPts val="0"/>
              </a:spcAft>
              <a:buNone/>
            </a:pPr>
            <a:r>
              <a:t/>
            </a:r>
            <a:endParaRPr sz="1200">
              <a:solidFill>
                <a:schemeClr val="dk1"/>
              </a:solidFill>
            </a:endParaRPr>
          </a:p>
        </p:txBody>
      </p:sp>
      <p:sp>
        <p:nvSpPr>
          <p:cNvPr id="77" name="Google Shape;77;g3d26b78a17e_0_1"/>
          <p:cNvSpPr txBox="1"/>
          <p:nvPr/>
        </p:nvSpPr>
        <p:spPr>
          <a:xfrm>
            <a:off x="166800" y="241458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latin typeface="Calibri"/>
                <a:ea typeface="Calibri"/>
                <a:cs typeface="Calibri"/>
                <a:sym typeface="Calibri"/>
              </a:rPr>
              <a:t>Overview</a:t>
            </a:r>
            <a:endParaRPr b="1">
              <a:latin typeface="Calibri"/>
              <a:ea typeface="Calibri"/>
              <a:cs typeface="Calibri"/>
              <a:sym typeface="Calibri"/>
            </a:endParaRPr>
          </a:p>
          <a:p>
            <a:pPr indent="0" lvl="0" marL="0" rtl="0" algn="l">
              <a:spcBef>
                <a:spcPts val="0"/>
              </a:spcBef>
              <a:spcAft>
                <a:spcPts val="0"/>
              </a:spcAft>
              <a:buNone/>
            </a:pPr>
            <a:r>
              <a:t/>
            </a:r>
            <a:endParaRPr/>
          </a:p>
        </p:txBody>
      </p:sp>
      <p:sp>
        <p:nvSpPr>
          <p:cNvPr id="78" name="Google Shape;78;g3d26b78a17e_0_1"/>
          <p:cNvSpPr txBox="1"/>
          <p:nvPr/>
        </p:nvSpPr>
        <p:spPr>
          <a:xfrm>
            <a:off x="162950" y="3599825"/>
            <a:ext cx="8923500" cy="14775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900"/>
              </a:spcBef>
              <a:spcAft>
                <a:spcPts val="0"/>
              </a:spcAft>
              <a:buClr>
                <a:srgbClr val="0A0A0A"/>
              </a:buClr>
              <a:buSzPts val="1200"/>
              <a:buFont typeface="Calibri"/>
              <a:buChar char="●"/>
            </a:pPr>
            <a:r>
              <a:rPr b="1" lang="en-US" sz="1200">
                <a:solidFill>
                  <a:srgbClr val="0A0A0A"/>
                </a:solidFill>
                <a:latin typeface="Calibri"/>
                <a:ea typeface="Calibri"/>
                <a:cs typeface="Calibri"/>
                <a:sym typeface="Calibri"/>
              </a:rPr>
              <a:t>Brent Crude (Global Benchmark)</a:t>
            </a:r>
            <a:r>
              <a:rPr lang="en-US" sz="1200">
                <a:solidFill>
                  <a:srgbClr val="0A0A0A"/>
                </a:solidFill>
                <a:latin typeface="Calibri"/>
                <a:ea typeface="Calibri"/>
                <a:cs typeface="Calibri"/>
                <a:sym typeface="Calibri"/>
              </a:rPr>
              <a:t>: Often referred to as European/North Sea crude, this is used to price roughly two-thirds of the world's traded oil. It is primarily refined in Northwest Europe and is sensitive to political tensions in Europe, Africa, and the Middle East.</a:t>
            </a:r>
            <a:endParaRPr sz="1200">
              <a:solidFill>
                <a:srgbClr val="0A0A0A"/>
              </a:solidFill>
              <a:latin typeface="Calibri"/>
              <a:ea typeface="Calibri"/>
              <a:cs typeface="Calibri"/>
              <a:sym typeface="Calibri"/>
            </a:endParaRPr>
          </a:p>
          <a:p>
            <a:pPr indent="-304800" lvl="0" marL="457200" rtl="0" algn="l">
              <a:lnSpc>
                <a:spcPct val="150000"/>
              </a:lnSpc>
              <a:spcBef>
                <a:spcPts val="0"/>
              </a:spcBef>
              <a:spcAft>
                <a:spcPts val="0"/>
              </a:spcAft>
              <a:buClr>
                <a:srgbClr val="0A0A0A"/>
              </a:buClr>
              <a:buSzPts val="1200"/>
              <a:buFont typeface="Calibri"/>
              <a:buChar char="●"/>
            </a:pPr>
            <a:r>
              <a:rPr b="1" lang="en-US" sz="1200">
                <a:solidFill>
                  <a:srgbClr val="0A0A0A"/>
                </a:solidFill>
                <a:latin typeface="Calibri"/>
                <a:ea typeface="Calibri"/>
                <a:cs typeface="Calibri"/>
                <a:sym typeface="Calibri"/>
              </a:rPr>
              <a:t>WTI Crude (US Benchmark):</a:t>
            </a:r>
            <a:r>
              <a:rPr lang="en-US" sz="1200">
                <a:solidFill>
                  <a:srgbClr val="0A0A0A"/>
                </a:solidFill>
                <a:latin typeface="Calibri"/>
                <a:ea typeface="Calibri"/>
                <a:cs typeface="Calibri"/>
                <a:sym typeface="Calibri"/>
              </a:rPr>
              <a:t>  Referred to as US Crude or Light Sweet Crude, this is primarily used for gasoline production in the United States. It is transported via pipeline from locations like Cushing, Oklahoma, and is highly sensitive to US production data.</a:t>
            </a:r>
            <a:endParaRPr sz="1200">
              <a:solidFill>
                <a:srgbClr val="0A0A0A"/>
              </a:solidFill>
              <a:latin typeface="Calibri"/>
              <a:ea typeface="Calibri"/>
              <a:cs typeface="Calibri"/>
              <a:sym typeface="Calibri"/>
            </a:endParaRPr>
          </a:p>
        </p:txBody>
      </p:sp>
      <p:sp>
        <p:nvSpPr>
          <p:cNvPr id="79" name="Google Shape;79;g3d26b78a17e_0_1"/>
          <p:cNvSpPr txBox="1"/>
          <p:nvPr/>
        </p:nvSpPr>
        <p:spPr>
          <a:xfrm>
            <a:off x="166800" y="439900"/>
            <a:ext cx="8572500" cy="1736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US" sz="1200">
                <a:solidFill>
                  <a:schemeClr val="dk1"/>
                </a:solidFill>
                <a:latin typeface="Calibri"/>
                <a:ea typeface="Calibri"/>
                <a:cs typeface="Calibri"/>
                <a:sym typeface="Calibri"/>
              </a:rPr>
              <a:t>Problem Statement: </a:t>
            </a:r>
            <a:r>
              <a:rPr lang="en-US" sz="1200">
                <a:solidFill>
                  <a:srgbClr val="3C4043"/>
                </a:solidFill>
                <a:highlight>
                  <a:srgbClr val="F8F9FA"/>
                </a:highlight>
                <a:latin typeface="Calibri"/>
                <a:ea typeface="Calibri"/>
                <a:cs typeface="Calibri"/>
                <a:sym typeface="Calibri"/>
              </a:rPr>
              <a:t>A curated timeline of major geopolitical events affecting global oil markets, including wars, sanctions, supply disruptions, and OPEC policy decisions.</a:t>
            </a:r>
            <a:endParaRPr sz="1200">
              <a:solidFill>
                <a:srgbClr val="3C4043"/>
              </a:solidFill>
              <a:highlight>
                <a:srgbClr val="F8F9FA"/>
              </a:highlight>
              <a:latin typeface="Calibri"/>
              <a:ea typeface="Calibri"/>
              <a:cs typeface="Calibri"/>
              <a:sym typeface="Calibri"/>
            </a:endParaRPr>
          </a:p>
          <a:p>
            <a:pPr indent="0" lvl="0" marL="228600" marR="228600" rtl="0" algn="l">
              <a:lnSpc>
                <a:spcPct val="157142"/>
              </a:lnSpc>
              <a:spcBef>
                <a:spcPts val="1200"/>
              </a:spcBef>
              <a:spcAft>
                <a:spcPts val="0"/>
              </a:spcAft>
              <a:buClr>
                <a:schemeClr val="dk1"/>
              </a:buClr>
              <a:buSzPts val="1100"/>
              <a:buFont typeface="Arial"/>
              <a:buNone/>
            </a:pPr>
            <a:r>
              <a:t/>
            </a:r>
            <a:endParaRPr sz="1050">
              <a:solidFill>
                <a:srgbClr val="3C4043"/>
              </a:solidFill>
              <a:highlight>
                <a:srgbClr val="F8F9FA"/>
              </a:highlight>
            </a:endParaRPr>
          </a:p>
          <a:p>
            <a:pPr indent="0" lvl="0" marL="0" rtl="0" algn="l">
              <a:lnSpc>
                <a:spcPct val="115000"/>
              </a:lnSpc>
              <a:spcBef>
                <a:spcPts val="1800"/>
              </a:spcBef>
              <a:spcAft>
                <a:spcPts val="0"/>
              </a:spcAft>
              <a:buNone/>
            </a:pPr>
            <a:r>
              <a:t/>
            </a:r>
            <a:endParaRPr b="1" sz="1600">
              <a:solidFill>
                <a:schemeClr val="dk1"/>
              </a:solidFill>
              <a:latin typeface="Calibri"/>
              <a:ea typeface="Calibri"/>
              <a:cs typeface="Calibri"/>
              <a:sym typeface="Calibri"/>
            </a:endParaRPr>
          </a:p>
          <a:p>
            <a:pPr indent="0" lvl="0" marL="0" rtl="0" algn="l">
              <a:lnSpc>
                <a:spcPct val="115000"/>
              </a:lnSpc>
              <a:spcBef>
                <a:spcPts val="400"/>
              </a:spcBef>
              <a:spcAft>
                <a:spcPts val="0"/>
              </a:spcAft>
              <a:buNone/>
            </a:pPr>
            <a:r>
              <a:t/>
            </a:r>
            <a:endParaRPr sz="1000">
              <a:solidFill>
                <a:schemeClr val="dk1"/>
              </a:solidFill>
              <a:highlight>
                <a:schemeClr val="lt1"/>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84" name="Shape 84"/>
        <p:cNvGrpSpPr/>
        <p:nvPr/>
      </p:nvGrpSpPr>
      <p:grpSpPr>
        <a:xfrm>
          <a:off x="0" y="0"/>
          <a:ext cx="0" cy="0"/>
          <a:chOff x="0" y="0"/>
          <a:chExt cx="0" cy="0"/>
        </a:xfrm>
      </p:grpSpPr>
      <p:sp>
        <p:nvSpPr>
          <p:cNvPr id="85" name="Google Shape;85;g3d26b78a17e_0_23"/>
          <p:cNvSpPr/>
          <p:nvPr/>
        </p:nvSpPr>
        <p:spPr>
          <a:xfrm>
            <a:off x="0" y="0"/>
            <a:ext cx="9144000" cy="476100"/>
          </a:xfrm>
          <a:prstGeom prst="rect">
            <a:avLst/>
          </a:prstGeom>
          <a:solidFill>
            <a:srgbClr val="073763"/>
          </a:solidFill>
          <a:ln cap="flat" cmpd="sng" w="1270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g3d26b78a17e_0_23"/>
          <p:cNvSpPr/>
          <p:nvPr/>
        </p:nvSpPr>
        <p:spPr>
          <a:xfrm>
            <a:off x="365750" y="91445"/>
            <a:ext cx="8229600" cy="285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600">
                <a:solidFill>
                  <a:srgbClr val="FFFFFF"/>
                </a:solidFill>
                <a:latin typeface="Calibri"/>
                <a:ea typeface="Calibri"/>
                <a:cs typeface="Calibri"/>
                <a:sym typeface="Calibri"/>
              </a:rPr>
              <a:t>Data Overview</a:t>
            </a:r>
            <a:endParaRPr b="0" i="0" sz="2600" u="none" cap="none" strike="noStrike">
              <a:solidFill>
                <a:schemeClr val="dk1"/>
              </a:solidFill>
              <a:latin typeface="Calibri"/>
              <a:ea typeface="Calibri"/>
              <a:cs typeface="Calibri"/>
              <a:sym typeface="Calibri"/>
            </a:endParaRPr>
          </a:p>
        </p:txBody>
      </p:sp>
      <p:sp>
        <p:nvSpPr>
          <p:cNvPr id="87" name="Google Shape;87;g3d26b78a17e_0_23"/>
          <p:cNvSpPr txBox="1"/>
          <p:nvPr/>
        </p:nvSpPr>
        <p:spPr>
          <a:xfrm>
            <a:off x="129750" y="772999"/>
            <a:ext cx="7896000" cy="532200"/>
          </a:xfrm>
          <a:prstGeom prst="rect">
            <a:avLst/>
          </a:prstGeom>
          <a:noFill/>
          <a:ln>
            <a:noFill/>
          </a:ln>
        </p:spPr>
        <p:txBody>
          <a:bodyPr anchorCtr="0" anchor="t" bIns="91425" lIns="91425" spcFirstLastPara="1" rIns="91425" wrap="square" tIns="91425">
            <a:spAutoFit/>
          </a:bodyPr>
          <a:lstStyle/>
          <a:p>
            <a:pPr indent="-295275" lvl="0" marL="457200" rtl="0" algn="l">
              <a:lnSpc>
                <a:spcPct val="115000"/>
              </a:lnSpc>
              <a:spcBef>
                <a:spcPts val="2400"/>
              </a:spcBef>
              <a:spcAft>
                <a:spcPts val="0"/>
              </a:spcAft>
              <a:buClr>
                <a:srgbClr val="3C4043"/>
              </a:buClr>
              <a:buSzPts val="1050"/>
              <a:buChar char="●"/>
            </a:pPr>
            <a:r>
              <a:rPr b="1" lang="en-US" sz="1050">
                <a:solidFill>
                  <a:srgbClr val="3C4043"/>
                </a:solidFill>
              </a:rPr>
              <a:t>oil_geopolitics_dataset_2010_2026.csv</a:t>
            </a:r>
            <a:r>
              <a:rPr lang="en-US" sz="1050">
                <a:solidFill>
                  <a:srgbClr val="3C4043"/>
                </a:solidFill>
              </a:rPr>
              <a:t> – Final merged dataset with engineered features and event annotations</a:t>
            </a:r>
            <a:endParaRPr sz="1050">
              <a:solidFill>
                <a:srgbClr val="3C4043"/>
              </a:solidFill>
            </a:endParaRPr>
          </a:p>
          <a:p>
            <a:pPr indent="-295275" lvl="0" marL="457200" rtl="0" algn="l">
              <a:lnSpc>
                <a:spcPct val="115000"/>
              </a:lnSpc>
              <a:spcBef>
                <a:spcPts val="0"/>
              </a:spcBef>
              <a:spcAft>
                <a:spcPts val="0"/>
              </a:spcAft>
              <a:buClr>
                <a:srgbClr val="3C4043"/>
              </a:buClr>
              <a:buSzPts val="1050"/>
              <a:buChar char="●"/>
            </a:pPr>
            <a:r>
              <a:rPr b="1" lang="en-US" sz="1050">
                <a:solidFill>
                  <a:srgbClr val="3C4043"/>
                </a:solidFill>
              </a:rPr>
              <a:t>geopolitical_events_timeline.csv</a:t>
            </a:r>
            <a:r>
              <a:rPr lang="en-US" sz="1050">
                <a:solidFill>
                  <a:srgbClr val="3C4043"/>
                </a:solidFill>
              </a:rPr>
              <a:t> – Timeline of major geopolitical events affecting global oil markets</a:t>
            </a:r>
            <a:endParaRPr sz="1050">
              <a:solidFill>
                <a:srgbClr val="3C4043"/>
              </a:solidFill>
            </a:endParaRPr>
          </a:p>
        </p:txBody>
      </p:sp>
      <p:sp>
        <p:nvSpPr>
          <p:cNvPr id="88" name="Google Shape;88;g3d26b78a17e_0_23"/>
          <p:cNvSpPr txBox="1"/>
          <p:nvPr/>
        </p:nvSpPr>
        <p:spPr>
          <a:xfrm>
            <a:off x="0" y="542574"/>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t>Data Sources:</a:t>
            </a:r>
            <a:endParaRPr b="1" sz="1200"/>
          </a:p>
        </p:txBody>
      </p:sp>
      <p:sp>
        <p:nvSpPr>
          <p:cNvPr id="89" name="Google Shape;89;g3d26b78a17e_0_23"/>
          <p:cNvSpPr txBox="1"/>
          <p:nvPr/>
        </p:nvSpPr>
        <p:spPr>
          <a:xfrm>
            <a:off x="209450" y="2535943"/>
            <a:ext cx="3441900" cy="2447400"/>
          </a:xfrm>
          <a:prstGeom prst="rect">
            <a:avLst/>
          </a:prstGeom>
          <a:noFill/>
          <a:ln>
            <a:noFill/>
          </a:ln>
        </p:spPr>
        <p:txBody>
          <a:bodyPr anchorCtr="0" anchor="t" bIns="91425" lIns="91425" spcFirstLastPara="1" rIns="91425" wrap="square" tIns="91425">
            <a:noAutofit/>
          </a:bodyPr>
          <a:lstStyle/>
          <a:p>
            <a:pPr indent="0" lvl="0" marL="0" rtl="0" algn="l">
              <a:lnSpc>
                <a:spcPct val="10000"/>
              </a:lnSpc>
              <a:spcBef>
                <a:spcPts val="1800"/>
              </a:spcBef>
              <a:spcAft>
                <a:spcPts val="0"/>
              </a:spcAft>
              <a:buNone/>
            </a:pPr>
            <a:r>
              <a:t/>
            </a:r>
            <a:endParaRPr b="1" sz="1200">
              <a:solidFill>
                <a:srgbClr val="202124"/>
              </a:solidFill>
              <a:latin typeface="Calibri"/>
              <a:ea typeface="Calibri"/>
              <a:cs typeface="Calibri"/>
              <a:sym typeface="Calibri"/>
            </a:endParaRPr>
          </a:p>
          <a:p>
            <a:pPr indent="0" lvl="0" marL="0" rtl="0" algn="l">
              <a:lnSpc>
                <a:spcPct val="10000"/>
              </a:lnSpc>
              <a:spcBef>
                <a:spcPts val="1800"/>
              </a:spcBef>
              <a:spcAft>
                <a:spcPts val="0"/>
              </a:spcAft>
              <a:buNone/>
            </a:pPr>
            <a:r>
              <a:rPr b="1" lang="en-US" sz="1200">
                <a:solidFill>
                  <a:srgbClr val="3C4043"/>
                </a:solidFill>
                <a:latin typeface="Calibri"/>
                <a:ea typeface="Calibri"/>
                <a:cs typeface="Calibri"/>
                <a:sym typeface="Calibri"/>
              </a:rPr>
              <a:t>Market Data</a:t>
            </a:r>
            <a:endParaRPr b="1" sz="1200">
              <a:solidFill>
                <a:srgbClr val="3C4043"/>
              </a:solidFill>
              <a:latin typeface="Calibri"/>
              <a:ea typeface="Calibri"/>
              <a:cs typeface="Calibri"/>
              <a:sym typeface="Calibri"/>
            </a:endParaRPr>
          </a:p>
          <a:p>
            <a:pPr indent="-304800" lvl="0" marL="457200" rtl="0" algn="l">
              <a:lnSpc>
                <a:spcPct val="10000"/>
              </a:lnSpc>
              <a:spcBef>
                <a:spcPts val="1800"/>
              </a:spcBef>
              <a:spcAft>
                <a:spcPts val="0"/>
              </a:spcAft>
              <a:buClr>
                <a:srgbClr val="3C4043"/>
              </a:buClr>
              <a:buSzPts val="1200"/>
              <a:buFont typeface="Calibri"/>
              <a:buChar char="●"/>
            </a:pPr>
            <a:r>
              <a:rPr lang="en-US" sz="1200">
                <a:solidFill>
                  <a:srgbClr val="3C4043"/>
                </a:solidFill>
                <a:latin typeface="Calibri"/>
                <a:ea typeface="Calibri"/>
                <a:cs typeface="Calibri"/>
                <a:sym typeface="Calibri"/>
              </a:rPr>
              <a:t>Brent crude oil price</a:t>
            </a:r>
            <a:endParaRPr sz="1200">
              <a:solidFill>
                <a:srgbClr val="3C4043"/>
              </a:solidFill>
              <a:latin typeface="Calibri"/>
              <a:ea typeface="Calibri"/>
              <a:cs typeface="Calibri"/>
              <a:sym typeface="Calibri"/>
            </a:endParaRPr>
          </a:p>
          <a:p>
            <a:pPr indent="-304800" lvl="0" marL="457200" rtl="0" algn="l">
              <a:lnSpc>
                <a:spcPct val="10000"/>
              </a:lnSpc>
              <a:spcBef>
                <a:spcPts val="1800"/>
              </a:spcBef>
              <a:spcAft>
                <a:spcPts val="0"/>
              </a:spcAft>
              <a:buClr>
                <a:srgbClr val="3C4043"/>
              </a:buClr>
              <a:buSzPts val="1200"/>
              <a:buFont typeface="Calibri"/>
              <a:buChar char="●"/>
            </a:pPr>
            <a:r>
              <a:rPr lang="en-US" sz="1200">
                <a:solidFill>
                  <a:srgbClr val="3C4043"/>
                </a:solidFill>
                <a:latin typeface="Calibri"/>
                <a:ea typeface="Calibri"/>
                <a:cs typeface="Calibri"/>
                <a:sym typeface="Calibri"/>
              </a:rPr>
              <a:t>WTI crude oil price</a:t>
            </a:r>
            <a:endParaRPr sz="1200">
              <a:solidFill>
                <a:srgbClr val="3C4043"/>
              </a:solidFill>
              <a:latin typeface="Calibri"/>
              <a:ea typeface="Calibri"/>
              <a:cs typeface="Calibri"/>
              <a:sym typeface="Calibri"/>
            </a:endParaRPr>
          </a:p>
          <a:p>
            <a:pPr indent="0" lvl="0" marL="0" rtl="0" algn="l">
              <a:lnSpc>
                <a:spcPct val="10000"/>
              </a:lnSpc>
              <a:spcBef>
                <a:spcPts val="1800"/>
              </a:spcBef>
              <a:spcAft>
                <a:spcPts val="0"/>
              </a:spcAft>
              <a:buNone/>
            </a:pPr>
            <a:r>
              <a:rPr b="1" lang="en-US" sz="1200">
                <a:solidFill>
                  <a:srgbClr val="3C4043"/>
                </a:solidFill>
                <a:latin typeface="Calibri"/>
                <a:ea typeface="Calibri"/>
                <a:cs typeface="Calibri"/>
                <a:sym typeface="Calibri"/>
              </a:rPr>
              <a:t>Macroeconomic Indicators</a:t>
            </a:r>
            <a:endParaRPr b="1" sz="1200">
              <a:solidFill>
                <a:srgbClr val="3C4043"/>
              </a:solidFill>
              <a:latin typeface="Calibri"/>
              <a:ea typeface="Calibri"/>
              <a:cs typeface="Calibri"/>
              <a:sym typeface="Calibri"/>
            </a:endParaRPr>
          </a:p>
          <a:p>
            <a:pPr indent="-304800" lvl="0" marL="457200" rtl="0" algn="l">
              <a:lnSpc>
                <a:spcPct val="10000"/>
              </a:lnSpc>
              <a:spcBef>
                <a:spcPts val="1800"/>
              </a:spcBef>
              <a:spcAft>
                <a:spcPts val="0"/>
              </a:spcAft>
              <a:buClr>
                <a:srgbClr val="3C4043"/>
              </a:buClr>
              <a:buSzPts val="1200"/>
              <a:buFont typeface="Calibri"/>
              <a:buChar char="●"/>
            </a:pPr>
            <a:r>
              <a:rPr lang="en-US" sz="1200">
                <a:solidFill>
                  <a:srgbClr val="3C4043"/>
                </a:solidFill>
                <a:latin typeface="Calibri"/>
                <a:ea typeface="Calibri"/>
                <a:cs typeface="Calibri"/>
                <a:sym typeface="Calibri"/>
              </a:rPr>
              <a:t>U.S. Dollar Index (DXY)</a:t>
            </a:r>
            <a:endParaRPr sz="1200">
              <a:solidFill>
                <a:srgbClr val="3C4043"/>
              </a:solidFill>
              <a:latin typeface="Calibri"/>
              <a:ea typeface="Calibri"/>
              <a:cs typeface="Calibri"/>
              <a:sym typeface="Calibri"/>
            </a:endParaRPr>
          </a:p>
          <a:p>
            <a:pPr indent="-304800" lvl="0" marL="457200" rtl="0" algn="l">
              <a:lnSpc>
                <a:spcPct val="10000"/>
              </a:lnSpc>
              <a:spcBef>
                <a:spcPts val="1800"/>
              </a:spcBef>
              <a:spcAft>
                <a:spcPts val="0"/>
              </a:spcAft>
              <a:buClr>
                <a:srgbClr val="3C4043"/>
              </a:buClr>
              <a:buSzPts val="1200"/>
              <a:buFont typeface="Calibri"/>
              <a:buChar char="●"/>
            </a:pPr>
            <a:r>
              <a:rPr lang="en-US" sz="1200">
                <a:solidFill>
                  <a:srgbClr val="3C4043"/>
                </a:solidFill>
                <a:latin typeface="Calibri"/>
                <a:ea typeface="Calibri"/>
                <a:cs typeface="Calibri"/>
                <a:sym typeface="Calibri"/>
              </a:rPr>
              <a:t>VIX volatility index</a:t>
            </a:r>
            <a:endParaRPr sz="1200">
              <a:solidFill>
                <a:srgbClr val="3C4043"/>
              </a:solidFill>
              <a:latin typeface="Calibri"/>
              <a:ea typeface="Calibri"/>
              <a:cs typeface="Calibri"/>
              <a:sym typeface="Calibri"/>
            </a:endParaRPr>
          </a:p>
          <a:p>
            <a:pPr indent="0" lvl="0" marL="0" rtl="0" algn="l">
              <a:lnSpc>
                <a:spcPct val="10000"/>
              </a:lnSpc>
              <a:spcBef>
                <a:spcPts val="1800"/>
              </a:spcBef>
              <a:spcAft>
                <a:spcPts val="0"/>
              </a:spcAft>
              <a:buNone/>
            </a:pPr>
            <a:r>
              <a:rPr b="1" lang="en-US" sz="1200">
                <a:solidFill>
                  <a:srgbClr val="3C4043"/>
                </a:solidFill>
                <a:latin typeface="Calibri"/>
                <a:ea typeface="Calibri"/>
                <a:cs typeface="Calibri"/>
                <a:sym typeface="Calibri"/>
              </a:rPr>
              <a:t>Geopolitical Indicators</a:t>
            </a:r>
            <a:endParaRPr b="1" sz="1200">
              <a:solidFill>
                <a:srgbClr val="3C4043"/>
              </a:solidFill>
              <a:latin typeface="Calibri"/>
              <a:ea typeface="Calibri"/>
              <a:cs typeface="Calibri"/>
              <a:sym typeface="Calibri"/>
            </a:endParaRPr>
          </a:p>
          <a:p>
            <a:pPr indent="-304800" lvl="0" marL="457200" rtl="0" algn="l">
              <a:lnSpc>
                <a:spcPct val="10000"/>
              </a:lnSpc>
              <a:spcBef>
                <a:spcPts val="1800"/>
              </a:spcBef>
              <a:spcAft>
                <a:spcPts val="0"/>
              </a:spcAft>
              <a:buClr>
                <a:srgbClr val="3C4043"/>
              </a:buClr>
              <a:buSzPts val="1200"/>
              <a:buFont typeface="Calibri"/>
              <a:buChar char="●"/>
            </a:pPr>
            <a:r>
              <a:rPr lang="en-US" sz="1200">
                <a:solidFill>
                  <a:srgbClr val="3C4043"/>
                </a:solidFill>
                <a:latin typeface="Calibri"/>
                <a:ea typeface="Calibri"/>
                <a:cs typeface="Calibri"/>
                <a:sym typeface="Calibri"/>
              </a:rPr>
              <a:t>Geopolitical Risk Index (GPR)</a:t>
            </a:r>
            <a:endParaRPr sz="1200">
              <a:solidFill>
                <a:srgbClr val="3C4043"/>
              </a:solidFill>
              <a:latin typeface="Calibri"/>
              <a:ea typeface="Calibri"/>
              <a:cs typeface="Calibri"/>
              <a:sym typeface="Calibri"/>
            </a:endParaRPr>
          </a:p>
          <a:p>
            <a:pPr indent="0" lvl="0" marL="0" rtl="0" algn="l">
              <a:lnSpc>
                <a:spcPct val="10000"/>
              </a:lnSpc>
              <a:spcBef>
                <a:spcPts val="1800"/>
              </a:spcBef>
              <a:spcAft>
                <a:spcPts val="900"/>
              </a:spcAft>
              <a:buNone/>
            </a:pPr>
            <a:r>
              <a:t/>
            </a:r>
            <a:endParaRPr sz="1200">
              <a:solidFill>
                <a:srgbClr val="3C4043"/>
              </a:solidFill>
              <a:latin typeface="Calibri"/>
              <a:ea typeface="Calibri"/>
              <a:cs typeface="Calibri"/>
              <a:sym typeface="Calibri"/>
            </a:endParaRPr>
          </a:p>
        </p:txBody>
      </p:sp>
      <p:sp>
        <p:nvSpPr>
          <p:cNvPr id="90" name="Google Shape;90;g3d26b78a17e_0_23"/>
          <p:cNvSpPr txBox="1"/>
          <p:nvPr/>
        </p:nvSpPr>
        <p:spPr>
          <a:xfrm>
            <a:off x="129750" y="1246322"/>
            <a:ext cx="84798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latin typeface="Calibri"/>
                <a:ea typeface="Calibri"/>
                <a:cs typeface="Calibri"/>
                <a:sym typeface="Calibri"/>
              </a:rPr>
              <a:t>In addition to raw financial data, the dataset includes </a:t>
            </a:r>
            <a:r>
              <a:rPr b="1" lang="en-US" sz="1200">
                <a:latin typeface="Calibri"/>
                <a:ea typeface="Calibri"/>
                <a:cs typeface="Calibri"/>
                <a:sym typeface="Calibri"/>
              </a:rPr>
              <a:t>engineered features</a:t>
            </a:r>
            <a:r>
              <a:rPr lang="en-US" sz="1200">
                <a:latin typeface="Calibri"/>
                <a:ea typeface="Calibri"/>
                <a:cs typeface="Calibri"/>
                <a:sym typeface="Calibri"/>
              </a:rPr>
              <a:t> such as lagged prices, rolling volatility measures, and price spreads between Brent and WTI. A curated list of major geopolitical events—including wars, sanctions, supply disruptions, and OPEC policy changes—is also included, allowing researchers to analyze how geopolitical shocks affect oil markets.</a:t>
            </a:r>
            <a:endParaRPr sz="1200">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Macroeconomic and geopolitical indicators, along with engineered financial features, provide a comprehensive framework for assessing market volatility and risk. </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p:txBody>
      </p:sp>
      <p:sp>
        <p:nvSpPr>
          <p:cNvPr id="91" name="Google Shape;91;g3d26b78a17e_0_23"/>
          <p:cNvSpPr txBox="1"/>
          <p:nvPr/>
        </p:nvSpPr>
        <p:spPr>
          <a:xfrm>
            <a:off x="4513300" y="2539325"/>
            <a:ext cx="3809100" cy="2447400"/>
          </a:xfrm>
          <a:prstGeom prst="rect">
            <a:avLst/>
          </a:prstGeom>
          <a:noFill/>
          <a:ln>
            <a:noFill/>
          </a:ln>
        </p:spPr>
        <p:txBody>
          <a:bodyPr anchorCtr="0" anchor="t" bIns="91425" lIns="91425" spcFirstLastPara="1" rIns="91425" wrap="square" tIns="91425">
            <a:noAutofit/>
          </a:bodyPr>
          <a:lstStyle/>
          <a:p>
            <a:pPr indent="0" lvl="0" marL="0" rtl="0" algn="l">
              <a:lnSpc>
                <a:spcPct val="10000"/>
              </a:lnSpc>
              <a:spcBef>
                <a:spcPts val="1800"/>
              </a:spcBef>
              <a:spcAft>
                <a:spcPts val="0"/>
              </a:spcAft>
              <a:buNone/>
            </a:pPr>
            <a:r>
              <a:rPr b="1" lang="en-US" sz="1200">
                <a:solidFill>
                  <a:srgbClr val="3C4043"/>
                </a:solidFill>
                <a:latin typeface="Calibri"/>
                <a:ea typeface="Calibri"/>
                <a:cs typeface="Calibri"/>
                <a:sym typeface="Calibri"/>
              </a:rPr>
              <a:t>Engineered Features</a:t>
            </a:r>
            <a:endParaRPr b="1" sz="1200">
              <a:solidFill>
                <a:srgbClr val="3C4043"/>
              </a:solidFill>
              <a:latin typeface="Calibri"/>
              <a:ea typeface="Calibri"/>
              <a:cs typeface="Calibri"/>
              <a:sym typeface="Calibri"/>
            </a:endParaRPr>
          </a:p>
          <a:p>
            <a:pPr indent="-304800" lvl="0" marL="457200" rtl="0" algn="l">
              <a:lnSpc>
                <a:spcPct val="10000"/>
              </a:lnSpc>
              <a:spcBef>
                <a:spcPts val="1800"/>
              </a:spcBef>
              <a:spcAft>
                <a:spcPts val="0"/>
              </a:spcAft>
              <a:buClr>
                <a:srgbClr val="3C4043"/>
              </a:buClr>
              <a:buSzPts val="1200"/>
              <a:buFont typeface="Calibri"/>
              <a:buChar char="●"/>
            </a:pPr>
            <a:r>
              <a:rPr lang="en-US" sz="1200">
                <a:solidFill>
                  <a:srgbClr val="3C4043"/>
                </a:solidFill>
                <a:latin typeface="Calibri"/>
                <a:ea typeface="Calibri"/>
                <a:cs typeface="Calibri"/>
                <a:sym typeface="Calibri"/>
              </a:rPr>
              <a:t>Daily returns</a:t>
            </a:r>
            <a:endParaRPr sz="1200">
              <a:solidFill>
                <a:srgbClr val="3C4043"/>
              </a:solidFill>
              <a:latin typeface="Calibri"/>
              <a:ea typeface="Calibri"/>
              <a:cs typeface="Calibri"/>
              <a:sym typeface="Calibri"/>
            </a:endParaRPr>
          </a:p>
          <a:p>
            <a:pPr indent="-304800" lvl="0" marL="457200" rtl="0" algn="l">
              <a:lnSpc>
                <a:spcPct val="10000"/>
              </a:lnSpc>
              <a:spcBef>
                <a:spcPts val="1800"/>
              </a:spcBef>
              <a:spcAft>
                <a:spcPts val="0"/>
              </a:spcAft>
              <a:buClr>
                <a:srgbClr val="3C4043"/>
              </a:buClr>
              <a:buSzPts val="1200"/>
              <a:buFont typeface="Calibri"/>
              <a:buChar char="●"/>
            </a:pPr>
            <a:r>
              <a:rPr lang="en-US" sz="1200">
                <a:solidFill>
                  <a:srgbClr val="3C4043"/>
                </a:solidFill>
                <a:latin typeface="Calibri"/>
                <a:ea typeface="Calibri"/>
                <a:cs typeface="Calibri"/>
                <a:sym typeface="Calibri"/>
              </a:rPr>
              <a:t>Lagged prices</a:t>
            </a:r>
            <a:endParaRPr sz="1200">
              <a:solidFill>
                <a:srgbClr val="3C4043"/>
              </a:solidFill>
              <a:latin typeface="Calibri"/>
              <a:ea typeface="Calibri"/>
              <a:cs typeface="Calibri"/>
              <a:sym typeface="Calibri"/>
            </a:endParaRPr>
          </a:p>
          <a:p>
            <a:pPr indent="-304800" lvl="0" marL="457200" rtl="0" algn="l">
              <a:lnSpc>
                <a:spcPct val="10000"/>
              </a:lnSpc>
              <a:spcBef>
                <a:spcPts val="1800"/>
              </a:spcBef>
              <a:spcAft>
                <a:spcPts val="0"/>
              </a:spcAft>
              <a:buClr>
                <a:srgbClr val="3C4043"/>
              </a:buClr>
              <a:buSzPts val="1200"/>
              <a:buFont typeface="Calibri"/>
              <a:buChar char="●"/>
            </a:pPr>
            <a:r>
              <a:rPr lang="en-US" sz="1200">
                <a:solidFill>
                  <a:srgbClr val="3C4043"/>
                </a:solidFill>
                <a:latin typeface="Calibri"/>
                <a:ea typeface="Calibri"/>
                <a:cs typeface="Calibri"/>
                <a:sym typeface="Calibri"/>
              </a:rPr>
              <a:t>Rolling volatility measures</a:t>
            </a:r>
            <a:endParaRPr sz="1200">
              <a:solidFill>
                <a:srgbClr val="3C4043"/>
              </a:solidFill>
              <a:latin typeface="Calibri"/>
              <a:ea typeface="Calibri"/>
              <a:cs typeface="Calibri"/>
              <a:sym typeface="Calibri"/>
            </a:endParaRPr>
          </a:p>
          <a:p>
            <a:pPr indent="-304800" lvl="0" marL="457200" rtl="0" algn="l">
              <a:lnSpc>
                <a:spcPct val="10000"/>
              </a:lnSpc>
              <a:spcBef>
                <a:spcPts val="1800"/>
              </a:spcBef>
              <a:spcAft>
                <a:spcPts val="0"/>
              </a:spcAft>
              <a:buClr>
                <a:srgbClr val="3C4043"/>
              </a:buClr>
              <a:buSzPts val="1200"/>
              <a:buFont typeface="Calibri"/>
              <a:buChar char="●"/>
            </a:pPr>
            <a:r>
              <a:rPr lang="en-US" sz="1200">
                <a:solidFill>
                  <a:srgbClr val="3C4043"/>
                </a:solidFill>
                <a:latin typeface="Calibri"/>
                <a:ea typeface="Calibri"/>
                <a:cs typeface="Calibri"/>
                <a:sym typeface="Calibri"/>
              </a:rPr>
              <a:t>Brent–WTI spread</a:t>
            </a:r>
            <a:endParaRPr sz="1200">
              <a:solidFill>
                <a:srgbClr val="3C4043"/>
              </a:solidFill>
              <a:latin typeface="Calibri"/>
              <a:ea typeface="Calibri"/>
              <a:cs typeface="Calibri"/>
              <a:sym typeface="Calibri"/>
            </a:endParaRPr>
          </a:p>
          <a:p>
            <a:pPr indent="0" lvl="0" marL="0" rtl="0" algn="l">
              <a:lnSpc>
                <a:spcPct val="10000"/>
              </a:lnSpc>
              <a:spcBef>
                <a:spcPts val="1800"/>
              </a:spcBef>
              <a:spcAft>
                <a:spcPts val="0"/>
              </a:spcAft>
              <a:buNone/>
            </a:pPr>
            <a:r>
              <a:rPr b="1" lang="en-US" sz="1200">
                <a:solidFill>
                  <a:srgbClr val="3C4043"/>
                </a:solidFill>
                <a:latin typeface="Calibri"/>
                <a:ea typeface="Calibri"/>
                <a:cs typeface="Calibri"/>
                <a:sym typeface="Calibri"/>
              </a:rPr>
              <a:t>Event Annotations</a:t>
            </a:r>
            <a:endParaRPr b="1" sz="1200">
              <a:solidFill>
                <a:srgbClr val="3C4043"/>
              </a:solidFill>
              <a:latin typeface="Calibri"/>
              <a:ea typeface="Calibri"/>
              <a:cs typeface="Calibri"/>
              <a:sym typeface="Calibri"/>
            </a:endParaRPr>
          </a:p>
          <a:p>
            <a:pPr indent="-304800" lvl="0" marL="457200" rtl="0" algn="l">
              <a:lnSpc>
                <a:spcPct val="10000"/>
              </a:lnSpc>
              <a:spcBef>
                <a:spcPts val="1800"/>
              </a:spcBef>
              <a:spcAft>
                <a:spcPts val="0"/>
              </a:spcAft>
              <a:buClr>
                <a:srgbClr val="3C4043"/>
              </a:buClr>
              <a:buSzPts val="1200"/>
              <a:buFont typeface="Calibri"/>
              <a:buChar char="●"/>
            </a:pPr>
            <a:r>
              <a:rPr lang="en-US" sz="1200">
                <a:solidFill>
                  <a:srgbClr val="3C4043"/>
                </a:solidFill>
                <a:latin typeface="Calibri"/>
                <a:ea typeface="Calibri"/>
                <a:cs typeface="Calibri"/>
                <a:sym typeface="Calibri"/>
              </a:rPr>
              <a:t>Event flag (indicating major geopolitical events)</a:t>
            </a:r>
            <a:endParaRPr sz="1200">
              <a:solidFill>
                <a:srgbClr val="3C4043"/>
              </a:solidFill>
              <a:latin typeface="Calibri"/>
              <a:ea typeface="Calibri"/>
              <a:cs typeface="Calibri"/>
              <a:sym typeface="Calibri"/>
            </a:endParaRPr>
          </a:p>
          <a:p>
            <a:pPr indent="-304800" lvl="0" marL="457200" rtl="0" algn="l">
              <a:lnSpc>
                <a:spcPct val="10000"/>
              </a:lnSpc>
              <a:spcBef>
                <a:spcPts val="1800"/>
              </a:spcBef>
              <a:spcAft>
                <a:spcPts val="0"/>
              </a:spcAft>
              <a:buClr>
                <a:srgbClr val="3C4043"/>
              </a:buClr>
              <a:buSzPts val="1200"/>
              <a:buFont typeface="Calibri"/>
              <a:buChar char="●"/>
            </a:pPr>
            <a:r>
              <a:rPr lang="en-US" sz="1200">
                <a:solidFill>
                  <a:srgbClr val="3C4043"/>
                </a:solidFill>
                <a:latin typeface="Calibri"/>
                <a:ea typeface="Calibri"/>
                <a:cs typeface="Calibri"/>
                <a:sym typeface="Calibri"/>
              </a:rPr>
              <a:t>Event type</a:t>
            </a:r>
            <a:endParaRPr sz="1200">
              <a:solidFill>
                <a:srgbClr val="3C4043"/>
              </a:solidFill>
              <a:latin typeface="Calibri"/>
              <a:ea typeface="Calibri"/>
              <a:cs typeface="Calibri"/>
              <a:sym typeface="Calibri"/>
            </a:endParaRPr>
          </a:p>
          <a:p>
            <a:pPr indent="-304800" lvl="0" marL="457200" rtl="0" algn="l">
              <a:lnSpc>
                <a:spcPct val="10000"/>
              </a:lnSpc>
              <a:spcBef>
                <a:spcPts val="1800"/>
              </a:spcBef>
              <a:spcAft>
                <a:spcPts val="0"/>
              </a:spcAft>
              <a:buClr>
                <a:srgbClr val="3C4043"/>
              </a:buClr>
              <a:buSzPts val="1200"/>
              <a:buFont typeface="Calibri"/>
              <a:buChar char="●"/>
            </a:pPr>
            <a:r>
              <a:rPr lang="en-US" sz="1200">
                <a:solidFill>
                  <a:srgbClr val="3C4043"/>
                </a:solidFill>
                <a:latin typeface="Calibri"/>
                <a:ea typeface="Calibri"/>
                <a:cs typeface="Calibri"/>
                <a:sym typeface="Calibri"/>
              </a:rPr>
              <a:t>Event description</a:t>
            </a:r>
            <a:endParaRPr sz="1200">
              <a:solidFill>
                <a:srgbClr val="3C4043"/>
              </a:solidFill>
              <a:latin typeface="Calibri"/>
              <a:ea typeface="Calibri"/>
              <a:cs typeface="Calibri"/>
              <a:sym typeface="Calibri"/>
            </a:endParaRPr>
          </a:p>
          <a:p>
            <a:pPr indent="-304800" lvl="0" marL="457200" rtl="0" algn="l">
              <a:lnSpc>
                <a:spcPct val="10000"/>
              </a:lnSpc>
              <a:spcBef>
                <a:spcPts val="1800"/>
              </a:spcBef>
              <a:spcAft>
                <a:spcPts val="900"/>
              </a:spcAft>
              <a:buClr>
                <a:srgbClr val="3C4043"/>
              </a:buClr>
              <a:buSzPts val="1200"/>
              <a:buFont typeface="Calibri"/>
              <a:buChar char="●"/>
            </a:pPr>
            <a:r>
              <a:rPr lang="en-US" sz="1200">
                <a:solidFill>
                  <a:srgbClr val="3C4043"/>
                </a:solidFill>
                <a:latin typeface="Calibri"/>
                <a:ea typeface="Calibri"/>
                <a:cs typeface="Calibri"/>
                <a:sym typeface="Calibri"/>
              </a:rPr>
              <a:t>Event severity score</a:t>
            </a:r>
            <a:endParaRPr/>
          </a:p>
        </p:txBody>
      </p:sp>
      <p:sp>
        <p:nvSpPr>
          <p:cNvPr id="92" name="Google Shape;92;g3d26b78a17e_0_23"/>
          <p:cNvSpPr txBox="1"/>
          <p:nvPr/>
        </p:nvSpPr>
        <p:spPr>
          <a:xfrm>
            <a:off x="115550" y="2308617"/>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t>Data Contents:</a:t>
            </a:r>
            <a:endParaRPr b="1" sz="1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97" name="Shape 97"/>
        <p:cNvGrpSpPr/>
        <p:nvPr/>
      </p:nvGrpSpPr>
      <p:grpSpPr>
        <a:xfrm>
          <a:off x="0" y="0"/>
          <a:ext cx="0" cy="0"/>
          <a:chOff x="0" y="0"/>
          <a:chExt cx="0" cy="0"/>
        </a:xfrm>
      </p:grpSpPr>
      <p:sp>
        <p:nvSpPr>
          <p:cNvPr id="98" name="Google Shape;98;g3d4367663e0_1_146"/>
          <p:cNvSpPr/>
          <p:nvPr/>
        </p:nvSpPr>
        <p:spPr>
          <a:xfrm>
            <a:off x="0" y="0"/>
            <a:ext cx="9144000" cy="476100"/>
          </a:xfrm>
          <a:prstGeom prst="rect">
            <a:avLst/>
          </a:prstGeom>
          <a:solidFill>
            <a:srgbClr val="073763"/>
          </a:solidFill>
          <a:ln cap="flat" cmpd="sng" w="1270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g3d4367663e0_1_146"/>
          <p:cNvSpPr/>
          <p:nvPr/>
        </p:nvSpPr>
        <p:spPr>
          <a:xfrm>
            <a:off x="365750" y="91445"/>
            <a:ext cx="8229600" cy="285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600">
                <a:solidFill>
                  <a:srgbClr val="FFFFFF"/>
                </a:solidFill>
                <a:latin typeface="Calibri"/>
                <a:ea typeface="Calibri"/>
                <a:cs typeface="Calibri"/>
                <a:sym typeface="Calibri"/>
              </a:rPr>
              <a:t>Data Design</a:t>
            </a:r>
            <a:endParaRPr b="0" i="0" sz="2600" u="none" cap="none" strike="noStrike">
              <a:solidFill>
                <a:schemeClr val="dk1"/>
              </a:solidFill>
              <a:latin typeface="Calibri"/>
              <a:ea typeface="Calibri"/>
              <a:cs typeface="Calibri"/>
              <a:sym typeface="Calibri"/>
            </a:endParaRPr>
          </a:p>
        </p:txBody>
      </p:sp>
      <p:sp>
        <p:nvSpPr>
          <p:cNvPr id="100" name="Google Shape;100;g3d4367663e0_1_146"/>
          <p:cNvSpPr txBox="1"/>
          <p:nvPr/>
        </p:nvSpPr>
        <p:spPr>
          <a:xfrm>
            <a:off x="2088550" y="777150"/>
            <a:ext cx="5448900" cy="443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rgbClr val="3B3B3B"/>
                </a:solidFill>
                <a:latin typeface="Calibri"/>
                <a:ea typeface="Calibri"/>
                <a:cs typeface="Calibri"/>
                <a:sym typeface="Calibri"/>
              </a:rPr>
              <a:t>┌─────────────────────────────────────────────────┐</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a:t>
            </a:r>
            <a:r>
              <a:rPr b="1" lang="en-US" sz="1200">
                <a:solidFill>
                  <a:srgbClr val="3B3B3B"/>
                </a:solidFill>
                <a:latin typeface="Calibri"/>
                <a:ea typeface="Calibri"/>
                <a:cs typeface="Calibri"/>
                <a:sym typeface="Calibri"/>
              </a:rPr>
              <a:t> MART LAYER     </a:t>
            </a:r>
            <a:r>
              <a:rPr lang="en-US" sz="1200">
                <a:solidFill>
                  <a:srgbClr val="3B3B3B"/>
                </a:solidFill>
                <a:latin typeface="Calibri"/>
                <a:ea typeface="Calibri"/>
                <a:cs typeface="Calibri"/>
                <a:sym typeface="Calibri"/>
              </a:rPr>
              <a:t>                   				              </a:t>
            </a:r>
            <a:endParaRPr sz="1200">
              <a:solidFill>
                <a:srgbClr val="3B3B3B"/>
              </a:solidFill>
              <a:latin typeface="Calibri"/>
              <a:ea typeface="Calibri"/>
              <a:cs typeface="Calibri"/>
              <a:sym typeface="Calibri"/>
            </a:endParaRPr>
          </a:p>
          <a:p>
            <a:pPr indent="457200" lvl="0" marL="0" rtl="0" algn="l">
              <a:spcBef>
                <a:spcPts val="0"/>
              </a:spcBef>
              <a:spcAft>
                <a:spcPts val="0"/>
              </a:spcAft>
              <a:buNone/>
            </a:pPr>
            <a:r>
              <a:rPr lang="en-US" sz="1200">
                <a:solidFill>
                  <a:srgbClr val="3B3B3B"/>
                </a:solidFill>
                <a:latin typeface="Calibri"/>
                <a:ea typeface="Calibri"/>
                <a:cs typeface="Calibri"/>
                <a:sym typeface="Calibri"/>
              </a:rPr>
              <a:t>   mart_oil_geopolitics   </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J</a:t>
            </a:r>
            <a:r>
              <a:rPr lang="en-US" sz="1200">
                <a:solidFill>
                  <a:srgbClr val="3B3B3B"/>
                </a:solidFill>
                <a:latin typeface="Calibri"/>
                <a:ea typeface="Calibri"/>
                <a:cs typeface="Calibri"/>
                <a:sym typeface="Calibri"/>
              </a:rPr>
              <a:t>OIN two staging tables</a:t>
            </a:r>
            <a:r>
              <a:rPr lang="en-US" sz="1200">
                <a:solidFill>
                  <a:srgbClr val="3B3B3B"/>
                </a:solidFill>
                <a:latin typeface="Calibri"/>
                <a:ea typeface="Calibri"/>
                <a:cs typeface="Calibri"/>
                <a:sym typeface="Calibri"/>
              </a:rPr>
              <a:t>                      </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(LEFT JOIN stg_oil_prices + stg_geo_events)    </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4,047 rows — one row per trading day           </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built from</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a:t>
            </a:r>
            <a:r>
              <a:rPr lang="en-US" sz="1200">
                <a:solidFill>
                  <a:srgbClr val="3B3B3B"/>
                </a:solidFill>
                <a:latin typeface="Calibri"/>
                <a:ea typeface="Calibri"/>
                <a:cs typeface="Calibri"/>
                <a:sym typeface="Calibri"/>
              </a:rPr>
              <a:t>┴─</a:t>
            </a:r>
            <a:r>
              <a:rPr lang="en-US" sz="1200">
                <a:solidFill>
                  <a:srgbClr val="3B3B3B"/>
                </a:solidFill>
                <a:latin typeface="Calibri"/>
                <a:ea typeface="Calibri"/>
                <a:cs typeface="Calibri"/>
                <a:sym typeface="Calibri"/>
              </a:rPr>
              <a:t>──────────┐</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                                                     ▼</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b="1" lang="en-US" sz="1200">
                <a:solidFill>
                  <a:srgbClr val="3B3B3B"/>
                </a:solidFill>
                <a:latin typeface="Calibri"/>
                <a:ea typeface="Calibri"/>
                <a:cs typeface="Calibri"/>
                <a:sym typeface="Calibri"/>
              </a:rPr>
              <a:t>  </a:t>
            </a:r>
            <a:r>
              <a:rPr b="1" lang="en-US" sz="1200">
                <a:solidFill>
                  <a:srgbClr val="3B3B3B"/>
                </a:solidFill>
                <a:latin typeface="Calibri"/>
                <a:ea typeface="Calibri"/>
                <a:cs typeface="Calibri"/>
                <a:sym typeface="Calibri"/>
              </a:rPr>
              <a:t>STAGING LAYER                    STAGING LAYER   </a:t>
            </a:r>
            <a:endParaRPr b="1"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a:t>
            </a:r>
            <a:r>
              <a:rPr lang="en-US" sz="1200">
                <a:solidFill>
                  <a:srgbClr val="3B3B3B"/>
                </a:solidFill>
                <a:latin typeface="Calibri"/>
                <a:ea typeface="Calibri"/>
                <a:cs typeface="Calibri"/>
                <a:sym typeface="Calibri"/>
              </a:rPr>
              <a:t>stg_oil_prices  		stg_geo_events </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4,047 rows     		35 rows        </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cast + clean       		cast + clean </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                                           │</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                                         ▼</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a:t>
            </a:r>
            <a:r>
              <a:rPr b="1" lang="en-US" sz="1200">
                <a:solidFill>
                  <a:srgbClr val="3B3B3B"/>
                </a:solidFill>
                <a:latin typeface="Calibri"/>
                <a:ea typeface="Calibri"/>
                <a:cs typeface="Calibri"/>
                <a:sym typeface="Calibri"/>
              </a:rPr>
              <a:t>RAW LAYER                      RAW LAYER      </a:t>
            </a:r>
            <a:endParaRPr b="1"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raw_oil_prices               raw_geo_events  </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(as loaded)                           (as loaded)    </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a:t>
            </a:r>
            <a:endParaRPr sz="1200">
              <a:solidFill>
                <a:srgbClr val="3B3B3B"/>
              </a:solidFill>
              <a:latin typeface="Calibri"/>
              <a:ea typeface="Calibri"/>
              <a:cs typeface="Calibri"/>
              <a:sym typeface="Calibri"/>
            </a:endParaRPr>
          </a:p>
        </p:txBody>
      </p:sp>
      <p:sp>
        <p:nvSpPr>
          <p:cNvPr id="101" name="Google Shape;101;g3d4367663e0_1_146"/>
          <p:cNvSpPr txBox="1"/>
          <p:nvPr/>
        </p:nvSpPr>
        <p:spPr>
          <a:xfrm>
            <a:off x="1406075" y="403427"/>
            <a:ext cx="51561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rPr b="1" lang="en-US" sz="1600">
                <a:solidFill>
                  <a:srgbClr val="3B3B3B"/>
                </a:solidFill>
                <a:latin typeface="Calibri"/>
                <a:ea typeface="Calibri"/>
                <a:cs typeface="Calibri"/>
                <a:sym typeface="Calibri"/>
              </a:rPr>
              <a:t>                                   Data Model Design</a:t>
            </a:r>
            <a:endParaRPr b="1" sz="1600">
              <a:solidFill>
                <a:srgbClr val="3B3B3B"/>
              </a:solidFill>
              <a:latin typeface="Calibri"/>
              <a:ea typeface="Calibri"/>
              <a:cs typeface="Calibri"/>
              <a:sym typeface="Calibri"/>
            </a:endParaRPr>
          </a:p>
        </p:txBody>
      </p:sp>
      <p:sp>
        <p:nvSpPr>
          <p:cNvPr id="102" name="Google Shape;102;g3d4367663e0_1_146"/>
          <p:cNvSpPr txBox="1"/>
          <p:nvPr/>
        </p:nvSpPr>
        <p:spPr>
          <a:xfrm>
            <a:off x="5210045" y="2960778"/>
            <a:ext cx="3389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800">
                <a:solidFill>
                  <a:srgbClr val="3B3B3B"/>
                </a:solidFill>
                <a:latin typeface="Calibri"/>
                <a:ea typeface="Calibri"/>
                <a:cs typeface="Calibri"/>
                <a:sym typeface="Calibri"/>
              </a:rPr>
              <a:t>-- Cast date string → DATE type cast(date as date) as date</a:t>
            </a:r>
            <a:endParaRPr sz="800">
              <a:solidFill>
                <a:srgbClr val="3B3B3B"/>
              </a:solidFill>
              <a:latin typeface="Calibri"/>
              <a:ea typeface="Calibri"/>
              <a:cs typeface="Calibri"/>
              <a:sym typeface="Calibri"/>
            </a:endParaRPr>
          </a:p>
          <a:p>
            <a:pPr indent="0" lvl="0" marL="0" rtl="0" algn="l">
              <a:spcBef>
                <a:spcPts val="0"/>
              </a:spcBef>
              <a:spcAft>
                <a:spcPts val="0"/>
              </a:spcAft>
              <a:buNone/>
            </a:pPr>
            <a:r>
              <a:rPr lang="en-US" sz="800">
                <a:solidFill>
                  <a:srgbClr val="3B3B3B"/>
                </a:solidFill>
                <a:latin typeface="Calibri"/>
                <a:ea typeface="Calibri"/>
                <a:cs typeface="Calibri"/>
                <a:sym typeface="Calibri"/>
              </a:rPr>
              <a:t>-- Cast price strings → FLOAT64 cast(brent_price as float64) as brent_price</a:t>
            </a:r>
            <a:endParaRPr sz="800">
              <a:solidFill>
                <a:srgbClr val="3B3B3B"/>
              </a:solidFill>
              <a:latin typeface="Calibri"/>
              <a:ea typeface="Calibri"/>
              <a:cs typeface="Calibri"/>
              <a:sym typeface="Calibri"/>
            </a:endParaRPr>
          </a:p>
          <a:p>
            <a:pPr indent="0" lvl="0" marL="0" rtl="0" algn="l">
              <a:spcBef>
                <a:spcPts val="0"/>
              </a:spcBef>
              <a:spcAft>
                <a:spcPts val="0"/>
              </a:spcAft>
              <a:buNone/>
            </a:pPr>
            <a:r>
              <a:rPr lang="en-US" sz="800">
                <a:solidFill>
                  <a:srgbClr val="3B3B3B"/>
                </a:solidFill>
                <a:latin typeface="Calibri"/>
                <a:ea typeface="Calibri"/>
                <a:cs typeface="Calibri"/>
                <a:sym typeface="Calibri"/>
              </a:rPr>
              <a:t>-- Filter out nulls where date is not null</a:t>
            </a:r>
            <a:endParaRPr sz="800">
              <a:solidFill>
                <a:srgbClr val="3B3B3B"/>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07" name="Shape 107"/>
        <p:cNvGrpSpPr/>
        <p:nvPr/>
      </p:nvGrpSpPr>
      <p:grpSpPr>
        <a:xfrm>
          <a:off x="0" y="0"/>
          <a:ext cx="0" cy="0"/>
          <a:chOff x="0" y="0"/>
          <a:chExt cx="0" cy="0"/>
        </a:xfrm>
      </p:grpSpPr>
      <p:sp>
        <p:nvSpPr>
          <p:cNvPr id="108" name="Google Shape;108;g3d26b78a17e_0_62"/>
          <p:cNvSpPr/>
          <p:nvPr/>
        </p:nvSpPr>
        <p:spPr>
          <a:xfrm>
            <a:off x="0" y="0"/>
            <a:ext cx="9144000" cy="4077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9" name="Google Shape;109;g3d26b78a17e_0_62"/>
          <p:cNvGrpSpPr/>
          <p:nvPr/>
        </p:nvGrpSpPr>
        <p:grpSpPr>
          <a:xfrm>
            <a:off x="112965" y="1137457"/>
            <a:ext cx="1463100" cy="1177800"/>
            <a:chOff x="85165" y="1270275"/>
            <a:chExt cx="1463100" cy="1177800"/>
          </a:xfrm>
        </p:grpSpPr>
        <p:sp>
          <p:nvSpPr>
            <p:cNvPr id="110" name="Google Shape;110;g3d26b78a17e_0_62"/>
            <p:cNvSpPr/>
            <p:nvPr/>
          </p:nvSpPr>
          <p:spPr>
            <a:xfrm>
              <a:off x="160025" y="1270275"/>
              <a:ext cx="1313400" cy="1177800"/>
            </a:xfrm>
            <a:prstGeom prst="rect">
              <a:avLst/>
            </a:prstGeom>
            <a:solidFill>
              <a:srgbClr val="FFFFFF"/>
            </a:solidFill>
            <a:ln cap="flat" cmpd="sng" w="6275">
              <a:solidFill>
                <a:srgbClr val="E2E8F0"/>
              </a:solidFill>
              <a:prstDash val="solid"/>
              <a:round/>
              <a:headEnd len="sm" w="sm" type="none"/>
              <a:tailEnd len="sm" w="sm" type="none"/>
            </a:ln>
            <a:effectLst>
              <a:outerShdw blurRad="50326" rotWithShape="0" algn="bl" dir="8100000" dist="18872">
                <a:srgbClr val="000000">
                  <a:alpha val="12160"/>
                </a:srgbClr>
              </a:outerShdw>
            </a:effectLst>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sp>
          <p:nvSpPr>
            <p:cNvPr id="111" name="Google Shape;111;g3d26b78a17e_0_62"/>
            <p:cNvSpPr/>
            <p:nvPr/>
          </p:nvSpPr>
          <p:spPr>
            <a:xfrm>
              <a:off x="160025" y="1270275"/>
              <a:ext cx="1313400" cy="36300"/>
            </a:xfrm>
            <a:prstGeom prst="rect">
              <a:avLst/>
            </a:prstGeom>
            <a:solidFill>
              <a:srgbClr val="F0A500"/>
            </a:solidFill>
            <a:ln cap="flat" cmpd="sng" w="6275">
              <a:solidFill>
                <a:srgbClr val="F0A500"/>
              </a:solidFill>
              <a:prstDash val="solid"/>
              <a:round/>
              <a:headEnd len="sm" w="sm" type="none"/>
              <a:tailEnd len="sm" w="sm" type="none"/>
            </a:ln>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sp>
          <p:nvSpPr>
            <p:cNvPr id="112" name="Google Shape;112;g3d26b78a17e_0_62"/>
            <p:cNvSpPr/>
            <p:nvPr/>
          </p:nvSpPr>
          <p:spPr>
            <a:xfrm>
              <a:off x="85165" y="1464117"/>
              <a:ext cx="14631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chemeClr val="dk1"/>
                  </a:solidFill>
                  <a:latin typeface="Calibri"/>
                  <a:ea typeface="Calibri"/>
                  <a:cs typeface="Calibri"/>
                  <a:sym typeface="Calibri"/>
                </a:rPr>
                <a:t>CSV Files</a:t>
              </a:r>
              <a:endParaRPr b="0" i="0" sz="1200" u="none" cap="none" strike="noStrike">
                <a:solidFill>
                  <a:schemeClr val="dk1"/>
                </a:solidFill>
                <a:latin typeface="Calibri"/>
                <a:ea typeface="Calibri"/>
                <a:cs typeface="Calibri"/>
                <a:sym typeface="Calibri"/>
              </a:endParaRPr>
            </a:p>
          </p:txBody>
        </p:sp>
        <p:sp>
          <p:nvSpPr>
            <p:cNvPr id="113" name="Google Shape;113;g3d26b78a17e_0_62"/>
            <p:cNvSpPr/>
            <p:nvPr/>
          </p:nvSpPr>
          <p:spPr>
            <a:xfrm>
              <a:off x="85165" y="1611315"/>
              <a:ext cx="1463100" cy="731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50"/>
                <a:buFont typeface="Calibri"/>
                <a:buNone/>
              </a:pPr>
              <a:r>
                <a:rPr b="0" i="0" lang="en-US" sz="1200" u="none" cap="none" strike="noStrike">
                  <a:solidFill>
                    <a:schemeClr val="dk1"/>
                  </a:solidFill>
                  <a:latin typeface="Calibri"/>
                  <a:ea typeface="Calibri"/>
                  <a:cs typeface="Calibri"/>
                  <a:sym typeface="Calibri"/>
                </a:rPr>
                <a:t>Kaggle Dataset</a:t>
              </a:r>
              <a:endParaRPr b="0" i="0" sz="1200" u="none" cap="none" strike="noStrike">
                <a:solidFill>
                  <a:schemeClr val="dk1"/>
                </a:solidFill>
                <a:latin typeface="Calibri"/>
                <a:ea typeface="Calibri"/>
                <a:cs typeface="Calibri"/>
                <a:sym typeface="Calibri"/>
              </a:endParaRPr>
            </a:p>
          </p:txBody>
        </p:sp>
      </p:grpSp>
      <p:sp>
        <p:nvSpPr>
          <p:cNvPr id="114" name="Google Shape;114;g3d26b78a17e_0_62"/>
          <p:cNvSpPr/>
          <p:nvPr/>
        </p:nvSpPr>
        <p:spPr>
          <a:xfrm>
            <a:off x="1501350" y="1685782"/>
            <a:ext cx="460200" cy="51300"/>
          </a:xfrm>
          <a:prstGeom prst="rect">
            <a:avLst/>
          </a:prstGeom>
          <a:solidFill>
            <a:srgbClr val="1C4587"/>
          </a:solidFill>
          <a:ln cap="flat" cmpd="sng" w="12700">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5" name="Google Shape;115;g3d26b78a17e_0_62"/>
          <p:cNvGrpSpPr/>
          <p:nvPr/>
        </p:nvGrpSpPr>
        <p:grpSpPr>
          <a:xfrm>
            <a:off x="5509009" y="1137457"/>
            <a:ext cx="1463100" cy="1177800"/>
            <a:chOff x="85165" y="1270275"/>
            <a:chExt cx="1463100" cy="1177800"/>
          </a:xfrm>
        </p:grpSpPr>
        <p:sp>
          <p:nvSpPr>
            <p:cNvPr id="116" name="Google Shape;116;g3d26b78a17e_0_62"/>
            <p:cNvSpPr/>
            <p:nvPr/>
          </p:nvSpPr>
          <p:spPr>
            <a:xfrm>
              <a:off x="160025" y="1270275"/>
              <a:ext cx="1313400" cy="1177800"/>
            </a:xfrm>
            <a:prstGeom prst="rect">
              <a:avLst/>
            </a:prstGeom>
            <a:solidFill>
              <a:srgbClr val="FFFFFF"/>
            </a:solidFill>
            <a:ln cap="flat" cmpd="sng" w="6275">
              <a:solidFill>
                <a:srgbClr val="E2E8F0"/>
              </a:solidFill>
              <a:prstDash val="solid"/>
              <a:round/>
              <a:headEnd len="sm" w="sm" type="none"/>
              <a:tailEnd len="sm" w="sm" type="none"/>
            </a:ln>
            <a:effectLst>
              <a:outerShdw blurRad="50326" rotWithShape="0" algn="bl" dir="8100000" dist="18872">
                <a:srgbClr val="000000">
                  <a:alpha val="12160"/>
                </a:srgbClr>
              </a:outerShdw>
            </a:effectLst>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sp>
          <p:nvSpPr>
            <p:cNvPr id="117" name="Google Shape;117;g3d26b78a17e_0_62"/>
            <p:cNvSpPr/>
            <p:nvPr/>
          </p:nvSpPr>
          <p:spPr>
            <a:xfrm>
              <a:off x="160025" y="1270275"/>
              <a:ext cx="1313400" cy="36300"/>
            </a:xfrm>
            <a:prstGeom prst="rect">
              <a:avLst/>
            </a:prstGeom>
            <a:solidFill>
              <a:srgbClr val="F0A500"/>
            </a:solidFill>
            <a:ln cap="flat" cmpd="sng" w="6275">
              <a:solidFill>
                <a:srgbClr val="F0A500"/>
              </a:solidFill>
              <a:prstDash val="solid"/>
              <a:round/>
              <a:headEnd len="sm" w="sm" type="none"/>
              <a:tailEnd len="sm" w="sm" type="none"/>
            </a:ln>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sp>
          <p:nvSpPr>
            <p:cNvPr id="118" name="Google Shape;118;g3d26b78a17e_0_62"/>
            <p:cNvSpPr/>
            <p:nvPr/>
          </p:nvSpPr>
          <p:spPr>
            <a:xfrm>
              <a:off x="85165" y="1464117"/>
              <a:ext cx="14631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chemeClr val="dk1"/>
                  </a:solidFill>
                  <a:latin typeface="Calibri"/>
                  <a:ea typeface="Calibri"/>
                  <a:cs typeface="Calibri"/>
                  <a:sym typeface="Calibri"/>
                </a:rPr>
                <a:t>BigQuery</a:t>
              </a:r>
              <a:endParaRPr b="1" i="0" sz="1200" u="none" cap="none" strike="noStrike">
                <a:solidFill>
                  <a:schemeClr val="dk1"/>
                </a:solidFill>
                <a:latin typeface="Calibri"/>
                <a:ea typeface="Calibri"/>
                <a:cs typeface="Calibri"/>
                <a:sym typeface="Calibri"/>
              </a:endParaRPr>
            </a:p>
          </p:txBody>
        </p:sp>
        <p:sp>
          <p:nvSpPr>
            <p:cNvPr id="119" name="Google Shape;119;g3d26b78a17e_0_62"/>
            <p:cNvSpPr/>
            <p:nvPr/>
          </p:nvSpPr>
          <p:spPr>
            <a:xfrm>
              <a:off x="85165" y="1611315"/>
              <a:ext cx="1463100" cy="731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950"/>
                <a:buFont typeface="Calibri"/>
                <a:buNone/>
              </a:pPr>
              <a:r>
                <a:rPr lang="en-US" sz="950">
                  <a:solidFill>
                    <a:schemeClr val="dk1"/>
                  </a:solidFill>
                  <a:latin typeface="Calibri"/>
                  <a:ea typeface="Calibri"/>
                  <a:cs typeface="Calibri"/>
                  <a:sym typeface="Calibri"/>
                </a:rPr>
                <a:t>Data Warehouse</a:t>
              </a:r>
              <a:endParaRPr sz="950">
                <a:solidFill>
                  <a:schemeClr val="dk1"/>
                </a:solidFill>
                <a:latin typeface="Calibri"/>
                <a:ea typeface="Calibri"/>
                <a:cs typeface="Calibri"/>
                <a:sym typeface="Calibri"/>
              </a:endParaRPr>
            </a:p>
            <a:p>
              <a:pPr indent="0" lvl="0" marL="0" rtl="0" algn="ctr">
                <a:spcBef>
                  <a:spcPts val="0"/>
                </a:spcBef>
                <a:spcAft>
                  <a:spcPts val="0"/>
                </a:spcAft>
                <a:buClr>
                  <a:schemeClr val="lt1"/>
                </a:buClr>
                <a:buSzPts val="950"/>
                <a:buFont typeface="Calibri"/>
                <a:buNone/>
              </a:pPr>
              <a:r>
                <a:rPr lang="en-US" sz="950">
                  <a:solidFill>
                    <a:schemeClr val="dk1"/>
                  </a:solidFill>
                  <a:latin typeface="Calibri"/>
                  <a:ea typeface="Calibri"/>
                  <a:cs typeface="Calibri"/>
                  <a:sym typeface="Calibri"/>
                </a:rPr>
                <a:t>raw + dw schemas</a:t>
              </a:r>
              <a:endParaRPr sz="1200">
                <a:solidFill>
                  <a:schemeClr val="dk1"/>
                </a:solidFill>
                <a:latin typeface="Calibri"/>
                <a:ea typeface="Calibri"/>
                <a:cs typeface="Calibri"/>
                <a:sym typeface="Calibri"/>
              </a:endParaRPr>
            </a:p>
          </p:txBody>
        </p:sp>
      </p:grpSp>
      <p:grpSp>
        <p:nvGrpSpPr>
          <p:cNvPr id="120" name="Google Shape;120;g3d26b78a17e_0_62"/>
          <p:cNvGrpSpPr/>
          <p:nvPr/>
        </p:nvGrpSpPr>
        <p:grpSpPr>
          <a:xfrm>
            <a:off x="7307690" y="1137457"/>
            <a:ext cx="1463100" cy="1177800"/>
            <a:chOff x="85165" y="1270275"/>
            <a:chExt cx="1463100" cy="1177800"/>
          </a:xfrm>
        </p:grpSpPr>
        <p:sp>
          <p:nvSpPr>
            <p:cNvPr id="121" name="Google Shape;121;g3d26b78a17e_0_62"/>
            <p:cNvSpPr/>
            <p:nvPr/>
          </p:nvSpPr>
          <p:spPr>
            <a:xfrm>
              <a:off x="160025" y="1270275"/>
              <a:ext cx="1313400" cy="1177800"/>
            </a:xfrm>
            <a:prstGeom prst="rect">
              <a:avLst/>
            </a:prstGeom>
            <a:solidFill>
              <a:srgbClr val="FFFFFF"/>
            </a:solidFill>
            <a:ln cap="flat" cmpd="sng" w="6275">
              <a:solidFill>
                <a:srgbClr val="E2E8F0"/>
              </a:solidFill>
              <a:prstDash val="solid"/>
              <a:round/>
              <a:headEnd len="sm" w="sm" type="none"/>
              <a:tailEnd len="sm" w="sm" type="none"/>
            </a:ln>
            <a:effectLst>
              <a:outerShdw blurRad="50326" rotWithShape="0" algn="bl" dir="8100000" dist="18872">
                <a:srgbClr val="000000">
                  <a:alpha val="12160"/>
                </a:srgbClr>
              </a:outerShdw>
            </a:effectLst>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sp>
          <p:nvSpPr>
            <p:cNvPr id="122" name="Google Shape;122;g3d26b78a17e_0_62"/>
            <p:cNvSpPr/>
            <p:nvPr/>
          </p:nvSpPr>
          <p:spPr>
            <a:xfrm>
              <a:off x="160025" y="1270275"/>
              <a:ext cx="1313400" cy="36300"/>
            </a:xfrm>
            <a:prstGeom prst="rect">
              <a:avLst/>
            </a:prstGeom>
            <a:solidFill>
              <a:srgbClr val="F0A500"/>
            </a:solidFill>
            <a:ln cap="flat" cmpd="sng" w="6275">
              <a:solidFill>
                <a:srgbClr val="F0A500"/>
              </a:solidFill>
              <a:prstDash val="solid"/>
              <a:round/>
              <a:headEnd len="sm" w="sm" type="none"/>
              <a:tailEnd len="sm" w="sm" type="none"/>
            </a:ln>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sp>
          <p:nvSpPr>
            <p:cNvPr id="123" name="Google Shape;123;g3d26b78a17e_0_62"/>
            <p:cNvSpPr/>
            <p:nvPr/>
          </p:nvSpPr>
          <p:spPr>
            <a:xfrm>
              <a:off x="85165" y="1464117"/>
              <a:ext cx="14631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chemeClr val="dk1"/>
                  </a:solidFill>
                  <a:latin typeface="Calibri"/>
                  <a:ea typeface="Calibri"/>
                  <a:cs typeface="Calibri"/>
                  <a:sym typeface="Calibri"/>
                </a:rPr>
                <a:t>dbt</a:t>
              </a:r>
              <a:endParaRPr b="0" i="0" sz="1200" u="none" cap="none" strike="noStrike">
                <a:solidFill>
                  <a:schemeClr val="dk1"/>
                </a:solidFill>
                <a:latin typeface="Calibri"/>
                <a:ea typeface="Calibri"/>
                <a:cs typeface="Calibri"/>
                <a:sym typeface="Calibri"/>
              </a:endParaRPr>
            </a:p>
          </p:txBody>
        </p:sp>
        <p:sp>
          <p:nvSpPr>
            <p:cNvPr id="124" name="Google Shape;124;g3d26b78a17e_0_62"/>
            <p:cNvSpPr/>
            <p:nvPr/>
          </p:nvSpPr>
          <p:spPr>
            <a:xfrm>
              <a:off x="85165" y="1611315"/>
              <a:ext cx="1463100" cy="731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950"/>
                <a:buFont typeface="Calibri"/>
                <a:buNone/>
              </a:pPr>
              <a:r>
                <a:rPr lang="en-US" sz="950">
                  <a:solidFill>
                    <a:schemeClr val="dk1"/>
                  </a:solidFill>
                  <a:latin typeface="Calibri"/>
                  <a:ea typeface="Calibri"/>
                  <a:cs typeface="Calibri"/>
                  <a:sym typeface="Calibri"/>
                </a:rPr>
                <a:t>Transform</a:t>
              </a:r>
              <a:endParaRPr sz="950">
                <a:solidFill>
                  <a:schemeClr val="dk1"/>
                </a:solidFill>
                <a:latin typeface="Calibri"/>
                <a:ea typeface="Calibri"/>
                <a:cs typeface="Calibri"/>
                <a:sym typeface="Calibri"/>
              </a:endParaRPr>
            </a:p>
            <a:p>
              <a:pPr indent="0" lvl="0" marL="0" rtl="0" algn="ctr">
                <a:spcBef>
                  <a:spcPts val="0"/>
                </a:spcBef>
                <a:spcAft>
                  <a:spcPts val="0"/>
                </a:spcAft>
                <a:buClr>
                  <a:schemeClr val="lt1"/>
                </a:buClr>
                <a:buSzPts val="950"/>
                <a:buFont typeface="Calibri"/>
                <a:buNone/>
              </a:pPr>
              <a:r>
                <a:rPr lang="en-US" sz="950">
                  <a:solidFill>
                    <a:schemeClr val="dk1"/>
                  </a:solidFill>
                  <a:latin typeface="Calibri"/>
                  <a:ea typeface="Calibri"/>
                  <a:cs typeface="Calibri"/>
                  <a:sym typeface="Calibri"/>
                </a:rPr>
                <a:t>Schema + Tests</a:t>
              </a:r>
              <a:endParaRPr sz="1200">
                <a:solidFill>
                  <a:schemeClr val="dk1"/>
                </a:solidFill>
                <a:latin typeface="Calibri"/>
                <a:ea typeface="Calibri"/>
                <a:cs typeface="Calibri"/>
                <a:sym typeface="Calibri"/>
              </a:endParaRPr>
            </a:p>
          </p:txBody>
        </p:sp>
      </p:grpSp>
      <p:grpSp>
        <p:nvGrpSpPr>
          <p:cNvPr id="125" name="Google Shape;125;g3d26b78a17e_0_62"/>
          <p:cNvGrpSpPr/>
          <p:nvPr/>
        </p:nvGrpSpPr>
        <p:grpSpPr>
          <a:xfrm>
            <a:off x="3710328" y="1137457"/>
            <a:ext cx="1463100" cy="1177800"/>
            <a:chOff x="85165" y="1270275"/>
            <a:chExt cx="1463100" cy="1177800"/>
          </a:xfrm>
        </p:grpSpPr>
        <p:sp>
          <p:nvSpPr>
            <p:cNvPr id="126" name="Google Shape;126;g3d26b78a17e_0_62"/>
            <p:cNvSpPr/>
            <p:nvPr/>
          </p:nvSpPr>
          <p:spPr>
            <a:xfrm>
              <a:off x="160025" y="1270275"/>
              <a:ext cx="1313400" cy="1177800"/>
            </a:xfrm>
            <a:prstGeom prst="rect">
              <a:avLst/>
            </a:prstGeom>
            <a:solidFill>
              <a:srgbClr val="FFFFFF"/>
            </a:solidFill>
            <a:ln cap="flat" cmpd="sng" w="6275">
              <a:solidFill>
                <a:srgbClr val="E2E8F0"/>
              </a:solidFill>
              <a:prstDash val="solid"/>
              <a:round/>
              <a:headEnd len="sm" w="sm" type="none"/>
              <a:tailEnd len="sm" w="sm" type="none"/>
            </a:ln>
            <a:effectLst>
              <a:outerShdw blurRad="50326" rotWithShape="0" algn="bl" dir="8100000" dist="18872">
                <a:srgbClr val="000000">
                  <a:alpha val="12160"/>
                </a:srgbClr>
              </a:outerShdw>
            </a:effectLst>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sp>
          <p:nvSpPr>
            <p:cNvPr id="127" name="Google Shape;127;g3d26b78a17e_0_62"/>
            <p:cNvSpPr/>
            <p:nvPr/>
          </p:nvSpPr>
          <p:spPr>
            <a:xfrm>
              <a:off x="160025" y="1270275"/>
              <a:ext cx="1313400" cy="36300"/>
            </a:xfrm>
            <a:prstGeom prst="rect">
              <a:avLst/>
            </a:prstGeom>
            <a:solidFill>
              <a:srgbClr val="F0A500"/>
            </a:solidFill>
            <a:ln cap="flat" cmpd="sng" w="6275">
              <a:solidFill>
                <a:srgbClr val="F0A500"/>
              </a:solidFill>
              <a:prstDash val="solid"/>
              <a:round/>
              <a:headEnd len="sm" w="sm" type="none"/>
              <a:tailEnd len="sm" w="sm" type="none"/>
            </a:ln>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sp>
          <p:nvSpPr>
            <p:cNvPr id="128" name="Google Shape;128;g3d26b78a17e_0_62"/>
            <p:cNvSpPr/>
            <p:nvPr/>
          </p:nvSpPr>
          <p:spPr>
            <a:xfrm>
              <a:off x="85165" y="1464117"/>
              <a:ext cx="1463100" cy="365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lt1"/>
                </a:buClr>
                <a:buSzPts val="1200"/>
                <a:buFont typeface="Calibri"/>
                <a:buNone/>
              </a:pPr>
              <a:r>
                <a:rPr b="1" lang="en-US" sz="1200">
                  <a:solidFill>
                    <a:schemeClr val="dk1"/>
                  </a:solidFill>
                  <a:latin typeface="Calibri"/>
                  <a:ea typeface="Calibri"/>
                  <a:cs typeface="Calibri"/>
                  <a:sym typeface="Calibri"/>
                </a:rPr>
                <a:t>Meltano</a:t>
              </a:r>
              <a:endParaRPr b="1" sz="1200">
                <a:solidFill>
                  <a:schemeClr val="dk1"/>
                </a:solidFill>
                <a:latin typeface="Calibri"/>
                <a:ea typeface="Calibri"/>
                <a:cs typeface="Calibri"/>
                <a:sym typeface="Calibri"/>
              </a:endParaRPr>
            </a:p>
          </p:txBody>
        </p:sp>
        <p:sp>
          <p:nvSpPr>
            <p:cNvPr id="129" name="Google Shape;129;g3d26b78a17e_0_62"/>
            <p:cNvSpPr/>
            <p:nvPr/>
          </p:nvSpPr>
          <p:spPr>
            <a:xfrm>
              <a:off x="85165" y="1697303"/>
              <a:ext cx="1463100" cy="731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FFFFFF"/>
                </a:buClr>
                <a:buSzPts val="950"/>
                <a:buFont typeface="Calibri"/>
                <a:buNone/>
              </a:pPr>
              <a:r>
                <a:rPr lang="en-US" sz="950">
                  <a:solidFill>
                    <a:schemeClr val="dk1"/>
                  </a:solidFill>
                  <a:latin typeface="Calibri"/>
                  <a:ea typeface="Calibri"/>
                  <a:cs typeface="Calibri"/>
                  <a:sym typeface="Calibri"/>
                </a:rPr>
                <a:t>Extract &amp; Load</a:t>
              </a:r>
              <a:endParaRPr sz="950">
                <a:solidFill>
                  <a:schemeClr val="dk1"/>
                </a:solidFill>
                <a:latin typeface="Calibri"/>
                <a:ea typeface="Calibri"/>
                <a:cs typeface="Calibri"/>
                <a:sym typeface="Calibri"/>
              </a:endParaRPr>
            </a:p>
            <a:p>
              <a:pPr indent="0" lvl="0" marL="0" rtl="0" algn="ctr">
                <a:spcBef>
                  <a:spcPts val="0"/>
                </a:spcBef>
                <a:spcAft>
                  <a:spcPts val="0"/>
                </a:spcAft>
                <a:buClr>
                  <a:srgbClr val="FFFFFF"/>
                </a:buClr>
                <a:buSzPts val="950"/>
                <a:buFont typeface="Calibri"/>
                <a:buNone/>
              </a:pPr>
              <a:r>
                <a:rPr lang="en-US" sz="950">
                  <a:solidFill>
                    <a:schemeClr val="dk1"/>
                  </a:solidFill>
                  <a:latin typeface="Calibri"/>
                  <a:ea typeface="Calibri"/>
                  <a:cs typeface="Calibri"/>
                  <a:sym typeface="Calibri"/>
                </a:rPr>
                <a:t>tap-duckdb → target-bq</a:t>
              </a:r>
              <a:endParaRPr b="1" sz="1200">
                <a:solidFill>
                  <a:schemeClr val="dk1"/>
                </a:solidFill>
                <a:latin typeface="Calibri"/>
                <a:ea typeface="Calibri"/>
                <a:cs typeface="Calibri"/>
                <a:sym typeface="Calibri"/>
              </a:endParaRPr>
            </a:p>
          </p:txBody>
        </p:sp>
      </p:grpSp>
      <p:sp>
        <p:nvSpPr>
          <p:cNvPr id="130" name="Google Shape;130;g3d26b78a17e_0_62"/>
          <p:cNvSpPr/>
          <p:nvPr/>
        </p:nvSpPr>
        <p:spPr>
          <a:xfrm>
            <a:off x="3306232" y="1700707"/>
            <a:ext cx="460200" cy="51300"/>
          </a:xfrm>
          <a:prstGeom prst="rect">
            <a:avLst/>
          </a:prstGeom>
          <a:solidFill>
            <a:srgbClr val="1C4587"/>
          </a:solidFill>
          <a:ln cap="flat" cmpd="sng" w="12700">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g3d26b78a17e_0_62"/>
          <p:cNvSpPr/>
          <p:nvPr/>
        </p:nvSpPr>
        <p:spPr>
          <a:xfrm>
            <a:off x="5111125" y="1711432"/>
            <a:ext cx="460200" cy="51300"/>
          </a:xfrm>
          <a:prstGeom prst="rect">
            <a:avLst/>
          </a:prstGeom>
          <a:solidFill>
            <a:srgbClr val="1C4587"/>
          </a:solidFill>
          <a:ln cap="flat" cmpd="sng" w="12700">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g3d26b78a17e_0_62"/>
          <p:cNvSpPr/>
          <p:nvPr/>
        </p:nvSpPr>
        <p:spPr>
          <a:xfrm>
            <a:off x="6916495" y="1685782"/>
            <a:ext cx="460200" cy="51300"/>
          </a:xfrm>
          <a:prstGeom prst="rect">
            <a:avLst/>
          </a:prstGeom>
          <a:solidFill>
            <a:srgbClr val="1C4587"/>
          </a:solidFill>
          <a:ln cap="flat" cmpd="sng" w="12700">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3" name="Google Shape;133;g3d26b78a17e_0_62"/>
          <p:cNvGrpSpPr/>
          <p:nvPr/>
        </p:nvGrpSpPr>
        <p:grpSpPr>
          <a:xfrm>
            <a:off x="1078050" y="2850430"/>
            <a:ext cx="6949500" cy="294600"/>
            <a:chOff x="1097250" y="2606295"/>
            <a:chExt cx="6949500" cy="294600"/>
          </a:xfrm>
        </p:grpSpPr>
        <p:sp>
          <p:nvSpPr>
            <p:cNvPr id="134" name="Google Shape;134;g3d26b78a17e_0_62"/>
            <p:cNvSpPr/>
            <p:nvPr/>
          </p:nvSpPr>
          <p:spPr>
            <a:xfrm>
              <a:off x="1097250" y="2606295"/>
              <a:ext cx="6949500" cy="294600"/>
            </a:xfrm>
            <a:prstGeom prst="rect">
              <a:avLst/>
            </a:prstGeom>
            <a:solidFill>
              <a:srgbClr val="E2E8F0"/>
            </a:solidFill>
            <a:ln>
              <a:noFill/>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p>
          </p:txBody>
        </p:sp>
        <p:sp>
          <p:nvSpPr>
            <p:cNvPr id="135" name="Google Shape;135;g3d26b78a17e_0_62"/>
            <p:cNvSpPr/>
            <p:nvPr/>
          </p:nvSpPr>
          <p:spPr>
            <a:xfrm>
              <a:off x="1188690" y="2617491"/>
              <a:ext cx="6766500" cy="249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0A500"/>
                </a:buClr>
                <a:buSzPts val="1100"/>
                <a:buFont typeface="Calibri"/>
                <a:buNone/>
              </a:pPr>
              <a:r>
                <a:rPr b="1" i="0" lang="en-US" sz="1200" u="none" cap="none" strike="noStrike">
                  <a:solidFill>
                    <a:schemeClr val="dk1"/>
                  </a:solidFill>
                  <a:latin typeface="Calibri"/>
                  <a:ea typeface="Calibri"/>
                  <a:cs typeface="Calibri"/>
                  <a:sym typeface="Calibri"/>
                </a:rPr>
                <a:t>Dagster Orchestration — schedules, monitors, and logs all pipeline stages</a:t>
              </a:r>
              <a:endParaRPr b="0" i="0" sz="1200" u="none" cap="none" strike="noStrike">
                <a:solidFill>
                  <a:schemeClr val="dk1"/>
                </a:solidFill>
                <a:latin typeface="Calibri"/>
                <a:ea typeface="Calibri"/>
                <a:cs typeface="Calibri"/>
                <a:sym typeface="Calibri"/>
              </a:endParaRPr>
            </a:p>
          </p:txBody>
        </p:sp>
      </p:grpSp>
      <p:grpSp>
        <p:nvGrpSpPr>
          <p:cNvPr id="136" name="Google Shape;136;g3d26b78a17e_0_62"/>
          <p:cNvGrpSpPr/>
          <p:nvPr/>
        </p:nvGrpSpPr>
        <p:grpSpPr>
          <a:xfrm>
            <a:off x="1911646" y="1137457"/>
            <a:ext cx="1463100" cy="1177800"/>
            <a:chOff x="85165" y="1270275"/>
            <a:chExt cx="1463100" cy="1177800"/>
          </a:xfrm>
        </p:grpSpPr>
        <p:sp>
          <p:nvSpPr>
            <p:cNvPr id="137" name="Google Shape;137;g3d26b78a17e_0_62"/>
            <p:cNvSpPr/>
            <p:nvPr/>
          </p:nvSpPr>
          <p:spPr>
            <a:xfrm>
              <a:off x="160025" y="1270275"/>
              <a:ext cx="1313400" cy="1177800"/>
            </a:xfrm>
            <a:prstGeom prst="rect">
              <a:avLst/>
            </a:prstGeom>
            <a:solidFill>
              <a:srgbClr val="FFFFFF"/>
            </a:solidFill>
            <a:ln cap="flat" cmpd="sng" w="6275">
              <a:solidFill>
                <a:srgbClr val="E2E8F0"/>
              </a:solidFill>
              <a:prstDash val="solid"/>
              <a:round/>
              <a:headEnd len="sm" w="sm" type="none"/>
              <a:tailEnd len="sm" w="sm" type="none"/>
            </a:ln>
            <a:effectLst>
              <a:outerShdw blurRad="50326" rotWithShape="0" algn="bl" dir="8100000" dist="18872">
                <a:srgbClr val="000000">
                  <a:alpha val="12160"/>
                </a:srgbClr>
              </a:outerShdw>
            </a:effectLst>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sp>
          <p:nvSpPr>
            <p:cNvPr id="138" name="Google Shape;138;g3d26b78a17e_0_62"/>
            <p:cNvSpPr/>
            <p:nvPr/>
          </p:nvSpPr>
          <p:spPr>
            <a:xfrm>
              <a:off x="160025" y="1270275"/>
              <a:ext cx="1313400" cy="36300"/>
            </a:xfrm>
            <a:prstGeom prst="rect">
              <a:avLst/>
            </a:prstGeom>
            <a:solidFill>
              <a:srgbClr val="F0A500"/>
            </a:solidFill>
            <a:ln cap="flat" cmpd="sng" w="6275">
              <a:solidFill>
                <a:srgbClr val="F0A500"/>
              </a:solidFill>
              <a:prstDash val="solid"/>
              <a:round/>
              <a:headEnd len="sm" w="sm" type="none"/>
              <a:tailEnd len="sm" w="sm" type="none"/>
            </a:ln>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sp>
          <p:nvSpPr>
            <p:cNvPr id="139" name="Google Shape;139;g3d26b78a17e_0_62"/>
            <p:cNvSpPr/>
            <p:nvPr/>
          </p:nvSpPr>
          <p:spPr>
            <a:xfrm>
              <a:off x="85165" y="1464117"/>
              <a:ext cx="1463100" cy="365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lt1"/>
                </a:buClr>
                <a:buSzPts val="1200"/>
                <a:buFont typeface="Calibri"/>
                <a:buNone/>
              </a:pPr>
              <a:r>
                <a:rPr b="1" lang="en-US" sz="1200">
                  <a:solidFill>
                    <a:schemeClr val="dk1"/>
                  </a:solidFill>
                  <a:latin typeface="Calibri"/>
                  <a:ea typeface="Calibri"/>
                  <a:cs typeface="Calibri"/>
                  <a:sym typeface="Calibri"/>
                </a:rPr>
                <a:t>DuckDB</a:t>
              </a:r>
              <a:endParaRPr sz="1200">
                <a:solidFill>
                  <a:schemeClr val="dk1"/>
                </a:solidFill>
                <a:latin typeface="Calibri"/>
                <a:ea typeface="Calibri"/>
                <a:cs typeface="Calibri"/>
                <a:sym typeface="Calibri"/>
              </a:endParaRPr>
            </a:p>
          </p:txBody>
        </p:sp>
        <p:sp>
          <p:nvSpPr>
            <p:cNvPr id="140" name="Google Shape;140;g3d26b78a17e_0_62"/>
            <p:cNvSpPr/>
            <p:nvPr/>
          </p:nvSpPr>
          <p:spPr>
            <a:xfrm>
              <a:off x="85165" y="1611315"/>
              <a:ext cx="1463100" cy="731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FFFFFF"/>
                </a:buClr>
                <a:buSzPts val="950"/>
                <a:buFont typeface="Calibri"/>
                <a:buNone/>
              </a:pPr>
              <a:r>
                <a:rPr lang="en-US" sz="1200">
                  <a:solidFill>
                    <a:schemeClr val="dk1"/>
                  </a:solidFill>
                  <a:latin typeface="Calibri"/>
                  <a:ea typeface="Calibri"/>
                  <a:cs typeface="Calibri"/>
                  <a:sym typeface="Calibri"/>
                </a:rPr>
                <a:t>Local Staging</a:t>
              </a:r>
              <a:endParaRPr sz="1200">
                <a:solidFill>
                  <a:schemeClr val="dk1"/>
                </a:solidFill>
                <a:latin typeface="Calibri"/>
                <a:ea typeface="Calibri"/>
                <a:cs typeface="Calibri"/>
                <a:sym typeface="Calibri"/>
              </a:endParaRPr>
            </a:p>
            <a:p>
              <a:pPr indent="0" lvl="0" marL="0" rtl="0" algn="ctr">
                <a:spcBef>
                  <a:spcPts val="0"/>
                </a:spcBef>
                <a:spcAft>
                  <a:spcPts val="0"/>
                </a:spcAft>
                <a:buClr>
                  <a:srgbClr val="FFFFFF"/>
                </a:buClr>
                <a:buSzPts val="950"/>
                <a:buFont typeface="Calibri"/>
                <a:buNone/>
              </a:pPr>
              <a:r>
                <a:rPr lang="en-US" sz="1200">
                  <a:solidFill>
                    <a:schemeClr val="dk1"/>
                  </a:solidFill>
                  <a:latin typeface="Calibri"/>
                  <a:ea typeface="Calibri"/>
                  <a:cs typeface="Calibri"/>
                  <a:sym typeface="Calibri"/>
                </a:rPr>
                <a:t>&amp; Validation</a:t>
              </a:r>
              <a:endParaRPr sz="1200">
                <a:solidFill>
                  <a:schemeClr val="dk1"/>
                </a:solidFill>
                <a:latin typeface="Calibri"/>
                <a:ea typeface="Calibri"/>
                <a:cs typeface="Calibri"/>
                <a:sym typeface="Calibri"/>
              </a:endParaRPr>
            </a:p>
          </p:txBody>
        </p:sp>
      </p:grpSp>
      <p:sp>
        <p:nvSpPr>
          <p:cNvPr id="141" name="Google Shape;141;g3d26b78a17e_0_62"/>
          <p:cNvSpPr/>
          <p:nvPr/>
        </p:nvSpPr>
        <p:spPr>
          <a:xfrm>
            <a:off x="172700" y="-18903"/>
            <a:ext cx="8229600" cy="44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i="0" lang="en-US" sz="2300" u="none" cap="none" strike="noStrike">
                <a:solidFill>
                  <a:schemeClr val="lt1"/>
                </a:solidFill>
                <a:latin typeface="Calibri"/>
                <a:ea typeface="Calibri"/>
                <a:cs typeface="Calibri"/>
                <a:sym typeface="Calibri"/>
              </a:rPr>
              <a:t>Solution Architecture</a:t>
            </a:r>
            <a:endParaRPr b="1" i="0" sz="2300" u="none" cap="none" strike="noStrike">
              <a:solidFill>
                <a:schemeClr val="lt1"/>
              </a:solidFill>
              <a:latin typeface="Calibri"/>
              <a:ea typeface="Calibri"/>
              <a:cs typeface="Calibri"/>
              <a:sym typeface="Calibri"/>
            </a:endParaRPr>
          </a:p>
        </p:txBody>
      </p:sp>
      <p:grpSp>
        <p:nvGrpSpPr>
          <p:cNvPr id="142" name="Google Shape;142;g3d26b78a17e_0_62"/>
          <p:cNvGrpSpPr/>
          <p:nvPr/>
        </p:nvGrpSpPr>
        <p:grpSpPr>
          <a:xfrm>
            <a:off x="2999332" y="3688425"/>
            <a:ext cx="2711365" cy="1177800"/>
            <a:chOff x="134149" y="1270275"/>
            <a:chExt cx="1339276" cy="1177800"/>
          </a:xfrm>
        </p:grpSpPr>
        <p:sp>
          <p:nvSpPr>
            <p:cNvPr id="143" name="Google Shape;143;g3d26b78a17e_0_62"/>
            <p:cNvSpPr/>
            <p:nvPr/>
          </p:nvSpPr>
          <p:spPr>
            <a:xfrm>
              <a:off x="160025" y="1270275"/>
              <a:ext cx="1313400" cy="1177800"/>
            </a:xfrm>
            <a:prstGeom prst="rect">
              <a:avLst/>
            </a:prstGeom>
            <a:solidFill>
              <a:srgbClr val="FFFFFF"/>
            </a:solidFill>
            <a:ln cap="flat" cmpd="sng" w="6275">
              <a:solidFill>
                <a:srgbClr val="E2E8F0"/>
              </a:solidFill>
              <a:prstDash val="solid"/>
              <a:round/>
              <a:headEnd len="sm" w="sm" type="none"/>
              <a:tailEnd len="sm" w="sm" type="none"/>
            </a:ln>
            <a:effectLst>
              <a:outerShdw blurRad="50326" rotWithShape="0" algn="bl" dir="8100000" dist="18872">
                <a:srgbClr val="000000">
                  <a:alpha val="12160"/>
                </a:srgbClr>
              </a:outerShdw>
            </a:effectLst>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sp>
          <p:nvSpPr>
            <p:cNvPr id="144" name="Google Shape;144;g3d26b78a17e_0_62"/>
            <p:cNvSpPr/>
            <p:nvPr/>
          </p:nvSpPr>
          <p:spPr>
            <a:xfrm>
              <a:off x="134149" y="1270275"/>
              <a:ext cx="1313400" cy="36300"/>
            </a:xfrm>
            <a:prstGeom prst="rect">
              <a:avLst/>
            </a:prstGeom>
            <a:solidFill>
              <a:srgbClr val="1C4587"/>
            </a:solidFill>
            <a:ln cap="flat" cmpd="sng" w="6275">
              <a:solidFill>
                <a:srgbClr val="1C4587"/>
              </a:solidFill>
              <a:prstDash val="solid"/>
              <a:round/>
              <a:headEnd len="sm" w="sm" type="none"/>
              <a:tailEnd len="sm" w="sm" type="none"/>
            </a:ln>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grpSp>
      <p:sp>
        <p:nvSpPr>
          <p:cNvPr id="145" name="Google Shape;145;g3d26b78a17e_0_62"/>
          <p:cNvSpPr/>
          <p:nvPr/>
        </p:nvSpPr>
        <p:spPr>
          <a:xfrm>
            <a:off x="3653965" y="3967467"/>
            <a:ext cx="14631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chemeClr val="dk1"/>
                </a:solidFill>
                <a:latin typeface="Calibri"/>
                <a:ea typeface="Calibri"/>
                <a:cs typeface="Calibri"/>
                <a:sym typeface="Calibri"/>
              </a:rPr>
              <a:t>Jupyter</a:t>
            </a:r>
            <a:endParaRPr b="1" sz="1200">
              <a:solidFill>
                <a:schemeClr val="dk1"/>
              </a:solidFill>
              <a:latin typeface="Calibri"/>
              <a:ea typeface="Calibri"/>
              <a:cs typeface="Calibri"/>
              <a:sym typeface="Calibri"/>
            </a:endParaRPr>
          </a:p>
        </p:txBody>
      </p:sp>
      <p:sp>
        <p:nvSpPr>
          <p:cNvPr id="146" name="Google Shape;146;g3d26b78a17e_0_62"/>
          <p:cNvSpPr/>
          <p:nvPr/>
        </p:nvSpPr>
        <p:spPr>
          <a:xfrm>
            <a:off x="3682939" y="3978951"/>
            <a:ext cx="1739700" cy="731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50"/>
              <a:buFont typeface="Calibri"/>
              <a:buNone/>
            </a:pPr>
            <a:r>
              <a:rPr lang="en-US" sz="1200">
                <a:solidFill>
                  <a:schemeClr val="dk1"/>
                </a:solidFill>
                <a:latin typeface="Calibri"/>
                <a:ea typeface="Calibri"/>
                <a:cs typeface="Calibri"/>
                <a:sym typeface="Calibri"/>
              </a:rPr>
              <a:t>Reporting and Analysis</a:t>
            </a:r>
            <a:endParaRPr b="0" i="0" sz="1200" u="none" cap="none" strike="noStrike">
              <a:solidFill>
                <a:schemeClr val="dk1"/>
              </a:solidFill>
              <a:latin typeface="Calibri"/>
              <a:ea typeface="Calibri"/>
              <a:cs typeface="Calibri"/>
              <a:sym typeface="Calibri"/>
            </a:endParaRPr>
          </a:p>
        </p:txBody>
      </p:sp>
      <p:sp>
        <p:nvSpPr>
          <p:cNvPr id="147" name="Google Shape;147;g3d26b78a17e_0_62"/>
          <p:cNvSpPr txBox="1"/>
          <p:nvPr/>
        </p:nvSpPr>
        <p:spPr>
          <a:xfrm>
            <a:off x="2041962" y="2037207"/>
            <a:ext cx="16530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US" sz="1000">
                <a:solidFill>
                  <a:schemeClr val="dk1"/>
                </a:solidFill>
                <a:highlight>
                  <a:srgbClr val="FFFFFF"/>
                </a:highlight>
              </a:rPr>
              <a:t>(local SQL engine)</a:t>
            </a:r>
            <a:endParaRPr sz="1000">
              <a:solidFill>
                <a:schemeClr val="dk1"/>
              </a:solidFill>
              <a:highlight>
                <a:srgbClr val="FFFFFF"/>
              </a:highlight>
            </a:endParaRPr>
          </a:p>
        </p:txBody>
      </p:sp>
      <p:sp>
        <p:nvSpPr>
          <p:cNvPr id="148" name="Google Shape;148;g3d26b78a17e_0_62"/>
          <p:cNvSpPr txBox="1"/>
          <p:nvPr/>
        </p:nvSpPr>
        <p:spPr>
          <a:xfrm>
            <a:off x="3728303" y="2049979"/>
            <a:ext cx="14631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US" sz="1000">
                <a:solidFill>
                  <a:schemeClr val="dk1"/>
                </a:solidFill>
                <a:highlight>
                  <a:srgbClr val="FFFFFF"/>
                </a:highlight>
                <a:latin typeface="Calibri"/>
                <a:ea typeface="Calibri"/>
                <a:cs typeface="Calibri"/>
                <a:sym typeface="Calibri"/>
              </a:rPr>
              <a:t>(Singer JSON messages)</a:t>
            </a:r>
            <a:endParaRPr sz="100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53" name="Shape 153"/>
        <p:cNvGrpSpPr/>
        <p:nvPr/>
      </p:nvGrpSpPr>
      <p:grpSpPr>
        <a:xfrm>
          <a:off x="0" y="0"/>
          <a:ext cx="0" cy="0"/>
          <a:chOff x="0" y="0"/>
          <a:chExt cx="0" cy="0"/>
        </a:xfrm>
      </p:grpSpPr>
      <p:sp>
        <p:nvSpPr>
          <p:cNvPr id="154" name="Google Shape;154;p9"/>
          <p:cNvSpPr/>
          <p:nvPr/>
        </p:nvSpPr>
        <p:spPr>
          <a:xfrm>
            <a:off x="0" y="14654"/>
            <a:ext cx="9144000" cy="7773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9"/>
          <p:cNvSpPr/>
          <p:nvPr/>
        </p:nvSpPr>
        <p:spPr>
          <a:xfrm>
            <a:off x="365760" y="91440"/>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Calibri"/>
              <a:buNone/>
            </a:pPr>
            <a:r>
              <a:rPr b="1" i="0" lang="en-US" sz="2400" u="none" cap="none" strike="noStrike">
                <a:solidFill>
                  <a:srgbClr val="FFFFFF"/>
                </a:solidFill>
                <a:latin typeface="Calibri"/>
                <a:ea typeface="Calibri"/>
                <a:cs typeface="Calibri"/>
                <a:sym typeface="Calibri"/>
              </a:rPr>
              <a:t>Technical Stac</a:t>
            </a:r>
            <a:r>
              <a:rPr b="1" lang="en-US" sz="2400">
                <a:solidFill>
                  <a:srgbClr val="FFFFFF"/>
                </a:solidFill>
                <a:latin typeface="Calibri"/>
                <a:ea typeface="Calibri"/>
                <a:cs typeface="Calibri"/>
                <a:sym typeface="Calibri"/>
              </a:rPr>
              <a:t>k</a:t>
            </a:r>
            <a:endParaRPr b="0" i="0" sz="2400" u="none" cap="none" strike="noStrike">
              <a:solidFill>
                <a:schemeClr val="dk1"/>
              </a:solidFill>
              <a:latin typeface="Calibri"/>
              <a:ea typeface="Calibri"/>
              <a:cs typeface="Calibri"/>
              <a:sym typeface="Calibri"/>
            </a:endParaRPr>
          </a:p>
        </p:txBody>
      </p:sp>
      <p:sp>
        <p:nvSpPr>
          <p:cNvPr id="156" name="Google Shape;156;p9"/>
          <p:cNvSpPr/>
          <p:nvPr/>
        </p:nvSpPr>
        <p:spPr>
          <a:xfrm>
            <a:off x="274320" y="2028092"/>
            <a:ext cx="1234500" cy="420600"/>
          </a:xfrm>
          <a:prstGeom prst="rect">
            <a:avLst/>
          </a:prstGeom>
          <a:solidFill>
            <a:srgbClr val="0F3460"/>
          </a:solidFill>
          <a:ln>
            <a:noFill/>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157" name="Google Shape;157;p9"/>
          <p:cNvSpPr/>
          <p:nvPr/>
        </p:nvSpPr>
        <p:spPr>
          <a:xfrm>
            <a:off x="274320" y="2049709"/>
            <a:ext cx="12345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200" u="none" cap="none" strike="noStrike">
                <a:solidFill>
                  <a:srgbClr val="FFFFFF"/>
                </a:solidFill>
                <a:latin typeface="Calibri"/>
                <a:ea typeface="Calibri"/>
                <a:cs typeface="Calibri"/>
                <a:sym typeface="Calibri"/>
              </a:rPr>
              <a:t>Staging</a:t>
            </a:r>
            <a:endParaRPr i="0" sz="1200" u="none" cap="none" strike="noStrike">
              <a:solidFill>
                <a:schemeClr val="dk1"/>
              </a:solidFill>
              <a:latin typeface="Calibri"/>
              <a:ea typeface="Calibri"/>
              <a:cs typeface="Calibri"/>
              <a:sym typeface="Calibri"/>
            </a:endParaRPr>
          </a:p>
        </p:txBody>
      </p:sp>
      <p:sp>
        <p:nvSpPr>
          <p:cNvPr id="158" name="Google Shape;158;p9"/>
          <p:cNvSpPr/>
          <p:nvPr/>
        </p:nvSpPr>
        <p:spPr>
          <a:xfrm>
            <a:off x="1645920" y="2093976"/>
            <a:ext cx="1645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3460"/>
              </a:buClr>
              <a:buSzPts val="1100"/>
              <a:buFont typeface="Calibri"/>
              <a:buNone/>
            </a:pPr>
            <a:r>
              <a:rPr b="1" i="0" lang="en-US" sz="1200" u="none" cap="none" strike="noStrike">
                <a:solidFill>
                  <a:srgbClr val="0F3460"/>
                </a:solidFill>
                <a:latin typeface="Calibri"/>
                <a:ea typeface="Calibri"/>
                <a:cs typeface="Calibri"/>
                <a:sym typeface="Calibri"/>
              </a:rPr>
              <a:t>DuckDB- </a:t>
            </a:r>
            <a:r>
              <a:rPr lang="en-US" sz="1200">
                <a:solidFill>
                  <a:srgbClr val="3B3B3B"/>
                </a:solidFill>
                <a:latin typeface="Calibri"/>
                <a:ea typeface="Calibri"/>
                <a:cs typeface="Calibri"/>
                <a:sym typeface="Calibri"/>
              </a:rPr>
              <a:t>&gt;=1.1.0</a:t>
            </a:r>
            <a:endParaRPr b="1" sz="1200">
              <a:solidFill>
                <a:srgbClr val="0F3460"/>
              </a:solidFill>
              <a:latin typeface="Calibri"/>
              <a:ea typeface="Calibri"/>
              <a:cs typeface="Calibri"/>
              <a:sym typeface="Calibri"/>
            </a:endParaRPr>
          </a:p>
        </p:txBody>
      </p:sp>
      <p:sp>
        <p:nvSpPr>
          <p:cNvPr id="159" name="Google Shape;159;p9"/>
          <p:cNvSpPr/>
          <p:nvPr/>
        </p:nvSpPr>
        <p:spPr>
          <a:xfrm>
            <a:off x="3062600" y="1893518"/>
            <a:ext cx="6012900" cy="7773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Clr>
                <a:schemeClr val="dk1"/>
              </a:buClr>
              <a:buSzPts val="1200"/>
              <a:buFont typeface="Calibri"/>
              <a:buChar char="●"/>
            </a:pPr>
            <a:r>
              <a:rPr b="1" lang="en-US" sz="1200">
                <a:solidFill>
                  <a:schemeClr val="dk1"/>
                </a:solidFill>
                <a:latin typeface="Calibri"/>
                <a:ea typeface="Calibri"/>
                <a:cs typeface="Calibri"/>
                <a:sym typeface="Calibri"/>
              </a:rPr>
              <a:t>Local </a:t>
            </a:r>
            <a:r>
              <a:rPr b="1" lang="en-US" sz="1200">
                <a:solidFill>
                  <a:srgbClr val="3B3B3B"/>
                </a:solidFill>
                <a:highlight>
                  <a:srgbClr val="F8F8F8"/>
                </a:highlight>
                <a:latin typeface="Calibri"/>
                <a:ea typeface="Calibri"/>
                <a:cs typeface="Calibri"/>
                <a:sym typeface="Calibri"/>
              </a:rPr>
              <a:t>ingestion</a:t>
            </a:r>
            <a:r>
              <a:rPr lang="en-US" sz="1200">
                <a:solidFill>
                  <a:srgbClr val="3B3B3B"/>
                </a:solidFill>
                <a:highlight>
                  <a:srgbClr val="F8F8F8"/>
                </a:highlight>
                <a:latin typeface="Calibri"/>
                <a:ea typeface="Calibri"/>
                <a:cs typeface="Calibri"/>
                <a:sym typeface="Calibri"/>
              </a:rPr>
              <a:t> </a:t>
            </a:r>
            <a:r>
              <a:rPr lang="en-US" sz="1200">
                <a:solidFill>
                  <a:schemeClr val="dk1"/>
                </a:solidFill>
                <a:latin typeface="Calibri"/>
                <a:ea typeface="Calibri"/>
                <a:cs typeface="Calibri"/>
                <a:sym typeface="Calibri"/>
              </a:rPr>
              <a:t>data warehouse, validation before cloud, ensured data quality before cloud transfer and cost.  </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Ingested both CSVs into a lightweight local database for fast querying before cloud load.</a:t>
            </a:r>
            <a:endParaRPr sz="1200">
              <a:solidFill>
                <a:srgbClr val="1A1A2E"/>
              </a:solidFill>
              <a:latin typeface="Calibri"/>
              <a:ea typeface="Calibri"/>
              <a:cs typeface="Calibri"/>
              <a:sym typeface="Calibri"/>
            </a:endParaRPr>
          </a:p>
        </p:txBody>
      </p:sp>
      <p:sp>
        <p:nvSpPr>
          <p:cNvPr id="160" name="Google Shape;160;p9"/>
          <p:cNvSpPr/>
          <p:nvPr/>
        </p:nvSpPr>
        <p:spPr>
          <a:xfrm>
            <a:off x="274320" y="2836985"/>
            <a:ext cx="8595300" cy="900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161" name="Google Shape;161;p9"/>
          <p:cNvSpPr/>
          <p:nvPr/>
        </p:nvSpPr>
        <p:spPr>
          <a:xfrm>
            <a:off x="274320" y="3014472"/>
            <a:ext cx="1234500" cy="420600"/>
          </a:xfrm>
          <a:prstGeom prst="rect">
            <a:avLst/>
          </a:prstGeom>
          <a:solidFill>
            <a:srgbClr val="0F3460"/>
          </a:solidFill>
          <a:ln>
            <a:noFill/>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162" name="Google Shape;162;p9"/>
          <p:cNvSpPr/>
          <p:nvPr/>
        </p:nvSpPr>
        <p:spPr>
          <a:xfrm>
            <a:off x="274320" y="2985164"/>
            <a:ext cx="12345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200" u="none" cap="none" strike="noStrike">
                <a:solidFill>
                  <a:srgbClr val="FFFFFF"/>
                </a:solidFill>
                <a:latin typeface="Calibri"/>
                <a:ea typeface="Calibri"/>
                <a:cs typeface="Calibri"/>
                <a:sym typeface="Calibri"/>
              </a:rPr>
              <a:t>Extract/Load</a:t>
            </a:r>
            <a:endParaRPr i="0" sz="1200" u="none" cap="none" strike="noStrike">
              <a:solidFill>
                <a:schemeClr val="dk1"/>
              </a:solidFill>
              <a:latin typeface="Calibri"/>
              <a:ea typeface="Calibri"/>
              <a:cs typeface="Calibri"/>
              <a:sym typeface="Calibri"/>
            </a:endParaRPr>
          </a:p>
        </p:txBody>
      </p:sp>
      <p:sp>
        <p:nvSpPr>
          <p:cNvPr id="163" name="Google Shape;163;p9"/>
          <p:cNvSpPr/>
          <p:nvPr/>
        </p:nvSpPr>
        <p:spPr>
          <a:xfrm>
            <a:off x="1645920" y="3021740"/>
            <a:ext cx="1645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3460"/>
              </a:buClr>
              <a:buSzPts val="1100"/>
              <a:buFont typeface="Calibri"/>
              <a:buNone/>
            </a:pPr>
            <a:r>
              <a:rPr b="1" i="0" lang="en-US" sz="1200" u="none" cap="none" strike="noStrike">
                <a:solidFill>
                  <a:srgbClr val="0F3460"/>
                </a:solidFill>
                <a:latin typeface="Calibri"/>
                <a:ea typeface="Calibri"/>
                <a:cs typeface="Calibri"/>
                <a:sym typeface="Calibri"/>
              </a:rPr>
              <a:t>Meltano </a:t>
            </a:r>
            <a:r>
              <a:rPr lang="en-US" sz="1200">
                <a:solidFill>
                  <a:srgbClr val="3B3B3B"/>
                </a:solidFill>
                <a:latin typeface="Calibri"/>
                <a:ea typeface="Calibri"/>
                <a:cs typeface="Calibri"/>
                <a:sym typeface="Calibri"/>
              </a:rPr>
              <a:t>4.1.2</a:t>
            </a:r>
            <a:endParaRPr b="1" sz="1200">
              <a:solidFill>
                <a:srgbClr val="0F3460"/>
              </a:solidFill>
              <a:latin typeface="Calibri"/>
              <a:ea typeface="Calibri"/>
              <a:cs typeface="Calibri"/>
              <a:sym typeface="Calibri"/>
            </a:endParaRPr>
          </a:p>
        </p:txBody>
      </p:sp>
      <p:sp>
        <p:nvSpPr>
          <p:cNvPr id="164" name="Google Shape;164;p9"/>
          <p:cNvSpPr/>
          <p:nvPr/>
        </p:nvSpPr>
        <p:spPr>
          <a:xfrm>
            <a:off x="3038619" y="3091423"/>
            <a:ext cx="6012900" cy="347400"/>
          </a:xfrm>
          <a:prstGeom prst="rect">
            <a:avLst/>
          </a:prstGeom>
          <a:noFill/>
          <a:ln>
            <a:noFill/>
          </a:ln>
        </p:spPr>
        <p:txBody>
          <a:bodyPr anchorCtr="0" anchor="ctr" bIns="0" lIns="0" spcFirstLastPara="1" rIns="0" wrap="square" tIns="0">
            <a:noAutofit/>
          </a:bodyPr>
          <a:lstStyle/>
          <a:p>
            <a:pPr indent="-304800" lvl="0" marL="45720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EL — tap-csv → target-bigquery</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b="1" lang="en-US" sz="1200">
                <a:solidFill>
                  <a:schemeClr val="dk1"/>
                </a:solidFill>
                <a:latin typeface="Calibri"/>
                <a:ea typeface="Calibri"/>
                <a:cs typeface="Calibri"/>
                <a:sym typeface="Calibri"/>
              </a:rPr>
              <a:t>Extractor</a:t>
            </a:r>
            <a:r>
              <a:rPr lang="en-US" sz="1200">
                <a:solidFill>
                  <a:schemeClr val="dk1"/>
                </a:solidFill>
                <a:latin typeface="Calibri"/>
                <a:ea typeface="Calibri"/>
                <a:cs typeface="Calibri"/>
                <a:sym typeface="Calibri"/>
              </a:rPr>
              <a:t>: tap-csv (meltanolabs) 1.2.0; Singer tap — reads CSV as streams</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b="1" lang="en-US" sz="1200">
                <a:solidFill>
                  <a:schemeClr val="dk1"/>
                </a:solidFill>
                <a:latin typeface="Calibri"/>
                <a:ea typeface="Calibri"/>
                <a:cs typeface="Calibri"/>
                <a:sym typeface="Calibri"/>
              </a:rPr>
              <a:t>Loader</a:t>
            </a:r>
            <a:r>
              <a:rPr lang="en-US" sz="1200">
                <a:solidFill>
                  <a:schemeClr val="dk1"/>
                </a:solidFill>
                <a:latin typeface="Calibri"/>
                <a:ea typeface="Calibri"/>
                <a:cs typeface="Calibri"/>
                <a:sym typeface="Calibri"/>
              </a:rPr>
              <a:t>: target-bigquery (z3z1ma)- Singer target — writes to BigQuery</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65" name="Google Shape;165;p9"/>
          <p:cNvSpPr/>
          <p:nvPr/>
        </p:nvSpPr>
        <p:spPr>
          <a:xfrm>
            <a:off x="274320" y="3583656"/>
            <a:ext cx="8595300" cy="900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grpSp>
        <p:nvGrpSpPr>
          <p:cNvPr id="166" name="Google Shape;166;p9"/>
          <p:cNvGrpSpPr/>
          <p:nvPr/>
        </p:nvGrpSpPr>
        <p:grpSpPr>
          <a:xfrm>
            <a:off x="274320" y="3950296"/>
            <a:ext cx="1234500" cy="439650"/>
            <a:chOff x="274320" y="2066544"/>
            <a:chExt cx="1234500" cy="439650"/>
          </a:xfrm>
        </p:grpSpPr>
        <p:sp>
          <p:nvSpPr>
            <p:cNvPr id="167" name="Google Shape;167;p9"/>
            <p:cNvSpPr/>
            <p:nvPr/>
          </p:nvSpPr>
          <p:spPr>
            <a:xfrm>
              <a:off x="274320" y="2066544"/>
              <a:ext cx="1234500" cy="420600"/>
            </a:xfrm>
            <a:prstGeom prst="rect">
              <a:avLst/>
            </a:prstGeom>
            <a:solidFill>
              <a:srgbClr val="0F3460"/>
            </a:solidFill>
            <a:ln>
              <a:noFill/>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168" name="Google Shape;168;p9"/>
            <p:cNvSpPr/>
            <p:nvPr/>
          </p:nvSpPr>
          <p:spPr>
            <a:xfrm>
              <a:off x="274320" y="2085594"/>
              <a:ext cx="12345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200" u="none" cap="none" strike="noStrike">
                  <a:solidFill>
                    <a:srgbClr val="FFFFFF"/>
                  </a:solidFill>
                  <a:latin typeface="Calibri"/>
                  <a:ea typeface="Calibri"/>
                  <a:cs typeface="Calibri"/>
                  <a:sym typeface="Calibri"/>
                </a:rPr>
                <a:t>Warehouse</a:t>
              </a:r>
              <a:endParaRPr i="0" sz="1200" u="none" cap="none" strike="noStrike">
                <a:solidFill>
                  <a:schemeClr val="dk1"/>
                </a:solidFill>
                <a:latin typeface="Calibri"/>
                <a:ea typeface="Calibri"/>
                <a:cs typeface="Calibri"/>
                <a:sym typeface="Calibri"/>
              </a:endParaRPr>
            </a:p>
          </p:txBody>
        </p:sp>
      </p:grpSp>
      <p:sp>
        <p:nvSpPr>
          <p:cNvPr id="169" name="Google Shape;169;p9"/>
          <p:cNvSpPr/>
          <p:nvPr/>
        </p:nvSpPr>
        <p:spPr>
          <a:xfrm>
            <a:off x="1645920" y="3962693"/>
            <a:ext cx="1645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3460"/>
              </a:buClr>
              <a:buSzPts val="1100"/>
              <a:buFont typeface="Calibri"/>
              <a:buNone/>
            </a:pPr>
            <a:r>
              <a:rPr b="1" i="0" lang="en-US" sz="1200" u="none" cap="none" strike="noStrike">
                <a:solidFill>
                  <a:srgbClr val="0F3460"/>
                </a:solidFill>
                <a:latin typeface="Calibri"/>
                <a:ea typeface="Calibri"/>
                <a:cs typeface="Calibri"/>
                <a:sym typeface="Calibri"/>
              </a:rPr>
              <a:t>BigQuery</a:t>
            </a:r>
            <a:endParaRPr i="0" sz="1200" u="none" cap="none" strike="noStrike">
              <a:solidFill>
                <a:schemeClr val="dk1"/>
              </a:solidFill>
              <a:latin typeface="Calibri"/>
              <a:ea typeface="Calibri"/>
              <a:cs typeface="Calibri"/>
              <a:sym typeface="Calibri"/>
            </a:endParaRPr>
          </a:p>
        </p:txBody>
      </p:sp>
      <p:sp>
        <p:nvSpPr>
          <p:cNvPr id="170" name="Google Shape;170;p9"/>
          <p:cNvSpPr/>
          <p:nvPr/>
        </p:nvSpPr>
        <p:spPr>
          <a:xfrm>
            <a:off x="3084831" y="3659100"/>
            <a:ext cx="6012900" cy="1484400"/>
          </a:xfrm>
          <a:prstGeom prst="rect">
            <a:avLst/>
          </a:prstGeom>
          <a:noFill/>
          <a:ln>
            <a:noFill/>
          </a:ln>
        </p:spPr>
        <p:txBody>
          <a:bodyPr anchorCtr="0" anchor="ctr" bIns="0" lIns="0" spcFirstLastPara="1" rIns="0" wrap="square" tIns="0">
            <a:noAutofit/>
          </a:bodyPr>
          <a:lstStyle/>
          <a:p>
            <a:pPr indent="-304800" lvl="0" marL="457200" rtl="0" algn="l">
              <a:spcBef>
                <a:spcPts val="0"/>
              </a:spcBef>
              <a:spcAft>
                <a:spcPts val="0"/>
              </a:spcAft>
              <a:buSzPts val="1200"/>
              <a:buFont typeface="Calibri"/>
              <a:buChar char="●"/>
            </a:pPr>
            <a:r>
              <a:rPr b="1" lang="en-US" sz="1000">
                <a:solidFill>
                  <a:srgbClr val="3B3B3B"/>
                </a:solidFill>
                <a:latin typeface="Roboto"/>
                <a:ea typeface="Roboto"/>
                <a:cs typeface="Roboto"/>
                <a:sym typeface="Roboto"/>
              </a:rPr>
              <a:t>Could warehouse </a:t>
            </a:r>
            <a:r>
              <a:rPr lang="en-US" sz="1200">
                <a:solidFill>
                  <a:schemeClr val="dk1"/>
                </a:solidFill>
                <a:latin typeface="Calibri"/>
                <a:ea typeface="Calibri"/>
                <a:cs typeface="Calibri"/>
                <a:sym typeface="Calibri"/>
              </a:rPr>
              <a:t>→ </a:t>
            </a:r>
            <a:r>
              <a:rPr lang="en-US" sz="1000">
                <a:solidFill>
                  <a:srgbClr val="3B3B3B"/>
                </a:solidFill>
                <a:latin typeface="Roboto"/>
                <a:ea typeface="Roboto"/>
                <a:cs typeface="Roboto"/>
                <a:sym typeface="Roboto"/>
              </a:rPr>
              <a:t>Google BigQuery- Central analytical data store</a:t>
            </a:r>
            <a:endParaRPr sz="1000">
              <a:solidFill>
                <a:srgbClr val="3B3B3B"/>
              </a:solidFill>
              <a:latin typeface="Roboto"/>
              <a:ea typeface="Roboto"/>
              <a:cs typeface="Roboto"/>
              <a:sym typeface="Roboto"/>
            </a:endParaRPr>
          </a:p>
          <a:p>
            <a:pPr indent="-304800" lvl="0" marL="457200" rtl="0" algn="l">
              <a:lnSpc>
                <a:spcPct val="115000"/>
              </a:lnSpc>
              <a:spcBef>
                <a:spcPts val="0"/>
              </a:spcBef>
              <a:spcAft>
                <a:spcPts val="0"/>
              </a:spcAft>
              <a:buSzPts val="1200"/>
              <a:buFont typeface="Calibri"/>
              <a:buChar char="●"/>
            </a:pPr>
            <a:r>
              <a:rPr lang="en-US" sz="1200">
                <a:latin typeface="Calibri"/>
                <a:ea typeface="Calibri"/>
                <a:cs typeface="Calibri"/>
                <a:sym typeface="Calibri"/>
              </a:rPr>
              <a:t>Stored raw tables (raw_oil_prices, raw_geo_events) and served as the central data store</a:t>
            </a:r>
            <a:endParaRPr sz="1200">
              <a:solidFill>
                <a:srgbClr val="1A1A2E"/>
              </a:solidFill>
              <a:latin typeface="Calibri"/>
              <a:ea typeface="Calibri"/>
              <a:cs typeface="Calibri"/>
              <a:sym typeface="Calibri"/>
            </a:endParaRPr>
          </a:p>
          <a:p>
            <a:pPr indent="-304800" lvl="0" marL="457200" rtl="0" algn="l">
              <a:lnSpc>
                <a:spcPct val="115000"/>
              </a:lnSpc>
              <a:spcBef>
                <a:spcPts val="0"/>
              </a:spcBef>
              <a:spcAft>
                <a:spcPts val="0"/>
              </a:spcAft>
              <a:buSzPts val="1200"/>
              <a:buFont typeface="Calibri"/>
              <a:buChar char="●"/>
            </a:pPr>
            <a:r>
              <a:rPr lang="en-US" sz="1200">
                <a:latin typeface="Calibri"/>
                <a:ea typeface="Calibri"/>
                <a:cs typeface="Calibri"/>
                <a:sym typeface="Calibri"/>
              </a:rPr>
              <a:t>Cloud data warehouse. provided scalable storage for cross-table analysis.</a:t>
            </a:r>
            <a:r>
              <a:rPr lang="en-US" sz="1200">
                <a:solidFill>
                  <a:srgbClr val="1A1A2E"/>
                </a:solidFill>
                <a:latin typeface="Calibri"/>
                <a:ea typeface="Calibri"/>
                <a:cs typeface="Calibri"/>
                <a:sym typeface="Calibri"/>
              </a:rPr>
              <a:t> </a:t>
            </a:r>
            <a:endParaRPr sz="1200">
              <a:solidFill>
                <a:srgbClr val="1A1A2E"/>
              </a:solidFill>
              <a:latin typeface="Calibri"/>
              <a:ea typeface="Calibri"/>
              <a:cs typeface="Calibri"/>
              <a:sym typeface="Calibri"/>
            </a:endParaRPr>
          </a:p>
          <a:p>
            <a:pPr indent="-304800" lvl="0" marL="457200" rtl="0" algn="l">
              <a:lnSpc>
                <a:spcPct val="115000"/>
              </a:lnSpc>
              <a:spcBef>
                <a:spcPts val="0"/>
              </a:spcBef>
              <a:spcAft>
                <a:spcPts val="0"/>
              </a:spcAft>
              <a:buSzPts val="1200"/>
              <a:buFont typeface="Calibri"/>
              <a:buChar char="●"/>
            </a:pPr>
            <a:r>
              <a:rPr i="0" lang="en-US" sz="1200" u="none" cap="none" strike="noStrike">
                <a:solidFill>
                  <a:srgbClr val="1A1A2E"/>
                </a:solidFill>
                <a:latin typeface="Calibri"/>
                <a:ea typeface="Calibri"/>
                <a:cs typeface="Calibri"/>
                <a:sym typeface="Calibri"/>
              </a:rPr>
              <a:t>Serverless, auto-scaling, pay-per-query; native dbt &amp; Dagster integrations</a:t>
            </a:r>
            <a:r>
              <a:rPr lang="en-US" sz="1200">
                <a:solidFill>
                  <a:srgbClr val="1A1A2E"/>
                </a:solidFill>
                <a:latin typeface="Calibri"/>
                <a:ea typeface="Calibri"/>
                <a:cs typeface="Calibri"/>
                <a:sym typeface="Calibri"/>
              </a:rPr>
              <a:t>. </a:t>
            </a:r>
            <a:r>
              <a:rPr lang="en-US" sz="1200">
                <a:solidFill>
                  <a:schemeClr val="dk1"/>
                </a:solidFill>
                <a:latin typeface="Calibri"/>
                <a:ea typeface="Calibri"/>
                <a:cs typeface="Calibri"/>
                <a:sym typeface="Calibri"/>
              </a:rPr>
              <a:t>Stored raw tables (raw_oil_prices, raw_geo_events) and served as the central data store. </a:t>
            </a:r>
            <a:endParaRPr sz="1200">
              <a:solidFill>
                <a:srgbClr val="1A1A2E"/>
              </a:solidFill>
              <a:latin typeface="Calibri"/>
              <a:ea typeface="Calibri"/>
              <a:cs typeface="Calibri"/>
              <a:sym typeface="Calibri"/>
            </a:endParaRPr>
          </a:p>
        </p:txBody>
      </p:sp>
      <p:sp>
        <p:nvSpPr>
          <p:cNvPr id="171" name="Google Shape;171;p9"/>
          <p:cNvSpPr/>
          <p:nvPr/>
        </p:nvSpPr>
        <p:spPr>
          <a:xfrm>
            <a:off x="274320" y="1835214"/>
            <a:ext cx="8595300" cy="900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172" name="Google Shape;172;p9"/>
          <p:cNvSpPr/>
          <p:nvPr/>
        </p:nvSpPr>
        <p:spPr>
          <a:xfrm>
            <a:off x="8412480" y="4800600"/>
            <a:ext cx="54864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9 / 12</a:t>
            </a:r>
            <a:endParaRPr b="0" i="0" sz="900" u="none" cap="none" strike="noStrike">
              <a:solidFill>
                <a:schemeClr val="dk1"/>
              </a:solidFill>
              <a:latin typeface="Calibri"/>
              <a:ea typeface="Calibri"/>
              <a:cs typeface="Calibri"/>
              <a:sym typeface="Calibri"/>
            </a:endParaRPr>
          </a:p>
        </p:txBody>
      </p:sp>
      <p:sp>
        <p:nvSpPr>
          <p:cNvPr id="173" name="Google Shape;173;p9"/>
          <p:cNvSpPr/>
          <p:nvPr/>
        </p:nvSpPr>
        <p:spPr>
          <a:xfrm>
            <a:off x="101182" y="1066201"/>
            <a:ext cx="12345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200" u="none" cap="none" strike="noStrike">
                <a:solidFill>
                  <a:srgbClr val="FFFFFF"/>
                </a:solidFill>
                <a:latin typeface="Calibri"/>
                <a:ea typeface="Calibri"/>
                <a:cs typeface="Calibri"/>
                <a:sym typeface="Calibri"/>
              </a:rPr>
              <a:t>Staging</a:t>
            </a:r>
            <a:endParaRPr i="0" sz="1200" u="none" cap="none" strike="noStrike">
              <a:solidFill>
                <a:schemeClr val="dk1"/>
              </a:solidFill>
              <a:latin typeface="Calibri"/>
              <a:ea typeface="Calibri"/>
              <a:cs typeface="Calibri"/>
              <a:sym typeface="Calibri"/>
            </a:endParaRPr>
          </a:p>
        </p:txBody>
      </p:sp>
      <p:sp>
        <p:nvSpPr>
          <p:cNvPr id="174" name="Google Shape;174;p9"/>
          <p:cNvSpPr/>
          <p:nvPr/>
        </p:nvSpPr>
        <p:spPr>
          <a:xfrm>
            <a:off x="1619320" y="1132085"/>
            <a:ext cx="1645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3460"/>
              </a:buClr>
              <a:buSzPts val="1100"/>
              <a:buFont typeface="Calibri"/>
              <a:buNone/>
            </a:pPr>
            <a:r>
              <a:rPr b="1" lang="en-US" sz="1200">
                <a:solidFill>
                  <a:srgbClr val="0F3460"/>
                </a:solidFill>
                <a:latin typeface="Calibri"/>
                <a:ea typeface="Calibri"/>
                <a:cs typeface="Calibri"/>
                <a:sym typeface="Calibri"/>
              </a:rPr>
              <a:t>CSV Files</a:t>
            </a:r>
            <a:endParaRPr i="0" sz="1200" u="none" cap="none" strike="noStrike">
              <a:solidFill>
                <a:schemeClr val="dk1"/>
              </a:solidFill>
              <a:latin typeface="Calibri"/>
              <a:ea typeface="Calibri"/>
              <a:cs typeface="Calibri"/>
              <a:sym typeface="Calibri"/>
            </a:endParaRPr>
          </a:p>
        </p:txBody>
      </p:sp>
      <p:sp>
        <p:nvSpPr>
          <p:cNvPr id="175" name="Google Shape;175;p9"/>
          <p:cNvSpPr/>
          <p:nvPr/>
        </p:nvSpPr>
        <p:spPr>
          <a:xfrm>
            <a:off x="3009312" y="1122119"/>
            <a:ext cx="6398400" cy="420600"/>
          </a:xfrm>
          <a:prstGeom prst="rect">
            <a:avLst/>
          </a:prstGeom>
          <a:noFill/>
          <a:ln>
            <a:noFill/>
          </a:ln>
        </p:spPr>
        <p:txBody>
          <a:bodyPr anchorCtr="0" anchor="ctr" bIns="0" lIns="0" spcFirstLastPara="1" rIns="0" wrap="square" tIns="0">
            <a:noAutofit/>
          </a:bodyPr>
          <a:lstStyle/>
          <a:p>
            <a:pPr indent="-304800" lvl="0" marL="45720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Raw oil prices + geopolitical events</a:t>
            </a:r>
            <a:endParaRPr sz="1200">
              <a:solidFill>
                <a:schemeClr val="dk1"/>
              </a:solidFill>
              <a:latin typeface="Calibri"/>
              <a:ea typeface="Calibri"/>
              <a:cs typeface="Calibri"/>
              <a:sym typeface="Calibri"/>
            </a:endParaRPr>
          </a:p>
        </p:txBody>
      </p:sp>
      <p:sp>
        <p:nvSpPr>
          <p:cNvPr id="176" name="Google Shape;176;p9"/>
          <p:cNvSpPr/>
          <p:nvPr/>
        </p:nvSpPr>
        <p:spPr>
          <a:xfrm>
            <a:off x="291333" y="1103276"/>
            <a:ext cx="1234500" cy="420600"/>
          </a:xfrm>
          <a:prstGeom prst="rect">
            <a:avLst/>
          </a:prstGeom>
          <a:solidFill>
            <a:srgbClr val="0F3460"/>
          </a:solidFill>
          <a:ln>
            <a:noFill/>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177" name="Google Shape;177;p9"/>
          <p:cNvSpPr/>
          <p:nvPr/>
        </p:nvSpPr>
        <p:spPr>
          <a:xfrm>
            <a:off x="318282" y="1133785"/>
            <a:ext cx="12345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200">
                <a:solidFill>
                  <a:srgbClr val="FFFFFF"/>
                </a:solidFill>
                <a:latin typeface="Calibri"/>
                <a:ea typeface="Calibri"/>
                <a:cs typeface="Calibri"/>
                <a:sym typeface="Calibri"/>
              </a:rPr>
              <a:t>Source</a:t>
            </a:r>
            <a:endParaRPr i="0" sz="12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82" name="Shape 182"/>
        <p:cNvGrpSpPr/>
        <p:nvPr/>
      </p:nvGrpSpPr>
      <p:grpSpPr>
        <a:xfrm>
          <a:off x="0" y="0"/>
          <a:ext cx="0" cy="0"/>
          <a:chOff x="0" y="0"/>
          <a:chExt cx="0" cy="0"/>
        </a:xfrm>
      </p:grpSpPr>
      <p:sp>
        <p:nvSpPr>
          <p:cNvPr id="183" name="Google Shape;183;g3d4367663e0_1_54"/>
          <p:cNvSpPr/>
          <p:nvPr/>
        </p:nvSpPr>
        <p:spPr>
          <a:xfrm>
            <a:off x="0" y="0"/>
            <a:ext cx="9144000" cy="7773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g3d4367663e0_1_54"/>
          <p:cNvSpPr/>
          <p:nvPr/>
        </p:nvSpPr>
        <p:spPr>
          <a:xfrm>
            <a:off x="365760" y="91440"/>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Calibri"/>
              <a:buNone/>
            </a:pPr>
            <a:r>
              <a:rPr b="1" i="0" lang="en-US" sz="2400" u="none" cap="none" strike="noStrike">
                <a:solidFill>
                  <a:srgbClr val="FFFFFF"/>
                </a:solidFill>
                <a:latin typeface="Calibri"/>
                <a:ea typeface="Calibri"/>
                <a:cs typeface="Calibri"/>
                <a:sym typeface="Calibri"/>
              </a:rPr>
              <a:t>Technical Stack </a:t>
            </a:r>
            <a:endParaRPr b="0" i="0" sz="2400" u="none" cap="none" strike="noStrike">
              <a:solidFill>
                <a:schemeClr val="dk1"/>
              </a:solidFill>
              <a:latin typeface="Calibri"/>
              <a:ea typeface="Calibri"/>
              <a:cs typeface="Calibri"/>
              <a:sym typeface="Calibri"/>
            </a:endParaRPr>
          </a:p>
        </p:txBody>
      </p:sp>
      <p:grpSp>
        <p:nvGrpSpPr>
          <p:cNvPr id="185" name="Google Shape;185;g3d4367663e0_1_54"/>
          <p:cNvGrpSpPr/>
          <p:nvPr/>
        </p:nvGrpSpPr>
        <p:grpSpPr>
          <a:xfrm>
            <a:off x="274320" y="1046080"/>
            <a:ext cx="1234500" cy="435937"/>
            <a:chOff x="274320" y="2766441"/>
            <a:chExt cx="1234500" cy="435937"/>
          </a:xfrm>
        </p:grpSpPr>
        <p:sp>
          <p:nvSpPr>
            <p:cNvPr id="186" name="Google Shape;186;g3d4367663e0_1_54"/>
            <p:cNvSpPr/>
            <p:nvPr/>
          </p:nvSpPr>
          <p:spPr>
            <a:xfrm>
              <a:off x="274320" y="2766441"/>
              <a:ext cx="1234500" cy="420600"/>
            </a:xfrm>
            <a:prstGeom prst="rect">
              <a:avLst/>
            </a:prstGeom>
            <a:solidFill>
              <a:srgbClr val="0F3460"/>
            </a:solidFill>
            <a:ln>
              <a:noFill/>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187" name="Google Shape;187;g3d4367663e0_1_54"/>
            <p:cNvSpPr/>
            <p:nvPr/>
          </p:nvSpPr>
          <p:spPr>
            <a:xfrm>
              <a:off x="274320" y="2781778"/>
              <a:ext cx="12345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200" u="none" cap="none" strike="noStrike">
                  <a:solidFill>
                    <a:srgbClr val="FFFFFF"/>
                  </a:solidFill>
                  <a:latin typeface="Calibri"/>
                  <a:ea typeface="Calibri"/>
                  <a:cs typeface="Calibri"/>
                  <a:sym typeface="Calibri"/>
                </a:rPr>
                <a:t>Transform</a:t>
              </a:r>
              <a:endParaRPr i="0" sz="1200" u="none" cap="none" strike="noStrike">
                <a:solidFill>
                  <a:schemeClr val="dk1"/>
                </a:solidFill>
                <a:latin typeface="Calibri"/>
                <a:ea typeface="Calibri"/>
                <a:cs typeface="Calibri"/>
                <a:sym typeface="Calibri"/>
              </a:endParaRPr>
            </a:p>
          </p:txBody>
        </p:sp>
      </p:grpSp>
      <p:sp>
        <p:nvSpPr>
          <p:cNvPr id="188" name="Google Shape;188;g3d4367663e0_1_54"/>
          <p:cNvSpPr/>
          <p:nvPr/>
        </p:nvSpPr>
        <p:spPr>
          <a:xfrm>
            <a:off x="1645920" y="1073131"/>
            <a:ext cx="1645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3460"/>
              </a:buClr>
              <a:buSzPts val="1100"/>
              <a:buFont typeface="Calibri"/>
              <a:buNone/>
            </a:pPr>
            <a:r>
              <a:rPr b="1" i="0" lang="en-US" sz="1200" u="none" cap="none" strike="noStrike">
                <a:solidFill>
                  <a:srgbClr val="0F3460"/>
                </a:solidFill>
                <a:latin typeface="Calibri"/>
                <a:ea typeface="Calibri"/>
                <a:cs typeface="Calibri"/>
                <a:sym typeface="Calibri"/>
              </a:rPr>
              <a:t>dbt </a:t>
            </a:r>
            <a:r>
              <a:rPr lang="en-US" sz="1000">
                <a:solidFill>
                  <a:srgbClr val="3B3B3B"/>
                </a:solidFill>
                <a:latin typeface="Roboto"/>
                <a:ea typeface="Roboto"/>
                <a:cs typeface="Roboto"/>
                <a:sym typeface="Roboto"/>
              </a:rPr>
              <a:t>1.11.7</a:t>
            </a:r>
            <a:endParaRPr b="1" sz="1200">
              <a:solidFill>
                <a:srgbClr val="0F3460"/>
              </a:solidFill>
              <a:latin typeface="Calibri"/>
              <a:ea typeface="Calibri"/>
              <a:cs typeface="Calibri"/>
              <a:sym typeface="Calibri"/>
            </a:endParaRPr>
          </a:p>
        </p:txBody>
      </p:sp>
      <p:sp>
        <p:nvSpPr>
          <p:cNvPr id="189" name="Google Shape;189;g3d4367663e0_1_54"/>
          <p:cNvSpPr/>
          <p:nvPr/>
        </p:nvSpPr>
        <p:spPr>
          <a:xfrm>
            <a:off x="2866275" y="568550"/>
            <a:ext cx="6003300" cy="132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200">
              <a:solidFill>
                <a:srgbClr val="1A1A2E"/>
              </a:solidFill>
              <a:latin typeface="Calibri"/>
              <a:ea typeface="Calibri"/>
              <a:cs typeface="Calibri"/>
              <a:sym typeface="Calibri"/>
            </a:endParaRPr>
          </a:p>
          <a:p>
            <a:pPr indent="-304800" lvl="0" marL="457200" rtl="0" algn="l">
              <a:spcBef>
                <a:spcPts val="0"/>
              </a:spcBef>
              <a:spcAft>
                <a:spcPts val="0"/>
              </a:spcAft>
              <a:buClr>
                <a:srgbClr val="1A1A2E"/>
              </a:buClr>
              <a:buSzPts val="1200"/>
              <a:buFont typeface="Calibri"/>
              <a:buChar char="●"/>
            </a:pPr>
            <a:r>
              <a:rPr lang="en-US" sz="1200">
                <a:solidFill>
                  <a:srgbClr val="3B3B3B"/>
                </a:solidFill>
                <a:latin typeface="Calibri"/>
                <a:ea typeface="Calibri"/>
                <a:cs typeface="Calibri"/>
                <a:sym typeface="Calibri"/>
              </a:rPr>
              <a:t>dbt-bigquery-&gt; SQL-based staging + mart models</a:t>
            </a:r>
            <a:endParaRPr sz="1200">
              <a:solidFill>
                <a:srgbClr val="1A1A2E"/>
              </a:solidFill>
              <a:latin typeface="Calibri"/>
              <a:ea typeface="Calibri"/>
              <a:cs typeface="Calibri"/>
              <a:sym typeface="Calibri"/>
            </a:endParaRPr>
          </a:p>
          <a:p>
            <a:pPr indent="-304800" lvl="0" marL="457200" marR="0" rtl="0" algn="l">
              <a:spcBef>
                <a:spcPts val="0"/>
              </a:spcBef>
              <a:spcAft>
                <a:spcPts val="0"/>
              </a:spcAft>
              <a:buClr>
                <a:srgbClr val="1A1A2E"/>
              </a:buClr>
              <a:buSzPts val="1200"/>
              <a:buFont typeface="Calibri"/>
              <a:buChar char="●"/>
            </a:pPr>
            <a:r>
              <a:rPr lang="en-US" sz="1200">
                <a:solidFill>
                  <a:schemeClr val="dk1"/>
                </a:solidFill>
                <a:latin typeface="Calibri"/>
                <a:ea typeface="Calibri"/>
                <a:cs typeface="Calibri"/>
                <a:sym typeface="Calibri"/>
              </a:rPr>
              <a:t>Data transformation: </a:t>
            </a:r>
            <a:r>
              <a:rPr i="0" lang="en-US" sz="1200" u="none" cap="none" strike="noStrike">
                <a:solidFill>
                  <a:srgbClr val="1A1A2E"/>
                </a:solidFill>
                <a:latin typeface="Calibri"/>
                <a:ea typeface="Calibri"/>
                <a:cs typeface="Calibri"/>
                <a:sym typeface="Calibri"/>
              </a:rPr>
              <a:t> built-in testing, docs, and lineage DAGs</a:t>
            </a:r>
            <a:r>
              <a:rPr lang="en-US" sz="1200">
                <a:solidFill>
                  <a:srgbClr val="1A1A2E"/>
                </a:solidFill>
                <a:latin typeface="Calibri"/>
                <a:ea typeface="Calibri"/>
                <a:cs typeface="Calibri"/>
                <a:sym typeface="Calibri"/>
              </a:rPr>
              <a:t>. </a:t>
            </a:r>
            <a:endParaRPr sz="1200">
              <a:solidFill>
                <a:srgbClr val="1A1A2E"/>
              </a:solidFill>
              <a:latin typeface="Calibri"/>
              <a:ea typeface="Calibri"/>
              <a:cs typeface="Calibri"/>
              <a:sym typeface="Calibri"/>
            </a:endParaRPr>
          </a:p>
          <a:p>
            <a:pPr indent="-304800" lvl="0" marL="457200" marR="0" rtl="0" algn="l">
              <a:spcBef>
                <a:spcPts val="0"/>
              </a:spcBef>
              <a:spcAft>
                <a:spcPts val="0"/>
              </a:spcAft>
              <a:buClr>
                <a:srgbClr val="1A1A2E"/>
              </a:buClr>
              <a:buSzPts val="1200"/>
              <a:buFont typeface="Calibri"/>
              <a:buChar char="●"/>
            </a:pPr>
            <a:r>
              <a:rPr lang="en-US" sz="1200">
                <a:latin typeface="Calibri"/>
                <a:ea typeface="Calibri"/>
                <a:cs typeface="Calibri"/>
                <a:sym typeface="Calibri"/>
              </a:rPr>
              <a:t>E</a:t>
            </a:r>
            <a:r>
              <a:rPr lang="en-US" sz="1200">
                <a:latin typeface="Calibri"/>
                <a:ea typeface="Calibri"/>
                <a:cs typeface="Calibri"/>
                <a:sym typeface="Calibri"/>
              </a:rPr>
              <a:t>nforced data consistency and created the analytical joinCreated cleaned staging views and a joined mart table (mart_oil_geopolitics) combining oil prices with geopolitical events by date that unlocked findings 1, 3, and 4.</a:t>
            </a:r>
            <a:endParaRPr sz="1200">
              <a:solidFill>
                <a:srgbClr val="1A1A2E"/>
              </a:solidFill>
              <a:latin typeface="Calibri"/>
              <a:ea typeface="Calibri"/>
              <a:cs typeface="Calibri"/>
              <a:sym typeface="Calibri"/>
            </a:endParaRPr>
          </a:p>
        </p:txBody>
      </p:sp>
      <p:sp>
        <p:nvSpPr>
          <p:cNvPr id="190" name="Google Shape;190;g3d4367663e0_1_54"/>
          <p:cNvSpPr/>
          <p:nvPr/>
        </p:nvSpPr>
        <p:spPr>
          <a:xfrm>
            <a:off x="274320" y="1849807"/>
            <a:ext cx="8595300" cy="900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191" name="Google Shape;191;g3d4367663e0_1_54"/>
          <p:cNvSpPr/>
          <p:nvPr/>
        </p:nvSpPr>
        <p:spPr>
          <a:xfrm>
            <a:off x="274320" y="1981589"/>
            <a:ext cx="1234500" cy="420600"/>
          </a:xfrm>
          <a:prstGeom prst="rect">
            <a:avLst/>
          </a:prstGeom>
          <a:solidFill>
            <a:srgbClr val="0F3460"/>
          </a:solidFill>
          <a:ln>
            <a:noFill/>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192" name="Google Shape;192;g3d4367663e0_1_54"/>
          <p:cNvSpPr/>
          <p:nvPr/>
        </p:nvSpPr>
        <p:spPr>
          <a:xfrm>
            <a:off x="274320" y="1956608"/>
            <a:ext cx="12345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200" u="none" cap="none" strike="noStrike">
                <a:solidFill>
                  <a:srgbClr val="FFFFFF"/>
                </a:solidFill>
                <a:latin typeface="Calibri"/>
                <a:ea typeface="Calibri"/>
                <a:cs typeface="Calibri"/>
                <a:sym typeface="Calibri"/>
              </a:rPr>
              <a:t>Orchestration</a:t>
            </a:r>
            <a:endParaRPr i="0" sz="1200" u="none" cap="none" strike="noStrike">
              <a:solidFill>
                <a:schemeClr val="dk1"/>
              </a:solidFill>
              <a:latin typeface="Calibri"/>
              <a:ea typeface="Calibri"/>
              <a:cs typeface="Calibri"/>
              <a:sym typeface="Calibri"/>
            </a:endParaRPr>
          </a:p>
        </p:txBody>
      </p:sp>
      <p:sp>
        <p:nvSpPr>
          <p:cNvPr id="193" name="Google Shape;193;g3d4367663e0_1_54"/>
          <p:cNvSpPr/>
          <p:nvPr/>
        </p:nvSpPr>
        <p:spPr>
          <a:xfrm>
            <a:off x="1645920" y="2050334"/>
            <a:ext cx="1645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3460"/>
              </a:buClr>
              <a:buSzPts val="1100"/>
              <a:buFont typeface="Calibri"/>
              <a:buNone/>
            </a:pPr>
            <a:r>
              <a:rPr b="1" i="0" lang="en-US" sz="1200" u="none" cap="none" strike="noStrike">
                <a:solidFill>
                  <a:srgbClr val="0F3460"/>
                </a:solidFill>
                <a:latin typeface="Calibri"/>
                <a:ea typeface="Calibri"/>
                <a:cs typeface="Calibri"/>
                <a:sym typeface="Calibri"/>
              </a:rPr>
              <a:t>Dagster </a:t>
            </a:r>
            <a:r>
              <a:rPr lang="en-US" sz="1000">
                <a:solidFill>
                  <a:srgbClr val="3B3B3B"/>
                </a:solidFill>
                <a:latin typeface="Roboto"/>
                <a:ea typeface="Roboto"/>
                <a:cs typeface="Roboto"/>
                <a:sym typeface="Roboto"/>
              </a:rPr>
              <a:t>1.12.19</a:t>
            </a:r>
            <a:endParaRPr sz="1000">
              <a:solidFill>
                <a:srgbClr val="3B3B3B"/>
              </a:solidFill>
              <a:latin typeface="Roboto"/>
              <a:ea typeface="Roboto"/>
              <a:cs typeface="Roboto"/>
              <a:sym typeface="Roboto"/>
            </a:endParaRPr>
          </a:p>
          <a:p>
            <a:pPr indent="0" lvl="0" marL="0" marR="0" rtl="0" algn="l">
              <a:spcBef>
                <a:spcPts val="0"/>
              </a:spcBef>
              <a:spcAft>
                <a:spcPts val="0"/>
              </a:spcAft>
              <a:buClr>
                <a:srgbClr val="0F3460"/>
              </a:buClr>
              <a:buSzPts val="1100"/>
              <a:buFont typeface="Calibri"/>
              <a:buNone/>
            </a:pPr>
            <a:r>
              <a:t/>
            </a:r>
            <a:endParaRPr b="1" sz="1200">
              <a:solidFill>
                <a:srgbClr val="0F3460"/>
              </a:solidFill>
              <a:latin typeface="Calibri"/>
              <a:ea typeface="Calibri"/>
              <a:cs typeface="Calibri"/>
              <a:sym typeface="Calibri"/>
            </a:endParaRPr>
          </a:p>
        </p:txBody>
      </p:sp>
      <p:sp>
        <p:nvSpPr>
          <p:cNvPr id="194" name="Google Shape;194;g3d4367663e0_1_54"/>
          <p:cNvSpPr/>
          <p:nvPr/>
        </p:nvSpPr>
        <p:spPr>
          <a:xfrm>
            <a:off x="274320" y="2645355"/>
            <a:ext cx="8595300" cy="900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195" name="Google Shape;195;g3d4367663e0_1_54"/>
          <p:cNvSpPr/>
          <p:nvPr/>
        </p:nvSpPr>
        <p:spPr>
          <a:xfrm>
            <a:off x="274320" y="2781267"/>
            <a:ext cx="1234500" cy="420600"/>
          </a:xfrm>
          <a:prstGeom prst="rect">
            <a:avLst/>
          </a:prstGeom>
          <a:solidFill>
            <a:srgbClr val="0F3460"/>
          </a:solidFill>
          <a:ln>
            <a:noFill/>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196" name="Google Shape;196;g3d4367663e0_1_54"/>
          <p:cNvSpPr/>
          <p:nvPr/>
        </p:nvSpPr>
        <p:spPr>
          <a:xfrm>
            <a:off x="274320" y="2777365"/>
            <a:ext cx="12345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200" u="none" cap="none" strike="noStrike">
                <a:solidFill>
                  <a:srgbClr val="FFFFFF"/>
                </a:solidFill>
                <a:latin typeface="Calibri"/>
                <a:ea typeface="Calibri"/>
                <a:cs typeface="Calibri"/>
                <a:sym typeface="Calibri"/>
              </a:rPr>
              <a:t>Analysis</a:t>
            </a:r>
            <a:endParaRPr i="0" sz="1200" u="none" cap="none" strike="noStrike">
              <a:solidFill>
                <a:schemeClr val="dk1"/>
              </a:solidFill>
              <a:latin typeface="Calibri"/>
              <a:ea typeface="Calibri"/>
              <a:cs typeface="Calibri"/>
              <a:sym typeface="Calibri"/>
            </a:endParaRPr>
          </a:p>
        </p:txBody>
      </p:sp>
      <p:sp>
        <p:nvSpPr>
          <p:cNvPr id="197" name="Google Shape;197;g3d4367663e0_1_54"/>
          <p:cNvSpPr/>
          <p:nvPr/>
        </p:nvSpPr>
        <p:spPr>
          <a:xfrm>
            <a:off x="1645920" y="2758283"/>
            <a:ext cx="1645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3460"/>
              </a:buClr>
              <a:buSzPts val="1100"/>
              <a:buFont typeface="Calibri"/>
              <a:buNone/>
            </a:pPr>
            <a:r>
              <a:rPr b="1" i="0" lang="en-US" sz="1200" u="none" cap="none" strike="noStrike">
                <a:solidFill>
                  <a:srgbClr val="0F3460"/>
                </a:solidFill>
                <a:latin typeface="Calibri"/>
                <a:ea typeface="Calibri"/>
                <a:cs typeface="Calibri"/>
                <a:sym typeface="Calibri"/>
              </a:rPr>
              <a:t>Jupyter </a:t>
            </a:r>
            <a:r>
              <a:rPr lang="en-US" sz="1000">
                <a:solidFill>
                  <a:srgbClr val="3B3B3B"/>
                </a:solidFill>
                <a:latin typeface="Roboto"/>
                <a:ea typeface="Roboto"/>
                <a:cs typeface="Roboto"/>
                <a:sym typeface="Roboto"/>
              </a:rPr>
              <a:t>4.5.6</a:t>
            </a:r>
            <a:endParaRPr i="0" sz="1200" u="none" cap="none" strike="noStrike">
              <a:solidFill>
                <a:schemeClr val="dk1"/>
              </a:solidFill>
              <a:latin typeface="Calibri"/>
              <a:ea typeface="Calibri"/>
              <a:cs typeface="Calibri"/>
              <a:sym typeface="Calibri"/>
            </a:endParaRPr>
          </a:p>
        </p:txBody>
      </p:sp>
      <p:sp>
        <p:nvSpPr>
          <p:cNvPr id="198" name="Google Shape;198;g3d4367663e0_1_54"/>
          <p:cNvSpPr/>
          <p:nvPr/>
        </p:nvSpPr>
        <p:spPr>
          <a:xfrm>
            <a:off x="2866270" y="2758283"/>
            <a:ext cx="5394900" cy="384000"/>
          </a:xfrm>
          <a:prstGeom prst="rect">
            <a:avLst/>
          </a:prstGeom>
          <a:noFill/>
          <a:ln>
            <a:noFill/>
          </a:ln>
        </p:spPr>
        <p:txBody>
          <a:bodyPr anchorCtr="0" anchor="ctr" bIns="0" lIns="0" spcFirstLastPara="1" rIns="0" wrap="square" tIns="0">
            <a:noAutofit/>
          </a:bodyPr>
          <a:lstStyle/>
          <a:p>
            <a:pPr indent="-304800" lvl="0" marL="457200" marR="0" rtl="0" algn="l">
              <a:spcBef>
                <a:spcPts val="0"/>
              </a:spcBef>
              <a:spcAft>
                <a:spcPts val="0"/>
              </a:spcAft>
              <a:buClr>
                <a:srgbClr val="1A1A2E"/>
              </a:buClr>
              <a:buSzPts val="1200"/>
              <a:buFont typeface="Calibri"/>
              <a:buChar char="●"/>
            </a:pPr>
            <a:r>
              <a:rPr i="0" lang="en-US" sz="1200" u="none" cap="none" strike="noStrike">
                <a:solidFill>
                  <a:srgbClr val="1A1A2E"/>
                </a:solidFill>
                <a:latin typeface="Calibri"/>
                <a:ea typeface="Calibri"/>
                <a:cs typeface="Calibri"/>
                <a:sym typeface="Calibri"/>
              </a:rPr>
              <a:t>Jupyter for deep EDA; Power BI for executive dashboards and self-serve analytics</a:t>
            </a:r>
            <a:endParaRPr i="0" sz="1200" u="none" cap="none" strike="noStrike">
              <a:solidFill>
                <a:schemeClr val="dk1"/>
              </a:solidFill>
              <a:latin typeface="Calibri"/>
              <a:ea typeface="Calibri"/>
              <a:cs typeface="Calibri"/>
              <a:sym typeface="Calibri"/>
            </a:endParaRPr>
          </a:p>
        </p:txBody>
      </p:sp>
      <p:sp>
        <p:nvSpPr>
          <p:cNvPr id="199" name="Google Shape;199;g3d4367663e0_1_54"/>
          <p:cNvSpPr/>
          <p:nvPr/>
        </p:nvSpPr>
        <p:spPr>
          <a:xfrm>
            <a:off x="2866275" y="1814148"/>
            <a:ext cx="6094800" cy="920100"/>
          </a:xfrm>
          <a:prstGeom prst="rect">
            <a:avLst/>
          </a:prstGeom>
          <a:noFill/>
          <a:ln>
            <a:noFill/>
          </a:ln>
        </p:spPr>
        <p:txBody>
          <a:bodyPr anchorCtr="0" anchor="ctr" bIns="0" lIns="0" spcFirstLastPara="1" rIns="0" wrap="square" tIns="0">
            <a:noAutofit/>
          </a:bodyPr>
          <a:lstStyle/>
          <a:p>
            <a:pPr indent="-304800" lvl="0" marL="457200" marR="0" rtl="0" algn="l">
              <a:spcBef>
                <a:spcPts val="0"/>
              </a:spcBef>
              <a:spcAft>
                <a:spcPts val="0"/>
              </a:spcAft>
              <a:buSzPts val="1200"/>
              <a:buFont typeface="Calibri"/>
              <a:buChar char="●"/>
            </a:pPr>
            <a:r>
              <a:rPr lang="en-US" sz="1200">
                <a:solidFill>
                  <a:schemeClr val="dk1"/>
                </a:solidFill>
                <a:latin typeface="Calibri"/>
                <a:ea typeface="Calibri"/>
                <a:cs typeface="Calibri"/>
                <a:sym typeface="Calibri"/>
              </a:rPr>
              <a:t>Orchestration. </a:t>
            </a:r>
            <a:r>
              <a:rPr lang="en-US" sz="1200">
                <a:latin typeface="Calibri"/>
                <a:ea typeface="Calibri"/>
                <a:cs typeface="Calibri"/>
                <a:sym typeface="Calibri"/>
              </a:rPr>
              <a:t>Ran the full pipeline end-to-end as a DAG — Meltano EL first, then dbt transformations, with visual asset tracking</a:t>
            </a:r>
            <a:endParaRPr sz="1200">
              <a:latin typeface="Calibri"/>
              <a:ea typeface="Calibri"/>
              <a:cs typeface="Calibri"/>
              <a:sym typeface="Calibri"/>
            </a:endParaRPr>
          </a:p>
          <a:p>
            <a:pPr indent="-304800" lvl="0" marL="457200" marR="0" rtl="0" algn="l">
              <a:spcBef>
                <a:spcPts val="0"/>
              </a:spcBef>
              <a:spcAft>
                <a:spcPts val="0"/>
              </a:spcAft>
              <a:buClr>
                <a:srgbClr val="1A1A2E"/>
              </a:buClr>
              <a:buSzPts val="1200"/>
              <a:buFont typeface="Calibri"/>
              <a:buChar char="●"/>
            </a:pPr>
            <a:r>
              <a:rPr i="0" lang="en-US" sz="1200" u="none" cap="none" strike="noStrike">
                <a:solidFill>
                  <a:srgbClr val="1A1A2E"/>
                </a:solidFill>
                <a:latin typeface="Calibri"/>
                <a:ea typeface="Calibri"/>
                <a:cs typeface="Calibri"/>
                <a:sym typeface="Calibri"/>
              </a:rPr>
              <a:t>Software-defined assets; visual DAG UI; native dbt + Meltano integrations; schedules + sensors</a:t>
            </a:r>
            <a:endParaRPr i="0" sz="1200" u="none" cap="none" strike="noStrike">
              <a:solidFill>
                <a:schemeClr val="dk1"/>
              </a:solidFill>
              <a:latin typeface="Calibri"/>
              <a:ea typeface="Calibri"/>
              <a:cs typeface="Calibri"/>
              <a:sym typeface="Calibri"/>
            </a:endParaRPr>
          </a:p>
        </p:txBody>
      </p:sp>
      <p:sp>
        <p:nvSpPr>
          <p:cNvPr id="200" name="Google Shape;200;g3d4367663e0_1_54"/>
          <p:cNvSpPr/>
          <p:nvPr/>
        </p:nvSpPr>
        <p:spPr>
          <a:xfrm>
            <a:off x="8412480" y="4714448"/>
            <a:ext cx="5487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900"/>
              <a:buFont typeface="Calibri"/>
              <a:buNone/>
            </a:pPr>
            <a:r>
              <a:rPr i="0" lang="en-US" sz="1200" u="none" cap="none" strike="noStrike">
                <a:solidFill>
                  <a:srgbClr val="64748B"/>
                </a:solidFill>
                <a:latin typeface="Calibri"/>
                <a:ea typeface="Calibri"/>
                <a:cs typeface="Calibri"/>
                <a:sym typeface="Calibri"/>
              </a:rPr>
              <a:t>9 / 12</a:t>
            </a:r>
            <a:endParaRPr i="0" sz="1200" u="none" cap="none" strike="noStrike">
              <a:solidFill>
                <a:schemeClr val="dk1"/>
              </a:solidFill>
              <a:latin typeface="Calibri"/>
              <a:ea typeface="Calibri"/>
              <a:cs typeface="Calibri"/>
              <a:sym typeface="Calibri"/>
            </a:endParaRPr>
          </a:p>
        </p:txBody>
      </p:sp>
      <p:sp>
        <p:nvSpPr>
          <p:cNvPr id="201" name="Google Shape;201;g3d4367663e0_1_54"/>
          <p:cNvSpPr/>
          <p:nvPr/>
        </p:nvSpPr>
        <p:spPr>
          <a:xfrm>
            <a:off x="289002" y="3350203"/>
            <a:ext cx="1234500" cy="420600"/>
          </a:xfrm>
          <a:prstGeom prst="rect">
            <a:avLst/>
          </a:prstGeom>
          <a:solidFill>
            <a:srgbClr val="0F3460"/>
          </a:solidFill>
          <a:ln>
            <a:noFill/>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202" name="Google Shape;202;g3d4367663e0_1_54"/>
          <p:cNvSpPr/>
          <p:nvPr/>
        </p:nvSpPr>
        <p:spPr>
          <a:xfrm>
            <a:off x="289002" y="3346301"/>
            <a:ext cx="12345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200">
                <a:solidFill>
                  <a:srgbClr val="FFFFFF"/>
                </a:solidFill>
                <a:latin typeface="Calibri"/>
                <a:ea typeface="Calibri"/>
                <a:cs typeface="Calibri"/>
                <a:sym typeface="Calibri"/>
              </a:rPr>
              <a:t>Environment</a:t>
            </a:r>
            <a:endParaRPr i="0" sz="1200" u="none" cap="none" strike="noStrike">
              <a:solidFill>
                <a:schemeClr val="dk1"/>
              </a:solidFill>
              <a:latin typeface="Calibri"/>
              <a:ea typeface="Calibri"/>
              <a:cs typeface="Calibri"/>
              <a:sym typeface="Calibri"/>
            </a:endParaRPr>
          </a:p>
        </p:txBody>
      </p:sp>
      <p:sp>
        <p:nvSpPr>
          <p:cNvPr id="203" name="Google Shape;203;g3d4367663e0_1_54"/>
          <p:cNvSpPr/>
          <p:nvPr/>
        </p:nvSpPr>
        <p:spPr>
          <a:xfrm>
            <a:off x="1683554" y="3384599"/>
            <a:ext cx="1645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3460"/>
              </a:buClr>
              <a:buSzPts val="1100"/>
              <a:buFont typeface="Calibri"/>
              <a:buNone/>
            </a:pPr>
            <a:r>
              <a:rPr b="1" lang="en-US" sz="1200">
                <a:solidFill>
                  <a:srgbClr val="0F3460"/>
                </a:solidFill>
                <a:latin typeface="Calibri"/>
                <a:ea typeface="Calibri"/>
                <a:cs typeface="Calibri"/>
                <a:sym typeface="Calibri"/>
              </a:rPr>
              <a:t>WSL ubuntu+ Conda</a:t>
            </a:r>
            <a:endParaRPr i="0" sz="1200" u="none" cap="none" strike="noStrike">
              <a:solidFill>
                <a:schemeClr val="dk1"/>
              </a:solidFill>
              <a:latin typeface="Calibri"/>
              <a:ea typeface="Calibri"/>
              <a:cs typeface="Calibri"/>
              <a:sym typeface="Calibri"/>
            </a:endParaRPr>
          </a:p>
        </p:txBody>
      </p:sp>
      <p:sp>
        <p:nvSpPr>
          <p:cNvPr id="204" name="Google Shape;204;g3d4367663e0_1_54"/>
          <p:cNvSpPr/>
          <p:nvPr/>
        </p:nvSpPr>
        <p:spPr>
          <a:xfrm>
            <a:off x="2866270" y="3335394"/>
            <a:ext cx="5394900" cy="384000"/>
          </a:xfrm>
          <a:prstGeom prst="rect">
            <a:avLst/>
          </a:prstGeom>
          <a:noFill/>
          <a:ln>
            <a:noFill/>
          </a:ln>
        </p:spPr>
        <p:txBody>
          <a:bodyPr anchorCtr="0" anchor="ctr" bIns="0" lIns="0" spcFirstLastPara="1" rIns="0" wrap="square" tIns="0">
            <a:noAutofit/>
          </a:bodyPr>
          <a:lstStyle/>
          <a:p>
            <a:pPr indent="-304800" lvl="0" marL="457200" rtl="0" algn="l">
              <a:spcBef>
                <a:spcPts val="0"/>
              </a:spcBef>
              <a:spcAft>
                <a:spcPts val="0"/>
              </a:spcAft>
              <a:buClr>
                <a:srgbClr val="1A1A2E"/>
              </a:buClr>
              <a:buSzPts val="1200"/>
              <a:buFont typeface="Calibri"/>
              <a:buChar char="●"/>
            </a:pPr>
            <a:r>
              <a:rPr lang="en-US" sz="1200">
                <a:solidFill>
                  <a:srgbClr val="3B3B3B"/>
                </a:solidFill>
                <a:latin typeface="Calibri"/>
                <a:ea typeface="Calibri"/>
                <a:cs typeface="Calibri"/>
                <a:sym typeface="Calibri"/>
              </a:rPr>
              <a:t>Python 3.11 Isolated Linux env on Windows ARM64</a:t>
            </a:r>
            <a:endParaRPr sz="1200">
              <a:solidFill>
                <a:srgbClr val="1A1A2E"/>
              </a:solidFill>
              <a:latin typeface="Calibri"/>
              <a:ea typeface="Calibri"/>
              <a:cs typeface="Calibri"/>
              <a:sym typeface="Calibri"/>
            </a:endParaRPr>
          </a:p>
        </p:txBody>
      </p:sp>
      <p:sp>
        <p:nvSpPr>
          <p:cNvPr id="205" name="Google Shape;205;g3d4367663e0_1_54"/>
          <p:cNvSpPr/>
          <p:nvPr/>
        </p:nvSpPr>
        <p:spPr>
          <a:xfrm>
            <a:off x="274327" y="3958400"/>
            <a:ext cx="1234500" cy="420600"/>
          </a:xfrm>
          <a:prstGeom prst="rect">
            <a:avLst/>
          </a:prstGeom>
          <a:solidFill>
            <a:srgbClr val="0F3460"/>
          </a:solidFill>
          <a:ln>
            <a:noFill/>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206" name="Google Shape;206;g3d4367663e0_1_54"/>
          <p:cNvSpPr/>
          <p:nvPr/>
        </p:nvSpPr>
        <p:spPr>
          <a:xfrm>
            <a:off x="274327" y="3954498"/>
            <a:ext cx="12345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200">
                <a:solidFill>
                  <a:srgbClr val="FFFFFF"/>
                </a:solidFill>
                <a:latin typeface="Calibri"/>
                <a:ea typeface="Calibri"/>
                <a:cs typeface="Calibri"/>
                <a:sym typeface="Calibri"/>
              </a:rPr>
              <a:t>Auth</a:t>
            </a:r>
            <a:endParaRPr i="0" sz="1200" u="none" cap="none" strike="noStrike">
              <a:solidFill>
                <a:schemeClr val="dk1"/>
              </a:solidFill>
              <a:latin typeface="Calibri"/>
              <a:ea typeface="Calibri"/>
              <a:cs typeface="Calibri"/>
              <a:sym typeface="Calibri"/>
            </a:endParaRPr>
          </a:p>
        </p:txBody>
      </p:sp>
      <p:sp>
        <p:nvSpPr>
          <p:cNvPr id="207" name="Google Shape;207;g3d4367663e0_1_54"/>
          <p:cNvSpPr/>
          <p:nvPr/>
        </p:nvSpPr>
        <p:spPr>
          <a:xfrm>
            <a:off x="1668879" y="3992795"/>
            <a:ext cx="1645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3460"/>
              </a:buClr>
              <a:buSzPts val="1100"/>
              <a:buFont typeface="Calibri"/>
              <a:buNone/>
            </a:pPr>
            <a:r>
              <a:rPr b="1" lang="en-US" sz="1200">
                <a:solidFill>
                  <a:srgbClr val="0F3460"/>
                </a:solidFill>
                <a:latin typeface="Calibri"/>
                <a:ea typeface="Calibri"/>
                <a:cs typeface="Calibri"/>
                <a:sym typeface="Calibri"/>
              </a:rPr>
              <a:t>GCP ADC</a:t>
            </a:r>
            <a:endParaRPr i="0" sz="1200" u="none" cap="none" strike="noStrike">
              <a:solidFill>
                <a:schemeClr val="dk1"/>
              </a:solidFill>
              <a:latin typeface="Calibri"/>
              <a:ea typeface="Calibri"/>
              <a:cs typeface="Calibri"/>
              <a:sym typeface="Calibri"/>
            </a:endParaRPr>
          </a:p>
        </p:txBody>
      </p:sp>
      <p:sp>
        <p:nvSpPr>
          <p:cNvPr id="208" name="Google Shape;208;g3d4367663e0_1_54"/>
          <p:cNvSpPr/>
          <p:nvPr/>
        </p:nvSpPr>
        <p:spPr>
          <a:xfrm>
            <a:off x="2866270" y="3943591"/>
            <a:ext cx="5394900" cy="384000"/>
          </a:xfrm>
          <a:prstGeom prst="rect">
            <a:avLst/>
          </a:prstGeom>
          <a:noFill/>
          <a:ln>
            <a:noFill/>
          </a:ln>
        </p:spPr>
        <p:txBody>
          <a:bodyPr anchorCtr="0" anchor="ctr" bIns="0" lIns="0" spcFirstLastPara="1" rIns="0" wrap="square" tIns="0">
            <a:noAutofit/>
          </a:bodyPr>
          <a:lstStyle/>
          <a:p>
            <a:pPr indent="-304800" lvl="0" marL="457200" rtl="0" algn="l">
              <a:spcBef>
                <a:spcPts val="0"/>
              </a:spcBef>
              <a:spcAft>
                <a:spcPts val="0"/>
              </a:spcAft>
              <a:buClr>
                <a:srgbClr val="1A1A2E"/>
              </a:buClr>
              <a:buSzPts val="1200"/>
              <a:buFont typeface="Calibri"/>
              <a:buChar char="●"/>
            </a:pPr>
            <a:r>
              <a:rPr lang="en-US" sz="1200">
                <a:solidFill>
                  <a:srgbClr val="3B3B3B"/>
                </a:solidFill>
                <a:latin typeface="Calibri"/>
                <a:ea typeface="Calibri"/>
                <a:cs typeface="Calibri"/>
                <a:sym typeface="Calibri"/>
              </a:rPr>
              <a:t>Application Default Credentials</a:t>
            </a:r>
            <a:endParaRPr sz="1200">
              <a:solidFill>
                <a:srgbClr val="3B3B3B"/>
              </a:solidFill>
              <a:latin typeface="Calibri"/>
              <a:ea typeface="Calibri"/>
              <a:cs typeface="Calibri"/>
              <a:sym typeface="Calibri"/>
            </a:endParaRPr>
          </a:p>
        </p:txBody>
      </p:sp>
      <p:sp>
        <p:nvSpPr>
          <p:cNvPr id="209" name="Google Shape;209;g3d4367663e0_1_54"/>
          <p:cNvSpPr/>
          <p:nvPr/>
        </p:nvSpPr>
        <p:spPr>
          <a:xfrm>
            <a:off x="289002" y="4509225"/>
            <a:ext cx="1234500" cy="420600"/>
          </a:xfrm>
          <a:prstGeom prst="rect">
            <a:avLst/>
          </a:prstGeom>
          <a:solidFill>
            <a:srgbClr val="0F3460"/>
          </a:solidFill>
          <a:ln>
            <a:noFill/>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210" name="Google Shape;210;g3d4367663e0_1_54"/>
          <p:cNvSpPr/>
          <p:nvPr/>
        </p:nvSpPr>
        <p:spPr>
          <a:xfrm>
            <a:off x="289002" y="4505323"/>
            <a:ext cx="12345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200">
                <a:solidFill>
                  <a:srgbClr val="FFFFFF"/>
                </a:solidFill>
                <a:latin typeface="Calibri"/>
                <a:ea typeface="Calibri"/>
                <a:cs typeface="Calibri"/>
                <a:sym typeface="Calibri"/>
              </a:rPr>
              <a:t>Language</a:t>
            </a:r>
            <a:endParaRPr i="0" sz="1200" u="none" cap="none" strike="noStrike">
              <a:solidFill>
                <a:schemeClr val="dk1"/>
              </a:solidFill>
              <a:latin typeface="Calibri"/>
              <a:ea typeface="Calibri"/>
              <a:cs typeface="Calibri"/>
              <a:sym typeface="Calibri"/>
            </a:endParaRPr>
          </a:p>
        </p:txBody>
      </p:sp>
      <p:sp>
        <p:nvSpPr>
          <p:cNvPr id="211" name="Google Shape;211;g3d4367663e0_1_54"/>
          <p:cNvSpPr/>
          <p:nvPr/>
        </p:nvSpPr>
        <p:spPr>
          <a:xfrm>
            <a:off x="1683554" y="4543620"/>
            <a:ext cx="1645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3460"/>
              </a:buClr>
              <a:buSzPts val="1100"/>
              <a:buFont typeface="Calibri"/>
              <a:buNone/>
            </a:pPr>
            <a:r>
              <a:rPr b="1" lang="en-US" sz="1200">
                <a:solidFill>
                  <a:srgbClr val="0F3460"/>
                </a:solidFill>
                <a:latin typeface="Calibri"/>
                <a:ea typeface="Calibri"/>
                <a:cs typeface="Calibri"/>
                <a:sym typeface="Calibri"/>
              </a:rPr>
              <a:t>Python</a:t>
            </a:r>
            <a:endParaRPr i="0" sz="1200" u="none" cap="none" strike="noStrike">
              <a:solidFill>
                <a:schemeClr val="dk1"/>
              </a:solidFill>
              <a:latin typeface="Calibri"/>
              <a:ea typeface="Calibri"/>
              <a:cs typeface="Calibri"/>
              <a:sym typeface="Calibri"/>
            </a:endParaRPr>
          </a:p>
        </p:txBody>
      </p:sp>
      <p:sp>
        <p:nvSpPr>
          <p:cNvPr id="212" name="Google Shape;212;g3d4367663e0_1_54"/>
          <p:cNvSpPr/>
          <p:nvPr/>
        </p:nvSpPr>
        <p:spPr>
          <a:xfrm>
            <a:off x="2866270" y="4494416"/>
            <a:ext cx="5394900" cy="384000"/>
          </a:xfrm>
          <a:prstGeom prst="rect">
            <a:avLst/>
          </a:prstGeom>
          <a:noFill/>
          <a:ln>
            <a:noFill/>
          </a:ln>
        </p:spPr>
        <p:txBody>
          <a:bodyPr anchorCtr="0" anchor="ctr" bIns="0" lIns="0" spcFirstLastPara="1" rIns="0" wrap="square" tIns="0">
            <a:noAutofit/>
          </a:bodyPr>
          <a:lstStyle/>
          <a:p>
            <a:pPr indent="-304800" lvl="0" marL="457200" rtl="0" algn="l">
              <a:spcBef>
                <a:spcPts val="0"/>
              </a:spcBef>
              <a:spcAft>
                <a:spcPts val="0"/>
              </a:spcAft>
              <a:buClr>
                <a:srgbClr val="1A1A2E"/>
              </a:buClr>
              <a:buSzPts val="1200"/>
              <a:buFont typeface="Calibri"/>
              <a:buChar char="●"/>
            </a:pPr>
            <a:r>
              <a:rPr lang="en-US" sz="1200">
                <a:solidFill>
                  <a:srgbClr val="3B3B3B"/>
                </a:solidFill>
                <a:latin typeface="Calibri"/>
                <a:ea typeface="Calibri"/>
                <a:cs typeface="Calibri"/>
                <a:sym typeface="Calibri"/>
              </a:rPr>
              <a:t>Application Default Credentials</a:t>
            </a:r>
            <a:endParaRPr sz="1200">
              <a:solidFill>
                <a:srgbClr val="3B3B3B"/>
              </a:solidFill>
              <a:latin typeface="Calibri"/>
              <a:ea typeface="Calibri"/>
              <a:cs typeface="Calibri"/>
              <a:sym typeface="Calibri"/>
            </a:endParaRPr>
          </a:p>
        </p:txBody>
      </p:sp>
      <p:sp>
        <p:nvSpPr>
          <p:cNvPr id="213" name="Google Shape;213;g3d4367663e0_1_54"/>
          <p:cNvSpPr/>
          <p:nvPr/>
        </p:nvSpPr>
        <p:spPr>
          <a:xfrm>
            <a:off x="274345" y="3216043"/>
            <a:ext cx="8595300" cy="900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214" name="Google Shape;214;g3d4367663e0_1_54"/>
          <p:cNvSpPr/>
          <p:nvPr/>
        </p:nvSpPr>
        <p:spPr>
          <a:xfrm>
            <a:off x="274345" y="3751605"/>
            <a:ext cx="8595300" cy="900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215" name="Google Shape;215;g3d4367663e0_1_54"/>
          <p:cNvSpPr/>
          <p:nvPr/>
        </p:nvSpPr>
        <p:spPr>
          <a:xfrm>
            <a:off x="426720" y="4406518"/>
            <a:ext cx="8595300" cy="900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20" name="Shape 220"/>
        <p:cNvGrpSpPr/>
        <p:nvPr/>
      </p:nvGrpSpPr>
      <p:grpSpPr>
        <a:xfrm>
          <a:off x="0" y="0"/>
          <a:ext cx="0" cy="0"/>
          <a:chOff x="0" y="0"/>
          <a:chExt cx="0" cy="0"/>
        </a:xfrm>
      </p:grpSpPr>
      <p:sp>
        <p:nvSpPr>
          <p:cNvPr id="221" name="Google Shape;221;g3d4367663e0_1_11"/>
          <p:cNvSpPr/>
          <p:nvPr/>
        </p:nvSpPr>
        <p:spPr>
          <a:xfrm>
            <a:off x="0" y="0"/>
            <a:ext cx="9144000" cy="7773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g3d4367663e0_1_11"/>
          <p:cNvSpPr/>
          <p:nvPr/>
        </p:nvSpPr>
        <p:spPr>
          <a:xfrm>
            <a:off x="193621" y="91440"/>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Calibri"/>
              <a:buNone/>
            </a:pPr>
            <a:r>
              <a:rPr b="1" lang="en-US" sz="2400">
                <a:solidFill>
                  <a:srgbClr val="FFFFFF"/>
                </a:solidFill>
                <a:latin typeface="Calibri"/>
                <a:ea typeface="Calibri"/>
                <a:cs typeface="Calibri"/>
                <a:sym typeface="Calibri"/>
              </a:rPr>
              <a:t>Architectural</a:t>
            </a:r>
            <a:r>
              <a:rPr b="1" i="0" lang="en-US" sz="2400" u="none" cap="none" strike="noStrike">
                <a:solidFill>
                  <a:srgbClr val="FFFFFF"/>
                </a:solidFill>
                <a:latin typeface="Calibri"/>
                <a:ea typeface="Calibri"/>
                <a:cs typeface="Calibri"/>
                <a:sym typeface="Calibri"/>
              </a:rPr>
              <a:t> Design </a:t>
            </a:r>
            <a:endParaRPr b="0" i="0" sz="2400" u="none" cap="none" strike="noStrike">
              <a:solidFill>
                <a:schemeClr val="dk1"/>
              </a:solidFill>
              <a:latin typeface="Calibri"/>
              <a:ea typeface="Calibri"/>
              <a:cs typeface="Calibri"/>
              <a:sym typeface="Calibri"/>
            </a:endParaRPr>
          </a:p>
        </p:txBody>
      </p:sp>
      <p:sp>
        <p:nvSpPr>
          <p:cNvPr id="223" name="Google Shape;223;g3d4367663e0_1_11"/>
          <p:cNvSpPr txBox="1"/>
          <p:nvPr/>
        </p:nvSpPr>
        <p:spPr>
          <a:xfrm>
            <a:off x="0" y="909175"/>
            <a:ext cx="9290700" cy="4338600"/>
          </a:xfrm>
          <a:prstGeom prst="rect">
            <a:avLst/>
          </a:prstGeom>
          <a:noFill/>
          <a:ln>
            <a:noFill/>
          </a:ln>
        </p:spPr>
        <p:txBody>
          <a:bodyPr anchorCtr="0" anchor="t" bIns="91425" lIns="91425" spcFirstLastPara="1" rIns="91425" wrap="square" tIns="91425">
            <a:spAutoFit/>
          </a:bodyPr>
          <a:lstStyle/>
          <a:p>
            <a:pPr indent="0" lvl="0" marL="0" rtl="0" algn="l">
              <a:lnSpc>
                <a:spcPct val="40000"/>
              </a:lnSpc>
              <a:spcBef>
                <a:spcPts val="1400"/>
              </a:spcBef>
              <a:spcAft>
                <a:spcPts val="0"/>
              </a:spcAft>
              <a:buNone/>
            </a:pPr>
            <a:r>
              <a:rPr b="1" lang="en-US">
                <a:solidFill>
                  <a:srgbClr val="3B3B3B"/>
                </a:solidFill>
                <a:latin typeface="Calibri"/>
                <a:ea typeface="Calibri"/>
                <a:cs typeface="Calibri"/>
                <a:sym typeface="Calibri"/>
              </a:rPr>
              <a:t>1: DuckDB as Local Staging Layer</a:t>
            </a:r>
            <a:endParaRPr b="1">
              <a:solidFill>
                <a:srgbClr val="3B3B3B"/>
              </a:solidFill>
              <a:latin typeface="Calibri"/>
              <a:ea typeface="Calibri"/>
              <a:cs typeface="Calibri"/>
              <a:sym typeface="Calibri"/>
            </a:endParaRPr>
          </a:p>
          <a:p>
            <a:pPr indent="0" lvl="0" marL="0" rtl="0" algn="l">
              <a:lnSpc>
                <a:spcPct val="40000"/>
              </a:lnSpc>
              <a:spcBef>
                <a:spcPts val="1400"/>
              </a:spcBef>
              <a:spcAft>
                <a:spcPts val="0"/>
              </a:spcAft>
              <a:buNone/>
            </a:pPr>
            <a:r>
              <a:rPr lang="en-US" sz="1200">
                <a:solidFill>
                  <a:srgbClr val="3B3B3B"/>
                </a:solidFill>
                <a:latin typeface="Calibri"/>
                <a:ea typeface="Calibri"/>
                <a:cs typeface="Calibri"/>
                <a:sym typeface="Calibri"/>
              </a:rPr>
              <a:t> DuckDB before BigQuerY </a:t>
            </a:r>
            <a:endParaRPr b="1"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lang="en-US" sz="1200">
                <a:solidFill>
                  <a:srgbClr val="3B3B3B"/>
                </a:solidFill>
                <a:latin typeface="Calibri"/>
                <a:ea typeface="Calibri"/>
                <a:cs typeface="Calibri"/>
                <a:sym typeface="Calibri"/>
              </a:rPr>
              <a:t>Validate data quality locally before paying for BigQuery compute</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lang="en-US" sz="1200">
                <a:solidFill>
                  <a:srgbClr val="3B3B3B"/>
                </a:solidFill>
                <a:latin typeface="Calibri"/>
                <a:ea typeface="Calibri"/>
                <a:cs typeface="Calibri"/>
                <a:sym typeface="Calibri"/>
              </a:rPr>
              <a:t>Fast columnar queries on CSV without a running database server</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lang="en-US" sz="1200">
                <a:solidFill>
                  <a:srgbClr val="3B3B3B"/>
                </a:solidFill>
                <a:latin typeface="Calibri"/>
                <a:ea typeface="Calibri"/>
                <a:cs typeface="Calibri"/>
                <a:sym typeface="Calibri"/>
              </a:rPr>
              <a:t>Zero-config — single file database</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lang="en-US" sz="1200">
                <a:solidFill>
                  <a:srgbClr val="3B3B3B"/>
                </a:solidFill>
                <a:latin typeface="Calibri"/>
                <a:ea typeface="Calibri"/>
                <a:cs typeface="Calibri"/>
                <a:sym typeface="Calibri"/>
              </a:rPr>
              <a:t>Acts as a fallback if cloud is unavailable</a:t>
            </a:r>
            <a:endParaRPr sz="1200">
              <a:solidFill>
                <a:srgbClr val="3B3B3B"/>
              </a:solidFill>
              <a:latin typeface="Calibri"/>
              <a:ea typeface="Calibri"/>
              <a:cs typeface="Calibri"/>
              <a:sym typeface="Calibri"/>
            </a:endParaRPr>
          </a:p>
          <a:p>
            <a:pPr indent="0" lvl="0" marL="0" rtl="0" algn="l">
              <a:lnSpc>
                <a:spcPct val="40000"/>
              </a:lnSpc>
              <a:spcBef>
                <a:spcPts val="1400"/>
              </a:spcBef>
              <a:spcAft>
                <a:spcPts val="0"/>
              </a:spcAft>
              <a:buNone/>
            </a:pPr>
            <a:r>
              <a:rPr b="1" lang="en-US">
                <a:solidFill>
                  <a:srgbClr val="3B3B3B"/>
                </a:solidFill>
                <a:latin typeface="Calibri"/>
                <a:ea typeface="Calibri"/>
                <a:cs typeface="Calibri"/>
                <a:sym typeface="Calibri"/>
              </a:rPr>
              <a:t>2. </a:t>
            </a:r>
            <a:r>
              <a:rPr b="1" lang="en-US">
                <a:solidFill>
                  <a:srgbClr val="3B3B3B"/>
                </a:solidFill>
                <a:latin typeface="Calibri"/>
                <a:ea typeface="Calibri"/>
                <a:cs typeface="Calibri"/>
                <a:sym typeface="Calibri"/>
              </a:rPr>
              <a:t>Meltano for Extract &amp; Load : </a:t>
            </a:r>
            <a:endParaRPr b="1">
              <a:solidFill>
                <a:srgbClr val="3B3B3B"/>
              </a:solidFill>
              <a:latin typeface="Calibri"/>
              <a:ea typeface="Calibri"/>
              <a:cs typeface="Calibri"/>
              <a:sym typeface="Calibri"/>
            </a:endParaRPr>
          </a:p>
          <a:p>
            <a:pPr indent="0" lvl="0" marL="0" rtl="0" algn="l">
              <a:lnSpc>
                <a:spcPct val="40000"/>
              </a:lnSpc>
              <a:spcBef>
                <a:spcPts val="1400"/>
              </a:spcBef>
              <a:spcAft>
                <a:spcPts val="0"/>
              </a:spcAft>
              <a:buNone/>
            </a:pPr>
            <a:r>
              <a:rPr lang="en-US" sz="1200">
                <a:solidFill>
                  <a:srgbClr val="3B3B3B"/>
                </a:solidFill>
                <a:latin typeface="Calibri"/>
                <a:ea typeface="Calibri"/>
                <a:cs typeface="Calibri"/>
                <a:sym typeface="Calibri"/>
              </a:rPr>
              <a:t>2.1 Extract: </a:t>
            </a:r>
            <a:r>
              <a:rPr lang="en-US" sz="1200">
                <a:solidFill>
                  <a:srgbClr val="3B3B3B"/>
                </a:solidFill>
                <a:latin typeface="Calibri"/>
                <a:ea typeface="Calibri"/>
                <a:cs typeface="Calibri"/>
                <a:sym typeface="Calibri"/>
              </a:rPr>
              <a:t>Meltano 4.1.2 with tap-csv + target-bigquery</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Roboto"/>
              <a:buChar char="●"/>
            </a:pPr>
            <a:r>
              <a:rPr lang="en-US" sz="1200">
                <a:solidFill>
                  <a:srgbClr val="3B3B3B"/>
                </a:solidFill>
                <a:latin typeface="Calibri"/>
                <a:ea typeface="Calibri"/>
                <a:cs typeface="Calibri"/>
                <a:sym typeface="Calibri"/>
              </a:rPr>
              <a:t>D</a:t>
            </a:r>
            <a:r>
              <a:rPr lang="en-US" sz="1200">
                <a:solidFill>
                  <a:srgbClr val="3B3B3B"/>
                </a:solidFill>
                <a:latin typeface="Calibri"/>
                <a:ea typeface="Calibri"/>
                <a:cs typeface="Calibri"/>
                <a:sym typeface="Calibri"/>
              </a:rPr>
              <a:t>eclarative config in meltano.yml — reproducible and version-controllable</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lang="en-US" sz="1200">
                <a:solidFill>
                  <a:srgbClr val="3B3B3B"/>
                </a:solidFill>
                <a:latin typeface="Calibri"/>
                <a:ea typeface="Calibri"/>
                <a:cs typeface="Calibri"/>
                <a:sym typeface="Calibri"/>
              </a:rPr>
              <a:t>Singer protocol ensures compatibility between any tap and target</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lang="en-US" sz="1200">
                <a:solidFill>
                  <a:srgbClr val="3B3B3B"/>
                </a:solidFill>
                <a:latin typeface="Calibri"/>
                <a:ea typeface="Calibri"/>
                <a:cs typeface="Calibri"/>
                <a:sym typeface="Calibri"/>
              </a:rPr>
              <a:t>Handles incremental state, retries, and logging out of the box</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lang="en-US" sz="1200">
                <a:solidFill>
                  <a:srgbClr val="3B3B3B"/>
                </a:solidFill>
                <a:latin typeface="Calibri"/>
                <a:ea typeface="Calibri"/>
                <a:cs typeface="Calibri"/>
                <a:sym typeface="Calibri"/>
              </a:rPr>
              <a:t>Separates EL from transformation (EL tool should not transform data)</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b="1" lang="en-US" sz="1200">
                <a:solidFill>
                  <a:srgbClr val="3B3B3B"/>
                </a:solidFill>
                <a:latin typeface="Calibri"/>
                <a:ea typeface="Calibri"/>
                <a:cs typeface="Calibri"/>
                <a:sym typeface="Calibri"/>
              </a:rPr>
              <a:t>Raw Layer — No Transformations at Load Time</a:t>
            </a:r>
            <a:endParaRPr b="1" sz="1200">
              <a:solidFill>
                <a:srgbClr val="3B3B3B"/>
              </a:solidFill>
              <a:latin typeface="Calibri"/>
              <a:ea typeface="Calibri"/>
              <a:cs typeface="Calibri"/>
              <a:sym typeface="Calibri"/>
            </a:endParaRPr>
          </a:p>
          <a:p>
            <a:pPr indent="0" lvl="0" marL="0" rtl="0" algn="l">
              <a:lnSpc>
                <a:spcPct val="40000"/>
              </a:lnSpc>
              <a:spcBef>
                <a:spcPts val="1400"/>
              </a:spcBef>
              <a:spcAft>
                <a:spcPts val="0"/>
              </a:spcAft>
              <a:buNone/>
            </a:pPr>
            <a:r>
              <a:rPr lang="en-US" sz="1200">
                <a:solidFill>
                  <a:srgbClr val="3B3B3B"/>
                </a:solidFill>
                <a:latin typeface="Calibri"/>
                <a:ea typeface="Calibri"/>
                <a:cs typeface="Calibri"/>
                <a:sym typeface="Calibri"/>
              </a:rPr>
              <a:t> 2.2 </a:t>
            </a:r>
            <a:r>
              <a:rPr b="1" lang="en-US" sz="1200">
                <a:solidFill>
                  <a:srgbClr val="3B3B3B"/>
                </a:solidFill>
                <a:latin typeface="Calibri"/>
                <a:ea typeface="Calibri"/>
                <a:cs typeface="Calibri"/>
                <a:sym typeface="Calibri"/>
              </a:rPr>
              <a:t>Load </a:t>
            </a:r>
            <a:r>
              <a:rPr lang="en-US" sz="1200">
                <a:solidFill>
                  <a:srgbClr val="3B3B3B"/>
                </a:solidFill>
                <a:latin typeface="Calibri"/>
                <a:ea typeface="Calibri"/>
                <a:cs typeface="Calibri"/>
                <a:sym typeface="Calibri"/>
              </a:rPr>
              <a:t>data exactly as-is into BigQuery raw tables- </a:t>
            </a:r>
            <a:r>
              <a:rPr lang="en-US" sz="1200">
                <a:solidFill>
                  <a:srgbClr val="3B3B3B"/>
                </a:solidFill>
                <a:latin typeface="Calibri"/>
                <a:ea typeface="Calibri"/>
                <a:cs typeface="Calibri"/>
                <a:sym typeface="Calibri"/>
              </a:rPr>
              <a:t>Raw → Staging → Mart</a:t>
            </a:r>
            <a:endParaRPr b="1"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lang="en-US" sz="1200">
                <a:solidFill>
                  <a:srgbClr val="3B3B3B"/>
                </a:solidFill>
                <a:latin typeface="Calibri"/>
                <a:ea typeface="Calibri"/>
                <a:cs typeface="Calibri"/>
                <a:sym typeface="Calibri"/>
              </a:rPr>
              <a:t>Preserves original data — always possible to re-transform from raw</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lang="en-US" sz="1200">
                <a:solidFill>
                  <a:srgbClr val="3B3B3B"/>
                </a:solidFill>
                <a:latin typeface="Calibri"/>
                <a:ea typeface="Calibri"/>
                <a:cs typeface="Calibri"/>
                <a:sym typeface="Calibri"/>
              </a:rPr>
              <a:t>Separates concerns — EL tool does not transform, dbt does</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400"/>
              </a:spcAft>
              <a:buClr>
                <a:srgbClr val="3B3B3B"/>
              </a:buClr>
              <a:buSzPts val="1200"/>
              <a:buFont typeface="Calibri"/>
              <a:buChar char="●"/>
            </a:pPr>
            <a:r>
              <a:rPr lang="en-US" sz="1200">
                <a:solidFill>
                  <a:srgbClr val="3B3B3B"/>
                </a:solidFill>
                <a:latin typeface="Calibri"/>
                <a:ea typeface="Calibri"/>
                <a:cs typeface="Calibri"/>
                <a:sym typeface="Calibri"/>
              </a:rPr>
              <a:t>Easier debugging — if mart is wrong, raw data is unchanged</a:t>
            </a:r>
            <a:endParaRPr sz="1200">
              <a:solidFill>
                <a:srgbClr val="3B3B3B"/>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28" name="Shape 228"/>
        <p:cNvGrpSpPr/>
        <p:nvPr/>
      </p:nvGrpSpPr>
      <p:grpSpPr>
        <a:xfrm>
          <a:off x="0" y="0"/>
          <a:ext cx="0" cy="0"/>
          <a:chOff x="0" y="0"/>
          <a:chExt cx="0" cy="0"/>
        </a:xfrm>
      </p:grpSpPr>
      <p:sp>
        <p:nvSpPr>
          <p:cNvPr id="229" name="Google Shape;229;g3d4367663e0_1_119"/>
          <p:cNvSpPr/>
          <p:nvPr/>
        </p:nvSpPr>
        <p:spPr>
          <a:xfrm>
            <a:off x="0" y="0"/>
            <a:ext cx="9144000" cy="7773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g3d4367663e0_1_119"/>
          <p:cNvSpPr/>
          <p:nvPr/>
        </p:nvSpPr>
        <p:spPr>
          <a:xfrm>
            <a:off x="255856" y="91440"/>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Calibri"/>
              <a:buNone/>
            </a:pPr>
            <a:r>
              <a:rPr b="1" lang="en-US" sz="2400">
                <a:solidFill>
                  <a:srgbClr val="FFFFFF"/>
                </a:solidFill>
                <a:latin typeface="Calibri"/>
                <a:ea typeface="Calibri"/>
                <a:cs typeface="Calibri"/>
                <a:sym typeface="Calibri"/>
              </a:rPr>
              <a:t>Architectural</a:t>
            </a:r>
            <a:r>
              <a:rPr b="1" i="0" lang="en-US" sz="2400" u="none" cap="none" strike="noStrike">
                <a:solidFill>
                  <a:srgbClr val="FFFFFF"/>
                </a:solidFill>
                <a:latin typeface="Calibri"/>
                <a:ea typeface="Calibri"/>
                <a:cs typeface="Calibri"/>
                <a:sym typeface="Calibri"/>
              </a:rPr>
              <a:t> Design</a:t>
            </a:r>
            <a:endParaRPr b="0" i="0" sz="2400" u="none" cap="none" strike="noStrike">
              <a:solidFill>
                <a:schemeClr val="dk1"/>
              </a:solidFill>
              <a:latin typeface="Calibri"/>
              <a:ea typeface="Calibri"/>
              <a:cs typeface="Calibri"/>
              <a:sym typeface="Calibri"/>
            </a:endParaRPr>
          </a:p>
        </p:txBody>
      </p:sp>
      <p:sp>
        <p:nvSpPr>
          <p:cNvPr id="231" name="Google Shape;231;g3d4367663e0_1_119"/>
          <p:cNvSpPr txBox="1"/>
          <p:nvPr/>
        </p:nvSpPr>
        <p:spPr>
          <a:xfrm>
            <a:off x="0" y="777300"/>
            <a:ext cx="8387400" cy="3561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a:solidFill>
                  <a:srgbClr val="3B3B3B"/>
                </a:solidFill>
                <a:latin typeface="Calibri"/>
                <a:ea typeface="Calibri"/>
                <a:cs typeface="Calibri"/>
                <a:sym typeface="Calibri"/>
              </a:rPr>
              <a:t>3. </a:t>
            </a:r>
            <a:r>
              <a:rPr b="1" lang="en-US">
                <a:solidFill>
                  <a:srgbClr val="3B3B3B"/>
                </a:solidFill>
                <a:latin typeface="Calibri"/>
                <a:ea typeface="Calibri"/>
                <a:cs typeface="Calibri"/>
                <a:sym typeface="Calibri"/>
              </a:rPr>
              <a:t>dbt for Transformations: </a:t>
            </a:r>
            <a:r>
              <a:rPr lang="en-US">
                <a:solidFill>
                  <a:srgbClr val="3B3B3B"/>
                </a:solidFill>
                <a:latin typeface="Calibri"/>
                <a:ea typeface="Calibri"/>
                <a:cs typeface="Calibri"/>
                <a:sym typeface="Calibri"/>
              </a:rPr>
              <a:t>dbt-bigquery with staging + mart layers</a:t>
            </a:r>
            <a:endParaRPr b="1">
              <a:solidFill>
                <a:srgbClr val="3B3B3B"/>
              </a:solidFill>
              <a:latin typeface="Calibri"/>
              <a:ea typeface="Calibri"/>
              <a:cs typeface="Calibri"/>
              <a:sym typeface="Calibri"/>
            </a:endParaRPr>
          </a:p>
          <a:p>
            <a:pPr indent="-292100" lvl="0" marL="457200" rtl="0" algn="l">
              <a:lnSpc>
                <a:spcPct val="115000"/>
              </a:lnSpc>
              <a:spcBef>
                <a:spcPts val="1000"/>
              </a:spcBef>
              <a:spcAft>
                <a:spcPts val="0"/>
              </a:spcAft>
              <a:buClr>
                <a:srgbClr val="3B3B3B"/>
              </a:buClr>
              <a:buSzPts val="1000"/>
              <a:buFont typeface="Roboto"/>
              <a:buChar char="●"/>
            </a:pPr>
            <a:r>
              <a:rPr lang="en-US" sz="1000">
                <a:solidFill>
                  <a:srgbClr val="3B3B3B"/>
                </a:solidFill>
                <a:latin typeface="Roboto"/>
                <a:ea typeface="Roboto"/>
                <a:cs typeface="Roboto"/>
                <a:sym typeface="Roboto"/>
              </a:rPr>
              <a:t>SQL-based — easy to audit, version control, and test</a:t>
            </a:r>
            <a:endParaRPr sz="1000">
              <a:solidFill>
                <a:srgbClr val="3B3B3B"/>
              </a:solidFill>
              <a:latin typeface="Roboto"/>
              <a:ea typeface="Roboto"/>
              <a:cs typeface="Roboto"/>
              <a:sym typeface="Roboto"/>
            </a:endParaRPr>
          </a:p>
          <a:p>
            <a:pPr indent="-292100" lvl="0" marL="457200" rtl="0" algn="l">
              <a:lnSpc>
                <a:spcPct val="115000"/>
              </a:lnSpc>
              <a:spcBef>
                <a:spcPts val="0"/>
              </a:spcBef>
              <a:spcAft>
                <a:spcPts val="0"/>
              </a:spcAft>
              <a:buClr>
                <a:srgbClr val="3B3B3B"/>
              </a:buClr>
              <a:buSzPts val="1000"/>
              <a:buFont typeface="Roboto"/>
              <a:buChar char="●"/>
            </a:pPr>
            <a:r>
              <a:rPr lang="en-US" sz="1000">
                <a:solidFill>
                  <a:srgbClr val="3B3B3B"/>
                </a:solidFill>
                <a:latin typeface="Roboto"/>
                <a:ea typeface="Roboto"/>
                <a:cs typeface="Roboto"/>
                <a:sym typeface="Roboto"/>
              </a:rPr>
              <a:t>Built-in data quality tests (</a:t>
            </a:r>
            <a:r>
              <a:rPr lang="en-US" sz="900">
                <a:solidFill>
                  <a:srgbClr val="3B3B3B"/>
                </a:solidFill>
                <a:latin typeface="Roboto Mono"/>
                <a:ea typeface="Roboto Mono"/>
                <a:cs typeface="Roboto Mono"/>
                <a:sym typeface="Roboto Mono"/>
              </a:rPr>
              <a:t>not_null</a:t>
            </a:r>
            <a:r>
              <a:rPr lang="en-US" sz="1000">
                <a:solidFill>
                  <a:srgbClr val="3B3B3B"/>
                </a:solidFill>
                <a:latin typeface="Roboto"/>
                <a:ea typeface="Roboto"/>
                <a:cs typeface="Roboto"/>
                <a:sym typeface="Roboto"/>
              </a:rPr>
              <a:t>, </a:t>
            </a:r>
            <a:r>
              <a:rPr lang="en-US" sz="900">
                <a:solidFill>
                  <a:srgbClr val="3B3B3B"/>
                </a:solidFill>
                <a:latin typeface="Roboto Mono"/>
                <a:ea typeface="Roboto Mono"/>
                <a:cs typeface="Roboto Mono"/>
                <a:sym typeface="Roboto Mono"/>
              </a:rPr>
              <a:t>unique</a:t>
            </a:r>
            <a:r>
              <a:rPr lang="en-US" sz="1000">
                <a:solidFill>
                  <a:srgbClr val="3B3B3B"/>
                </a:solidFill>
                <a:latin typeface="Roboto"/>
                <a:ea typeface="Roboto"/>
                <a:cs typeface="Roboto"/>
                <a:sym typeface="Roboto"/>
              </a:rPr>
              <a:t>, </a:t>
            </a:r>
            <a:r>
              <a:rPr lang="en-US" sz="900">
                <a:solidFill>
                  <a:srgbClr val="3B3B3B"/>
                </a:solidFill>
                <a:latin typeface="Roboto Mono"/>
                <a:ea typeface="Roboto Mono"/>
                <a:cs typeface="Roboto Mono"/>
                <a:sym typeface="Roboto Mono"/>
              </a:rPr>
              <a:t>accepted_values</a:t>
            </a:r>
            <a:r>
              <a:rPr lang="en-US" sz="1000">
                <a:solidFill>
                  <a:srgbClr val="3B3B3B"/>
                </a:solidFill>
                <a:latin typeface="Roboto"/>
                <a:ea typeface="Roboto"/>
                <a:cs typeface="Roboto"/>
                <a:sym typeface="Roboto"/>
              </a:rPr>
              <a:t>)</a:t>
            </a:r>
            <a:endParaRPr sz="1000">
              <a:solidFill>
                <a:srgbClr val="3B3B3B"/>
              </a:solidFill>
              <a:latin typeface="Roboto"/>
              <a:ea typeface="Roboto"/>
              <a:cs typeface="Roboto"/>
              <a:sym typeface="Roboto"/>
            </a:endParaRPr>
          </a:p>
          <a:p>
            <a:pPr indent="-292100" lvl="0" marL="457200" rtl="0" algn="l">
              <a:lnSpc>
                <a:spcPct val="115000"/>
              </a:lnSpc>
              <a:spcBef>
                <a:spcPts val="0"/>
              </a:spcBef>
              <a:spcAft>
                <a:spcPts val="0"/>
              </a:spcAft>
              <a:buClr>
                <a:srgbClr val="3B3B3B"/>
              </a:buClr>
              <a:buSzPts val="1000"/>
              <a:buFont typeface="Roboto"/>
              <a:buChar char="●"/>
            </a:pPr>
            <a:r>
              <a:rPr lang="en-US" sz="1000">
                <a:solidFill>
                  <a:srgbClr val="3B3B3B"/>
                </a:solidFill>
                <a:latin typeface="Roboto"/>
                <a:ea typeface="Roboto"/>
                <a:cs typeface="Roboto"/>
                <a:sym typeface="Roboto"/>
              </a:rPr>
              <a:t>Dependency graph — dbt knows staging must run before mart</a:t>
            </a:r>
            <a:endParaRPr sz="1000">
              <a:solidFill>
                <a:srgbClr val="3B3B3B"/>
              </a:solidFill>
              <a:latin typeface="Roboto"/>
              <a:ea typeface="Roboto"/>
              <a:cs typeface="Roboto"/>
              <a:sym typeface="Roboto"/>
            </a:endParaRPr>
          </a:p>
          <a:p>
            <a:pPr indent="-292100" lvl="0" marL="457200" rtl="0" algn="l">
              <a:lnSpc>
                <a:spcPct val="115000"/>
              </a:lnSpc>
              <a:spcBef>
                <a:spcPts val="0"/>
              </a:spcBef>
              <a:spcAft>
                <a:spcPts val="0"/>
              </a:spcAft>
              <a:buClr>
                <a:srgbClr val="3B3B3B"/>
              </a:buClr>
              <a:buSzPts val="1000"/>
              <a:buFont typeface="Roboto"/>
              <a:buChar char="●"/>
            </a:pPr>
            <a:r>
              <a:rPr lang="en-US" sz="1000">
                <a:solidFill>
                  <a:srgbClr val="3B3B3B"/>
                </a:solidFill>
                <a:latin typeface="Roboto"/>
                <a:ea typeface="Roboto"/>
                <a:cs typeface="Roboto"/>
                <a:sym typeface="Roboto"/>
              </a:rPr>
              <a:t>Creates views in BigQuery — no data duplication, always fresh</a:t>
            </a:r>
            <a:endParaRPr sz="1000">
              <a:solidFill>
                <a:srgbClr val="3B3B3B"/>
              </a:solidFill>
              <a:latin typeface="Roboto"/>
              <a:ea typeface="Roboto"/>
              <a:cs typeface="Roboto"/>
              <a:sym typeface="Roboto"/>
            </a:endParaRPr>
          </a:p>
          <a:p>
            <a:pPr indent="0" lvl="0" marL="0" rtl="0" algn="l">
              <a:lnSpc>
                <a:spcPct val="115000"/>
              </a:lnSpc>
              <a:spcBef>
                <a:spcPts val="1000"/>
              </a:spcBef>
              <a:spcAft>
                <a:spcPts val="0"/>
              </a:spcAft>
              <a:buNone/>
            </a:pPr>
            <a:r>
              <a:rPr b="1" lang="en-US" sz="1000">
                <a:solidFill>
                  <a:srgbClr val="3B3B3B"/>
                </a:solidFill>
                <a:latin typeface="Roboto"/>
                <a:ea typeface="Roboto"/>
                <a:cs typeface="Roboto"/>
                <a:sym typeface="Roboto"/>
              </a:rPr>
              <a:t>Models designed:</a:t>
            </a:r>
            <a:endParaRPr b="1" sz="1000">
              <a:solidFill>
                <a:srgbClr val="3B3B3B"/>
              </a:solidFill>
              <a:latin typeface="Roboto"/>
              <a:ea typeface="Roboto"/>
              <a:cs typeface="Roboto"/>
              <a:sym typeface="Roboto"/>
            </a:endParaRPr>
          </a:p>
          <a:p>
            <a:pPr indent="0" lvl="0" marL="0" rtl="0" algn="l">
              <a:spcBef>
                <a:spcPts val="200"/>
              </a:spcBef>
              <a:spcAft>
                <a:spcPts val="0"/>
              </a:spcAft>
              <a:buNone/>
            </a:pPr>
            <a:r>
              <a:rPr lang="en-US" sz="900">
                <a:solidFill>
                  <a:srgbClr val="3B3B3B"/>
                </a:solidFill>
                <a:latin typeface="Roboto"/>
                <a:ea typeface="Roboto"/>
                <a:cs typeface="Roboto"/>
                <a:sym typeface="Roboto"/>
              </a:rPr>
              <a:t>raw_oil_prices  →  stg_oil_prices  ─┐</a:t>
            </a:r>
            <a:endParaRPr sz="900">
              <a:solidFill>
                <a:srgbClr val="3B3B3B"/>
              </a:solidFill>
              <a:latin typeface="Roboto"/>
              <a:ea typeface="Roboto"/>
              <a:cs typeface="Roboto"/>
              <a:sym typeface="Roboto"/>
            </a:endParaRPr>
          </a:p>
          <a:p>
            <a:pPr indent="0" lvl="0" marL="0" rtl="0" algn="l">
              <a:spcBef>
                <a:spcPts val="0"/>
              </a:spcBef>
              <a:spcAft>
                <a:spcPts val="0"/>
              </a:spcAft>
              <a:buNone/>
            </a:pPr>
            <a:r>
              <a:rPr lang="en-US" sz="900">
                <a:solidFill>
                  <a:srgbClr val="3B3B3B"/>
                </a:solidFill>
                <a:latin typeface="Roboto"/>
                <a:ea typeface="Roboto"/>
                <a:cs typeface="Roboto"/>
                <a:sym typeface="Roboto"/>
              </a:rPr>
              <a:t>                                     ├→  mart_oil_geopolitics</a:t>
            </a:r>
            <a:endParaRPr sz="900">
              <a:solidFill>
                <a:srgbClr val="3B3B3B"/>
              </a:solidFill>
              <a:latin typeface="Roboto"/>
              <a:ea typeface="Roboto"/>
              <a:cs typeface="Roboto"/>
              <a:sym typeface="Roboto"/>
            </a:endParaRPr>
          </a:p>
          <a:p>
            <a:pPr indent="0" lvl="0" marL="0" rtl="0" algn="l">
              <a:spcBef>
                <a:spcPts val="0"/>
              </a:spcBef>
              <a:spcAft>
                <a:spcPts val="0"/>
              </a:spcAft>
              <a:buNone/>
            </a:pPr>
            <a:r>
              <a:rPr lang="en-US" sz="900">
                <a:solidFill>
                  <a:srgbClr val="3B3B3B"/>
                </a:solidFill>
                <a:latin typeface="Roboto"/>
                <a:ea typeface="Roboto"/>
                <a:cs typeface="Roboto"/>
                <a:sym typeface="Roboto"/>
              </a:rPr>
              <a:t>raw_geo_events  →  stg_geo_events  ─┘</a:t>
            </a:r>
            <a:endParaRPr sz="900">
              <a:solidFill>
                <a:srgbClr val="3B3B3B"/>
              </a:solidFill>
              <a:latin typeface="Roboto"/>
              <a:ea typeface="Roboto"/>
              <a:cs typeface="Roboto"/>
              <a:sym typeface="Roboto"/>
            </a:endParaRPr>
          </a:p>
          <a:p>
            <a:pPr indent="0" lvl="0" marL="0" rtl="0" algn="l">
              <a:lnSpc>
                <a:spcPct val="115000"/>
              </a:lnSpc>
              <a:spcBef>
                <a:spcPts val="1400"/>
              </a:spcBef>
              <a:spcAft>
                <a:spcPts val="0"/>
              </a:spcAft>
              <a:buNone/>
            </a:pPr>
            <a:r>
              <a:rPr b="1" lang="en-US">
                <a:solidFill>
                  <a:srgbClr val="3B3B3B"/>
                </a:solidFill>
                <a:latin typeface="Calibri"/>
                <a:ea typeface="Calibri"/>
                <a:cs typeface="Calibri"/>
                <a:sym typeface="Calibri"/>
              </a:rPr>
              <a:t>4. </a:t>
            </a:r>
            <a:r>
              <a:rPr b="1" lang="en-US">
                <a:solidFill>
                  <a:srgbClr val="3B3B3B"/>
                </a:solidFill>
                <a:latin typeface="Calibri"/>
                <a:ea typeface="Calibri"/>
                <a:cs typeface="Calibri"/>
                <a:sym typeface="Calibri"/>
              </a:rPr>
              <a:t>: Dagster for Orchestration: </a:t>
            </a:r>
            <a:r>
              <a:rPr lang="en-US">
                <a:solidFill>
                  <a:srgbClr val="3B3B3B"/>
                </a:solidFill>
                <a:latin typeface="Calibri"/>
                <a:ea typeface="Calibri"/>
                <a:cs typeface="Calibri"/>
                <a:sym typeface="Calibri"/>
              </a:rPr>
              <a:t> Dagster with 3 software-defined assets</a:t>
            </a:r>
            <a:endParaRPr b="1">
              <a:solidFill>
                <a:srgbClr val="3B3B3B"/>
              </a:solidFill>
              <a:latin typeface="Calibri"/>
              <a:ea typeface="Calibri"/>
              <a:cs typeface="Calibri"/>
              <a:sym typeface="Calibri"/>
            </a:endParaRPr>
          </a:p>
          <a:p>
            <a:pPr indent="-292100" lvl="0" marL="457200" rtl="0" algn="l">
              <a:lnSpc>
                <a:spcPct val="115000"/>
              </a:lnSpc>
              <a:spcBef>
                <a:spcPts val="1000"/>
              </a:spcBef>
              <a:spcAft>
                <a:spcPts val="0"/>
              </a:spcAft>
              <a:buClr>
                <a:srgbClr val="3B3B3B"/>
              </a:buClr>
              <a:buSzPts val="1000"/>
              <a:buFont typeface="Roboto"/>
              <a:buChar char="●"/>
            </a:pPr>
            <a:r>
              <a:rPr lang="en-US" sz="1000">
                <a:solidFill>
                  <a:srgbClr val="3B3B3B"/>
                </a:solidFill>
                <a:latin typeface="Roboto"/>
                <a:ea typeface="Roboto"/>
                <a:cs typeface="Roboto"/>
                <a:sym typeface="Roboto"/>
              </a:rPr>
              <a:t>Asset-based model — each step is a testable, observable unit</a:t>
            </a:r>
            <a:endParaRPr sz="1000">
              <a:solidFill>
                <a:srgbClr val="3B3B3B"/>
              </a:solidFill>
              <a:latin typeface="Roboto"/>
              <a:ea typeface="Roboto"/>
              <a:cs typeface="Roboto"/>
              <a:sym typeface="Roboto"/>
            </a:endParaRPr>
          </a:p>
          <a:p>
            <a:pPr indent="-292100" lvl="0" marL="457200" rtl="0" algn="l">
              <a:lnSpc>
                <a:spcPct val="115000"/>
              </a:lnSpc>
              <a:spcBef>
                <a:spcPts val="0"/>
              </a:spcBef>
              <a:spcAft>
                <a:spcPts val="0"/>
              </a:spcAft>
              <a:buClr>
                <a:srgbClr val="3B3B3B"/>
              </a:buClr>
              <a:buSzPts val="1000"/>
              <a:buFont typeface="Roboto"/>
              <a:buChar char="●"/>
            </a:pPr>
            <a:r>
              <a:rPr lang="en-US" sz="1000">
                <a:solidFill>
                  <a:srgbClr val="3B3B3B"/>
                </a:solidFill>
                <a:latin typeface="Roboto"/>
                <a:ea typeface="Roboto"/>
                <a:cs typeface="Roboto"/>
                <a:sym typeface="Roboto"/>
              </a:rPr>
              <a:t>Visual UI at localhost:3000 — easy to monitor and re-run</a:t>
            </a:r>
            <a:endParaRPr sz="1000">
              <a:solidFill>
                <a:srgbClr val="3B3B3B"/>
              </a:solidFill>
              <a:latin typeface="Roboto"/>
              <a:ea typeface="Roboto"/>
              <a:cs typeface="Roboto"/>
              <a:sym typeface="Roboto"/>
            </a:endParaRPr>
          </a:p>
          <a:p>
            <a:pPr indent="-292100" lvl="0" marL="457200" rtl="0" algn="l">
              <a:lnSpc>
                <a:spcPct val="115000"/>
              </a:lnSpc>
              <a:spcBef>
                <a:spcPts val="0"/>
              </a:spcBef>
              <a:spcAft>
                <a:spcPts val="0"/>
              </a:spcAft>
              <a:buClr>
                <a:srgbClr val="3B3B3B"/>
              </a:buClr>
              <a:buSzPts val="1000"/>
              <a:buFont typeface="Roboto"/>
              <a:buChar char="●"/>
            </a:pPr>
            <a:r>
              <a:rPr lang="en-US" sz="1000">
                <a:solidFill>
                  <a:srgbClr val="3B3B3B"/>
                </a:solidFill>
                <a:latin typeface="Roboto"/>
                <a:ea typeface="Roboto"/>
                <a:cs typeface="Roboto"/>
                <a:sym typeface="Roboto"/>
              </a:rPr>
              <a:t>Dependency enforcement — dbt_tests cannot run before dbt_transformations</a:t>
            </a:r>
            <a:endParaRPr sz="1000">
              <a:solidFill>
                <a:srgbClr val="3B3B3B"/>
              </a:solidFill>
              <a:latin typeface="Roboto"/>
              <a:ea typeface="Roboto"/>
              <a:cs typeface="Roboto"/>
              <a:sym typeface="Roboto"/>
            </a:endParaRPr>
          </a:p>
          <a:p>
            <a:pPr indent="-292100" lvl="0" marL="457200" rtl="0" algn="l">
              <a:lnSpc>
                <a:spcPct val="115000"/>
              </a:lnSpc>
              <a:spcBef>
                <a:spcPts val="0"/>
              </a:spcBef>
              <a:spcAft>
                <a:spcPts val="0"/>
              </a:spcAft>
              <a:buClr>
                <a:srgbClr val="3B3B3B"/>
              </a:buClr>
              <a:buSzPts val="1000"/>
              <a:buFont typeface="Roboto"/>
              <a:buChar char="●"/>
            </a:pPr>
            <a:r>
              <a:rPr lang="en-US" sz="1000">
                <a:solidFill>
                  <a:srgbClr val="3B3B3B"/>
                </a:solidFill>
                <a:latin typeface="Roboto"/>
                <a:ea typeface="Roboto"/>
                <a:cs typeface="Roboto"/>
                <a:sym typeface="Roboto"/>
              </a:rPr>
              <a:t>Better than Airflow for small local pipelines — no separate DB required</a:t>
            </a:r>
            <a:endParaRPr sz="1000">
              <a:solidFill>
                <a:srgbClr val="3B3B3B"/>
              </a:solidFill>
              <a:latin typeface="Roboto"/>
              <a:ea typeface="Roboto"/>
              <a:cs typeface="Roboto"/>
              <a:sym typeface="Roboto"/>
            </a:endParaRPr>
          </a:p>
          <a:p>
            <a:pPr indent="0" lvl="0" marL="0" rtl="0" algn="l">
              <a:spcBef>
                <a:spcPts val="1000"/>
              </a:spcBef>
              <a:spcAft>
                <a:spcPts val="0"/>
              </a:spcAft>
              <a:buNone/>
            </a:pPr>
            <a:r>
              <a:rPr b="1" lang="en-US" sz="1000">
                <a:solidFill>
                  <a:srgbClr val="3B3B3B"/>
                </a:solidFill>
                <a:latin typeface="Roboto"/>
                <a:ea typeface="Roboto"/>
                <a:cs typeface="Roboto"/>
                <a:sym typeface="Roboto"/>
              </a:rPr>
              <a:t>Order: </a:t>
            </a:r>
            <a:r>
              <a:rPr lang="en-US" sz="900">
                <a:solidFill>
                  <a:srgbClr val="3B3B3B"/>
                </a:solidFill>
                <a:latin typeface="Roboto"/>
                <a:ea typeface="Roboto"/>
                <a:cs typeface="Roboto"/>
                <a:sym typeface="Roboto"/>
              </a:rPr>
              <a:t>meltano_extract_load → dbt_transformations → dbt_tests</a:t>
            </a:r>
            <a:endParaRPr sz="1000">
              <a:solidFill>
                <a:srgbClr val="3B3B3B"/>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36" name="Shape 236"/>
        <p:cNvGrpSpPr/>
        <p:nvPr/>
      </p:nvGrpSpPr>
      <p:grpSpPr>
        <a:xfrm>
          <a:off x="0" y="0"/>
          <a:ext cx="0" cy="0"/>
          <a:chOff x="0" y="0"/>
          <a:chExt cx="0" cy="0"/>
        </a:xfrm>
      </p:grpSpPr>
      <p:sp>
        <p:nvSpPr>
          <p:cNvPr id="237" name="Google Shape;237;g3d4367663e0_1_133"/>
          <p:cNvSpPr/>
          <p:nvPr/>
        </p:nvSpPr>
        <p:spPr>
          <a:xfrm>
            <a:off x="0" y="0"/>
            <a:ext cx="9144000" cy="7773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g3d4367663e0_1_133"/>
          <p:cNvSpPr/>
          <p:nvPr/>
        </p:nvSpPr>
        <p:spPr>
          <a:xfrm>
            <a:off x="219222" y="91440"/>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Calibri"/>
              <a:buNone/>
            </a:pPr>
            <a:r>
              <a:rPr b="1" lang="en-US" sz="2400">
                <a:solidFill>
                  <a:srgbClr val="FFFFFF"/>
                </a:solidFill>
                <a:latin typeface="Calibri"/>
                <a:ea typeface="Calibri"/>
                <a:cs typeface="Calibri"/>
                <a:sym typeface="Calibri"/>
              </a:rPr>
              <a:t>Architectural</a:t>
            </a:r>
            <a:r>
              <a:rPr b="1" i="0" lang="en-US" sz="2400" u="none" cap="none" strike="noStrike">
                <a:solidFill>
                  <a:srgbClr val="FFFFFF"/>
                </a:solidFill>
                <a:latin typeface="Calibri"/>
                <a:ea typeface="Calibri"/>
                <a:cs typeface="Calibri"/>
                <a:sym typeface="Calibri"/>
              </a:rPr>
              <a:t> Design </a:t>
            </a:r>
            <a:endParaRPr b="0" i="0" sz="2400" u="none" cap="none" strike="noStrike">
              <a:solidFill>
                <a:schemeClr val="dk1"/>
              </a:solidFill>
              <a:latin typeface="Calibri"/>
              <a:ea typeface="Calibri"/>
              <a:cs typeface="Calibri"/>
              <a:sym typeface="Calibri"/>
            </a:endParaRPr>
          </a:p>
        </p:txBody>
      </p:sp>
      <p:sp>
        <p:nvSpPr>
          <p:cNvPr id="239" name="Google Shape;239;g3d4367663e0_1_133"/>
          <p:cNvSpPr txBox="1"/>
          <p:nvPr/>
        </p:nvSpPr>
        <p:spPr>
          <a:xfrm>
            <a:off x="0" y="777300"/>
            <a:ext cx="8387400" cy="4350900"/>
          </a:xfrm>
          <a:prstGeom prst="rect">
            <a:avLst/>
          </a:prstGeom>
          <a:noFill/>
          <a:ln>
            <a:noFill/>
          </a:ln>
        </p:spPr>
        <p:txBody>
          <a:bodyPr anchorCtr="0" anchor="t" bIns="91425" lIns="91425" spcFirstLastPara="1" rIns="91425" wrap="square" tIns="91425">
            <a:spAutoFit/>
          </a:bodyPr>
          <a:lstStyle/>
          <a:p>
            <a:pPr indent="0" lvl="0" marL="0" rtl="0" algn="l">
              <a:lnSpc>
                <a:spcPct val="40000"/>
              </a:lnSpc>
              <a:spcBef>
                <a:spcPts val="1400"/>
              </a:spcBef>
              <a:spcAft>
                <a:spcPts val="0"/>
              </a:spcAft>
              <a:buNone/>
            </a:pPr>
            <a:r>
              <a:rPr b="1" lang="en-US">
                <a:solidFill>
                  <a:srgbClr val="3B3B3B"/>
                </a:solidFill>
                <a:latin typeface="Calibri"/>
                <a:ea typeface="Calibri"/>
                <a:cs typeface="Calibri"/>
                <a:sym typeface="Calibri"/>
              </a:rPr>
              <a:t>5. Google cloud: </a:t>
            </a:r>
            <a:r>
              <a:rPr lang="en-US">
                <a:solidFill>
                  <a:srgbClr val="3B3B3B"/>
                </a:solidFill>
                <a:highlight>
                  <a:srgbClr val="F8F8F8"/>
                </a:highlight>
                <a:latin typeface="Calibri"/>
                <a:ea typeface="Calibri"/>
                <a:cs typeface="Calibri"/>
                <a:sym typeface="Calibri"/>
              </a:rPr>
              <a:t>Central analytical data store</a:t>
            </a:r>
            <a:endParaRPr>
              <a:solidFill>
                <a:srgbClr val="3B3B3B"/>
              </a:solidFill>
              <a:highlight>
                <a:srgbClr val="F8F8F8"/>
              </a:highlight>
              <a:latin typeface="Calibri"/>
              <a:ea typeface="Calibri"/>
              <a:cs typeface="Calibri"/>
              <a:sym typeface="Calibri"/>
            </a:endParaRPr>
          </a:p>
          <a:p>
            <a:pPr indent="0" lvl="0" marL="0" rtl="0" algn="l">
              <a:lnSpc>
                <a:spcPct val="40000"/>
              </a:lnSpc>
              <a:spcBef>
                <a:spcPts val="1400"/>
              </a:spcBef>
              <a:spcAft>
                <a:spcPts val="0"/>
              </a:spcAft>
              <a:buNone/>
            </a:pPr>
            <a:r>
              <a:rPr b="1" lang="en-US" sz="1200">
                <a:solidFill>
                  <a:srgbClr val="3B3B3B"/>
                </a:solidFill>
                <a:latin typeface="Calibri"/>
                <a:ea typeface="Calibri"/>
                <a:cs typeface="Calibri"/>
                <a:sym typeface="Calibri"/>
              </a:rPr>
              <a:t>ADC Instead of Service Account JSON Key</a:t>
            </a:r>
            <a:endParaRPr b="1" sz="1200">
              <a:solidFill>
                <a:srgbClr val="3B3B3B"/>
              </a:solidFill>
              <a:latin typeface="Calibri"/>
              <a:ea typeface="Calibri"/>
              <a:cs typeface="Calibri"/>
              <a:sym typeface="Calibri"/>
            </a:endParaRPr>
          </a:p>
          <a:p>
            <a:pPr indent="0" lvl="0" marL="0" rtl="0" algn="l">
              <a:lnSpc>
                <a:spcPct val="40000"/>
              </a:lnSpc>
              <a:spcBef>
                <a:spcPts val="1400"/>
              </a:spcBef>
              <a:spcAft>
                <a:spcPts val="0"/>
              </a:spcAft>
              <a:buNone/>
            </a:pPr>
            <a:r>
              <a:rPr lang="en-US" sz="1200">
                <a:solidFill>
                  <a:srgbClr val="3B3B3B"/>
                </a:solidFill>
                <a:latin typeface="Calibri"/>
                <a:ea typeface="Calibri"/>
                <a:cs typeface="Calibri"/>
                <a:sym typeface="Calibri"/>
              </a:rPr>
              <a:t>Application Default Credentials (gcloud auth application-default login)</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lang="en-US" sz="1200">
                <a:solidFill>
                  <a:srgbClr val="3B3B3B"/>
                </a:solidFill>
                <a:latin typeface="Calibri"/>
                <a:ea typeface="Calibri"/>
                <a:cs typeface="Calibri"/>
                <a:sym typeface="Calibri"/>
              </a:rPr>
              <a:t>Organisation policy blocked JSON key creation</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lang="en-US" sz="1200">
                <a:solidFill>
                  <a:srgbClr val="3B3B3B"/>
                </a:solidFill>
                <a:latin typeface="Calibri"/>
                <a:ea typeface="Calibri"/>
                <a:cs typeface="Calibri"/>
                <a:sym typeface="Calibri"/>
              </a:rPr>
              <a:t>ADC uses the logged-in Google account — same permissions</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lang="en-US" sz="1200">
                <a:solidFill>
                  <a:srgbClr val="3B3B3B"/>
                </a:solidFill>
                <a:latin typeface="Calibri"/>
                <a:ea typeface="Calibri"/>
                <a:cs typeface="Calibri"/>
                <a:sym typeface="Calibri"/>
              </a:rPr>
              <a:t>More secure — no key file to accidentally commit to git</a:t>
            </a:r>
            <a:endParaRPr sz="1200">
              <a:solidFill>
                <a:srgbClr val="3B3B3B"/>
              </a:solidFill>
              <a:latin typeface="Calibri"/>
              <a:ea typeface="Calibri"/>
              <a:cs typeface="Calibri"/>
              <a:sym typeface="Calibri"/>
            </a:endParaRPr>
          </a:p>
          <a:p>
            <a:pPr indent="0" lvl="0" marL="0" rtl="0" algn="l">
              <a:lnSpc>
                <a:spcPct val="40000"/>
              </a:lnSpc>
              <a:spcBef>
                <a:spcPts val="1400"/>
              </a:spcBef>
              <a:spcAft>
                <a:spcPts val="0"/>
              </a:spcAft>
              <a:buNone/>
            </a:pPr>
            <a:r>
              <a:rPr b="1" lang="en-US" sz="1200">
                <a:solidFill>
                  <a:srgbClr val="3B3B3B"/>
                </a:solidFill>
                <a:latin typeface="Calibri"/>
                <a:ea typeface="Calibri"/>
                <a:cs typeface="Calibri"/>
                <a:sym typeface="Calibri"/>
              </a:rPr>
              <a:t>Limitation:</a:t>
            </a:r>
            <a:r>
              <a:rPr lang="en-US" sz="1200">
                <a:solidFill>
                  <a:srgbClr val="3B3B3B"/>
                </a:solidFill>
                <a:latin typeface="Calibri"/>
                <a:ea typeface="Calibri"/>
                <a:cs typeface="Calibri"/>
                <a:sym typeface="Calibri"/>
              </a:rPr>
              <a:t> Cannot be used in fully automated production pipelines (requires interactive login periodically)</a:t>
            </a:r>
            <a:endParaRPr sz="1200">
              <a:solidFill>
                <a:srgbClr val="3B3B3B"/>
              </a:solidFill>
              <a:latin typeface="Calibri"/>
              <a:ea typeface="Calibri"/>
              <a:cs typeface="Calibri"/>
              <a:sym typeface="Calibri"/>
            </a:endParaRPr>
          </a:p>
          <a:p>
            <a:pPr indent="0" lvl="0" marL="0" rtl="0" algn="l">
              <a:lnSpc>
                <a:spcPct val="40000"/>
              </a:lnSpc>
              <a:spcBef>
                <a:spcPts val="1400"/>
              </a:spcBef>
              <a:spcAft>
                <a:spcPts val="0"/>
              </a:spcAft>
              <a:buNone/>
            </a:pPr>
            <a:r>
              <a:rPr b="1" lang="en-US">
                <a:solidFill>
                  <a:srgbClr val="3B3B3B"/>
                </a:solidFill>
                <a:latin typeface="Calibri"/>
                <a:ea typeface="Calibri"/>
                <a:cs typeface="Calibri"/>
                <a:sym typeface="Calibri"/>
              </a:rPr>
              <a:t>6</a:t>
            </a:r>
            <a:r>
              <a:rPr b="1" lang="en-US">
                <a:solidFill>
                  <a:srgbClr val="3B3B3B"/>
                </a:solidFill>
                <a:latin typeface="Calibri"/>
                <a:ea typeface="Calibri"/>
                <a:cs typeface="Calibri"/>
                <a:sym typeface="Calibri"/>
              </a:rPr>
              <a:t>: WSL Ubuntu for Pipeline Runtime</a:t>
            </a:r>
            <a:endParaRPr b="1">
              <a:solidFill>
                <a:srgbClr val="3B3B3B"/>
              </a:solidFill>
              <a:latin typeface="Calibri"/>
              <a:ea typeface="Calibri"/>
              <a:cs typeface="Calibri"/>
              <a:sym typeface="Calibri"/>
            </a:endParaRPr>
          </a:p>
          <a:p>
            <a:pPr indent="0" lvl="0" marL="0" rtl="0" algn="l">
              <a:lnSpc>
                <a:spcPct val="40000"/>
              </a:lnSpc>
              <a:spcBef>
                <a:spcPts val="1400"/>
              </a:spcBef>
              <a:spcAft>
                <a:spcPts val="0"/>
              </a:spcAft>
              <a:buNone/>
            </a:pPr>
            <a:r>
              <a:rPr lang="en-US" sz="1200">
                <a:solidFill>
                  <a:srgbClr val="3B3B3B"/>
                </a:solidFill>
                <a:latin typeface="Calibri"/>
                <a:ea typeface="Calibri"/>
                <a:cs typeface="Calibri"/>
                <a:sym typeface="Calibri"/>
              </a:rPr>
              <a:t> All Meltano/dbt/Dagster commands run in WSL, not Windows</a:t>
            </a:r>
            <a:endParaRPr b="1"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lang="en-US" sz="1200">
                <a:solidFill>
                  <a:srgbClr val="3B3B3B"/>
                </a:solidFill>
                <a:latin typeface="Calibri"/>
                <a:ea typeface="Calibri"/>
                <a:cs typeface="Calibri"/>
                <a:sym typeface="Calibri"/>
              </a:rPr>
              <a:t>Meltano has no Windows-native support — requires Linux shell</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lang="en-US" sz="1200">
                <a:solidFill>
                  <a:srgbClr val="3B3B3B"/>
                </a:solidFill>
                <a:latin typeface="Calibri"/>
                <a:ea typeface="Calibri"/>
                <a:cs typeface="Calibri"/>
                <a:sym typeface="Calibri"/>
              </a:rPr>
              <a:t>Python package builds (pendulum, grpcio) fail on Windows ARM64</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lang="en-US" sz="1200">
                <a:solidFill>
                  <a:srgbClr val="3B3B3B"/>
                </a:solidFill>
                <a:latin typeface="Calibri"/>
                <a:ea typeface="Calibri"/>
                <a:cs typeface="Calibri"/>
                <a:sym typeface="Calibri"/>
              </a:rPr>
              <a:t>WSL provides stable Linux environment without a separate VM</a:t>
            </a:r>
            <a:endParaRPr sz="1200">
              <a:solidFill>
                <a:srgbClr val="3B3B3B"/>
              </a:solidFill>
              <a:latin typeface="Calibri"/>
              <a:ea typeface="Calibri"/>
              <a:cs typeface="Calibri"/>
              <a:sym typeface="Calibri"/>
            </a:endParaRPr>
          </a:p>
          <a:p>
            <a:pPr indent="0" lvl="0" marL="0" rtl="0" algn="l">
              <a:lnSpc>
                <a:spcPct val="40000"/>
              </a:lnSpc>
              <a:spcBef>
                <a:spcPts val="1400"/>
              </a:spcBef>
              <a:spcAft>
                <a:spcPts val="0"/>
              </a:spcAft>
              <a:buNone/>
            </a:pPr>
            <a:r>
              <a:rPr b="1" lang="en-US">
                <a:solidFill>
                  <a:srgbClr val="3B3B3B"/>
                </a:solidFill>
                <a:latin typeface="Calibri"/>
                <a:ea typeface="Calibri"/>
                <a:cs typeface="Calibri"/>
                <a:sym typeface="Calibri"/>
              </a:rPr>
              <a:t>7. </a:t>
            </a:r>
            <a:r>
              <a:rPr b="1" lang="en-US">
                <a:solidFill>
                  <a:srgbClr val="3B3B3B"/>
                </a:solidFill>
                <a:latin typeface="Calibri"/>
                <a:ea typeface="Calibri"/>
                <a:cs typeface="Calibri"/>
                <a:sym typeface="Calibri"/>
              </a:rPr>
              <a:t> Python 3.11 via Conda</a:t>
            </a:r>
            <a:endParaRPr b="1">
              <a:solidFill>
                <a:srgbClr val="3B3B3B"/>
              </a:solidFill>
              <a:latin typeface="Calibri"/>
              <a:ea typeface="Calibri"/>
              <a:cs typeface="Calibri"/>
              <a:sym typeface="Calibri"/>
            </a:endParaRPr>
          </a:p>
          <a:p>
            <a:pPr indent="0" lvl="0" marL="0" rtl="0" algn="l">
              <a:lnSpc>
                <a:spcPct val="40000"/>
              </a:lnSpc>
              <a:spcBef>
                <a:spcPts val="1400"/>
              </a:spcBef>
              <a:spcAft>
                <a:spcPts val="0"/>
              </a:spcAft>
              <a:buNone/>
            </a:pPr>
            <a:r>
              <a:rPr lang="en-US" sz="1200">
                <a:solidFill>
                  <a:srgbClr val="3B3B3B"/>
                </a:solidFill>
                <a:latin typeface="Calibri"/>
                <a:ea typeface="Calibri"/>
                <a:cs typeface="Calibri"/>
                <a:sym typeface="Calibri"/>
              </a:rPr>
              <a:t> Conda environment meltano-env with Python 3.11</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Roboto"/>
              <a:buChar char="●"/>
            </a:pPr>
            <a:r>
              <a:rPr lang="en-US" sz="1200">
                <a:solidFill>
                  <a:srgbClr val="3B3B3B"/>
                </a:solidFill>
                <a:latin typeface="Calibri"/>
                <a:ea typeface="Calibri"/>
                <a:cs typeface="Calibri"/>
                <a:sym typeface="Calibri"/>
              </a:rPr>
              <a:t>Python 3.13 (default on machine) caused pendulum==2.1.2 build failure</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lang="en-US" sz="1200">
                <a:solidFill>
                  <a:srgbClr val="3B3B3B"/>
                </a:solidFill>
                <a:latin typeface="Calibri"/>
                <a:ea typeface="Calibri"/>
                <a:cs typeface="Calibri"/>
                <a:sym typeface="Calibri"/>
              </a:rPr>
              <a:t>Conda allows isolated, reproducible environment separate from system Python</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400"/>
              </a:spcAft>
              <a:buClr>
                <a:srgbClr val="3B3B3B"/>
              </a:buClr>
              <a:buSzPts val="1200"/>
              <a:buFont typeface="Calibri"/>
              <a:buChar char="●"/>
            </a:pPr>
            <a:r>
              <a:rPr lang="en-US" sz="1200">
                <a:solidFill>
                  <a:srgbClr val="3B3B3B"/>
                </a:solidFill>
                <a:latin typeface="Calibri"/>
                <a:ea typeface="Calibri"/>
                <a:cs typeface="Calibri"/>
                <a:sym typeface="Calibri"/>
              </a:rPr>
              <a:t>Python 3.11 is the last version with broad package compatibility for Meltano dependencies</a:t>
            </a:r>
            <a:endParaRPr sz="1200">
              <a:solidFill>
                <a:srgbClr val="3B3B3B"/>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44" name="Shape 244"/>
        <p:cNvGrpSpPr/>
        <p:nvPr/>
      </p:nvGrpSpPr>
      <p:grpSpPr>
        <a:xfrm>
          <a:off x="0" y="0"/>
          <a:ext cx="0" cy="0"/>
          <a:chOff x="0" y="0"/>
          <a:chExt cx="0" cy="0"/>
        </a:xfrm>
      </p:grpSpPr>
      <p:sp>
        <p:nvSpPr>
          <p:cNvPr id="245" name="Google Shape;245;g3dc97b155af_0_59"/>
          <p:cNvSpPr/>
          <p:nvPr/>
        </p:nvSpPr>
        <p:spPr>
          <a:xfrm>
            <a:off x="0" y="0"/>
            <a:ext cx="9144000" cy="5190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g3dc97b155af_0_59"/>
          <p:cNvSpPr/>
          <p:nvPr/>
        </p:nvSpPr>
        <p:spPr>
          <a:xfrm>
            <a:off x="139035" y="-37685"/>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400">
                <a:solidFill>
                  <a:srgbClr val="FFFFFF"/>
                </a:solidFill>
                <a:latin typeface="Calibri"/>
                <a:ea typeface="Calibri"/>
                <a:cs typeface="Calibri"/>
                <a:sym typeface="Calibri"/>
              </a:rPr>
              <a:t>Architecture view Summary</a:t>
            </a:r>
            <a:endParaRPr b="1" sz="2400">
              <a:solidFill>
                <a:srgbClr val="FFFFFF"/>
              </a:solidFill>
              <a:latin typeface="Calibri"/>
              <a:ea typeface="Calibri"/>
              <a:cs typeface="Calibri"/>
              <a:sym typeface="Calibri"/>
            </a:endParaRPr>
          </a:p>
        </p:txBody>
      </p:sp>
      <p:sp>
        <p:nvSpPr>
          <p:cNvPr id="247" name="Google Shape;247;g3dc97b155af_0_59"/>
          <p:cNvSpPr txBox="1"/>
          <p:nvPr/>
        </p:nvSpPr>
        <p:spPr>
          <a:xfrm>
            <a:off x="86600" y="3965550"/>
            <a:ext cx="5803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200">
              <a:solidFill>
                <a:schemeClr val="dk1"/>
              </a:solidFill>
            </a:endParaRPr>
          </a:p>
        </p:txBody>
      </p:sp>
      <p:sp>
        <p:nvSpPr>
          <p:cNvPr id="248" name="Google Shape;248;g3dc97b155af_0_59"/>
          <p:cNvSpPr txBox="1"/>
          <p:nvPr/>
        </p:nvSpPr>
        <p:spPr>
          <a:xfrm>
            <a:off x="5453811" y="1965791"/>
            <a:ext cx="3000000" cy="314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1100">
                <a:solidFill>
                  <a:schemeClr val="dk1"/>
                </a:solidFill>
                <a:latin typeface="Calibri"/>
                <a:ea typeface="Calibri"/>
                <a:cs typeface="Calibri"/>
                <a:sym typeface="Calibri"/>
              </a:rPr>
              <a:t>BigQuery raw tables</a:t>
            </a:r>
            <a:endParaRPr sz="11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US" sz="1100">
                <a:solidFill>
                  <a:schemeClr val="dk1"/>
                </a:solidFill>
                <a:latin typeface="Calibri"/>
                <a:ea typeface="Calibri"/>
                <a:cs typeface="Calibri"/>
                <a:sym typeface="Calibri"/>
              </a:rPr>
              <a:t>   ↓ (BigQuery Jobs API via REST + ADC)</a:t>
            </a:r>
            <a:endParaRPr sz="11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US" sz="1100">
                <a:solidFill>
                  <a:schemeClr val="dk1"/>
                </a:solidFill>
                <a:latin typeface="Calibri"/>
                <a:ea typeface="Calibri"/>
                <a:cs typeface="Calibri"/>
                <a:sym typeface="Calibri"/>
              </a:rPr>
              <a:t>dbt models (SQL views)</a:t>
            </a:r>
            <a:endParaRPr sz="11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US" sz="1100">
                <a:solidFill>
                  <a:schemeClr val="dk1"/>
                </a:solidFill>
                <a:latin typeface="Calibri"/>
                <a:ea typeface="Calibri"/>
                <a:cs typeface="Calibri"/>
                <a:sym typeface="Calibri"/>
              </a:rPr>
              <a:t>   ↓ (Python subprocess API)</a:t>
            </a:r>
            <a:endParaRPr sz="11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US" sz="1100">
                <a:solidFill>
                  <a:schemeClr val="dk1"/>
                </a:solidFill>
                <a:latin typeface="Calibri"/>
                <a:ea typeface="Calibri"/>
                <a:cs typeface="Calibri"/>
                <a:sym typeface="Calibri"/>
              </a:rPr>
              <a:t>Dagster assets</a:t>
            </a:r>
            <a:endParaRPr sz="11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US" sz="1100">
                <a:solidFill>
                  <a:schemeClr val="dk1"/>
                </a:solidFill>
                <a:latin typeface="Calibri"/>
                <a:ea typeface="Calibri"/>
                <a:cs typeface="Calibri"/>
                <a:sym typeface="Calibri"/>
              </a:rPr>
              <a:t>   ↓ (BigQuery REST API + ADC)</a:t>
            </a:r>
            <a:endParaRPr sz="11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US" sz="1100">
                <a:solidFill>
                  <a:schemeClr val="dk1"/>
                </a:solidFill>
                <a:latin typeface="Calibri"/>
                <a:ea typeface="Calibri"/>
                <a:cs typeface="Calibri"/>
                <a:sym typeface="Calibri"/>
              </a:rPr>
              <a:t>Jupyter / pandas DataFrame</a:t>
            </a:r>
            <a:endParaRPr sz="11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US" sz="1100">
                <a:solidFill>
                  <a:schemeClr val="dk1"/>
                </a:solidFill>
                <a:latin typeface="Calibri"/>
                <a:ea typeface="Calibri"/>
                <a:cs typeface="Calibri"/>
                <a:sym typeface="Calibri"/>
              </a:rPr>
              <a:t>   ↓ (BigQuery REST API + ADC)</a:t>
            </a:r>
            <a:endParaRPr sz="1100">
              <a:solidFill>
                <a:schemeClr val="dk1"/>
              </a:solidFill>
              <a:latin typeface="Calibri"/>
              <a:ea typeface="Calibri"/>
              <a:cs typeface="Calibri"/>
              <a:sym typeface="Calibri"/>
            </a:endParaRPr>
          </a:p>
          <a:p>
            <a:pPr indent="0" lvl="0" marL="0" rtl="0" algn="l">
              <a:lnSpc>
                <a:spcPct val="115000"/>
              </a:lnSpc>
              <a:spcBef>
                <a:spcPts val="1200"/>
              </a:spcBef>
              <a:spcAft>
                <a:spcPts val="1200"/>
              </a:spcAft>
              <a:buNone/>
            </a:pPr>
            <a:r>
              <a:rPr lang="en-US" sz="1100">
                <a:solidFill>
                  <a:schemeClr val="dk1"/>
                </a:solidFill>
                <a:latin typeface="Calibri"/>
                <a:ea typeface="Calibri"/>
                <a:cs typeface="Calibri"/>
                <a:sym typeface="Calibri"/>
              </a:rPr>
              <a:t>Power BI dashboard</a:t>
            </a:r>
            <a:endParaRPr sz="1100">
              <a:solidFill>
                <a:schemeClr val="dk1"/>
              </a:solidFill>
              <a:latin typeface="Calibri"/>
              <a:ea typeface="Calibri"/>
              <a:cs typeface="Calibri"/>
              <a:sym typeface="Calibri"/>
            </a:endParaRPr>
          </a:p>
        </p:txBody>
      </p:sp>
      <p:sp>
        <p:nvSpPr>
          <p:cNvPr id="249" name="Google Shape;249;g3dc97b155af_0_59"/>
          <p:cNvSpPr txBox="1"/>
          <p:nvPr/>
        </p:nvSpPr>
        <p:spPr>
          <a:xfrm>
            <a:off x="90950" y="462075"/>
            <a:ext cx="4640100" cy="314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1100">
                <a:solidFill>
                  <a:schemeClr val="dk1"/>
                </a:solidFill>
                <a:latin typeface="Calibri"/>
                <a:ea typeface="Calibri"/>
                <a:cs typeface="Calibri"/>
                <a:sym typeface="Calibri"/>
              </a:rPr>
              <a:t>CSV Files</a:t>
            </a:r>
            <a:endParaRPr sz="11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US" sz="1100">
                <a:solidFill>
                  <a:schemeClr val="dk1"/>
                </a:solidFill>
                <a:latin typeface="Calibri"/>
                <a:ea typeface="Calibri"/>
                <a:cs typeface="Calibri"/>
                <a:sym typeface="Calibri"/>
              </a:rPr>
              <a:t>   ↓ (file read — no API)</a:t>
            </a:r>
            <a:endParaRPr sz="11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US" sz="1100">
                <a:solidFill>
                  <a:schemeClr val="dk1"/>
                </a:solidFill>
                <a:latin typeface="Calibri"/>
                <a:ea typeface="Calibri"/>
                <a:cs typeface="Calibri"/>
                <a:sym typeface="Calibri"/>
              </a:rPr>
              <a:t>DuckDB (local SQL engine)</a:t>
            </a:r>
            <a:endParaRPr sz="11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US" sz="1100">
                <a:solidFill>
                  <a:schemeClr val="dk1"/>
                </a:solidFill>
                <a:latin typeface="Calibri"/>
                <a:ea typeface="Calibri"/>
                <a:cs typeface="Calibri"/>
                <a:sym typeface="Calibri"/>
              </a:rPr>
              <a:t>   ↓ (Singer JSON messages via Unix pipe)</a:t>
            </a:r>
            <a:endParaRPr sz="11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US" sz="1100">
                <a:solidFill>
                  <a:schemeClr val="dk1"/>
                </a:solidFill>
                <a:latin typeface="Calibri"/>
                <a:ea typeface="Calibri"/>
                <a:cs typeface="Calibri"/>
                <a:sym typeface="Calibri"/>
              </a:rPr>
              <a:t>Meltano tap-csv</a:t>
            </a:r>
            <a:endParaRPr sz="11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US" sz="1100">
                <a:solidFill>
                  <a:schemeClr val="dk1"/>
                </a:solidFill>
                <a:latin typeface="Calibri"/>
                <a:ea typeface="Calibri"/>
                <a:cs typeface="Calibri"/>
                <a:sym typeface="Calibri"/>
              </a:rPr>
              <a:t>   ↓ (Singer JSON messages)</a:t>
            </a:r>
            <a:endParaRPr sz="11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US" sz="1100">
                <a:solidFill>
                  <a:schemeClr val="dk1"/>
                </a:solidFill>
                <a:latin typeface="Calibri"/>
                <a:ea typeface="Calibri"/>
                <a:cs typeface="Calibri"/>
                <a:sym typeface="Calibri"/>
              </a:rPr>
              <a:t>Meltano target-bigquery  </a:t>
            </a:r>
            <a:r>
              <a:rPr lang="en-US" sz="1100">
                <a:solidFill>
                  <a:schemeClr val="dk1"/>
                </a:solidFill>
                <a:latin typeface="Calibri"/>
                <a:ea typeface="Calibri"/>
                <a:cs typeface="Calibri"/>
                <a:sym typeface="Calibri"/>
              </a:rPr>
              <a:t>→ (BigQuery Storage Write API via gRPC + ADC)</a:t>
            </a:r>
            <a:endParaRPr sz="11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US"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indent="0" lvl="0" marL="0" rtl="0" algn="l">
              <a:lnSpc>
                <a:spcPct val="115000"/>
              </a:lnSpc>
              <a:spcBef>
                <a:spcPts val="1200"/>
              </a:spcBef>
              <a:spcAft>
                <a:spcPts val="1200"/>
              </a:spcAft>
              <a:buNone/>
            </a:pPr>
            <a:r>
              <a:t/>
            </a:r>
            <a:endParaRPr sz="1100">
              <a:latin typeface="Calibri"/>
              <a:ea typeface="Calibri"/>
              <a:cs typeface="Calibri"/>
              <a:sym typeface="Calibri"/>
            </a:endParaRPr>
          </a:p>
        </p:txBody>
      </p:sp>
      <p:sp>
        <p:nvSpPr>
          <p:cNvPr id="250" name="Google Shape;250;g3dc97b155af_0_59"/>
          <p:cNvSpPr txBox="1"/>
          <p:nvPr/>
        </p:nvSpPr>
        <p:spPr>
          <a:xfrm>
            <a:off x="4731170" y="2561300"/>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55" name="Shape 255"/>
        <p:cNvGrpSpPr/>
        <p:nvPr/>
      </p:nvGrpSpPr>
      <p:grpSpPr>
        <a:xfrm>
          <a:off x="0" y="0"/>
          <a:ext cx="0" cy="0"/>
          <a:chOff x="0" y="0"/>
          <a:chExt cx="0" cy="0"/>
        </a:xfrm>
      </p:grpSpPr>
      <p:sp>
        <p:nvSpPr>
          <p:cNvPr id="256" name="Google Shape;256;p2"/>
          <p:cNvSpPr/>
          <p:nvPr/>
        </p:nvSpPr>
        <p:spPr>
          <a:xfrm>
            <a:off x="0" y="0"/>
            <a:ext cx="9144000" cy="5190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
          <p:cNvSpPr/>
          <p:nvPr/>
        </p:nvSpPr>
        <p:spPr>
          <a:xfrm>
            <a:off x="139035" y="-37685"/>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400">
                <a:solidFill>
                  <a:srgbClr val="FFFFFF"/>
                </a:solidFill>
                <a:latin typeface="Calibri"/>
                <a:ea typeface="Calibri"/>
                <a:cs typeface="Calibri"/>
                <a:sym typeface="Calibri"/>
              </a:rPr>
              <a:t>Data Analysis &amp; Findings</a:t>
            </a:r>
            <a:endParaRPr b="1" sz="2400">
              <a:solidFill>
                <a:srgbClr val="FFFFFF"/>
              </a:solidFill>
              <a:latin typeface="Calibri"/>
              <a:ea typeface="Calibri"/>
              <a:cs typeface="Calibri"/>
              <a:sym typeface="Calibri"/>
            </a:endParaRPr>
          </a:p>
        </p:txBody>
      </p:sp>
      <p:sp>
        <p:nvSpPr>
          <p:cNvPr id="258" name="Google Shape;258;p2"/>
          <p:cNvSpPr txBox="1"/>
          <p:nvPr/>
        </p:nvSpPr>
        <p:spPr>
          <a:xfrm>
            <a:off x="0" y="556625"/>
            <a:ext cx="8877300" cy="600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US" sz="1100">
                <a:solidFill>
                  <a:schemeClr val="dk1"/>
                </a:solidFill>
                <a:latin typeface="Roboto"/>
                <a:ea typeface="Roboto"/>
                <a:cs typeface="Roboto"/>
                <a:sym typeface="Roboto"/>
              </a:rPr>
              <a:t>Finding 1: Oil Prices Are Highly Volatile and Event-Driven</a:t>
            </a:r>
            <a:endParaRPr b="1" sz="1100">
              <a:solidFill>
                <a:schemeClr val="dk1"/>
              </a:solidFill>
              <a:latin typeface="Roboto"/>
              <a:ea typeface="Roboto"/>
              <a:cs typeface="Roboto"/>
              <a:sym typeface="Roboto"/>
            </a:endParaRPr>
          </a:p>
          <a:p>
            <a:pPr indent="0" lvl="0" marL="0" rtl="0" algn="l">
              <a:lnSpc>
                <a:spcPct val="115000"/>
              </a:lnSpc>
              <a:spcBef>
                <a:spcPts val="400"/>
              </a:spcBef>
              <a:spcAft>
                <a:spcPts val="200"/>
              </a:spcAft>
              <a:buNone/>
            </a:pPr>
            <a:r>
              <a:rPr lang="en-US" sz="1100">
                <a:solidFill>
                  <a:schemeClr val="dk1"/>
                </a:solidFill>
                <a:latin typeface="Roboto"/>
                <a:ea typeface="Roboto"/>
                <a:cs typeface="Roboto"/>
                <a:sym typeface="Roboto"/>
              </a:rPr>
              <a:t>Brent crude ranged from approximately </a:t>
            </a:r>
            <a:r>
              <a:rPr b="1" lang="en-US" sz="1100">
                <a:solidFill>
                  <a:schemeClr val="dk1"/>
                </a:solidFill>
                <a:latin typeface="Roboto"/>
                <a:ea typeface="Roboto"/>
                <a:cs typeface="Roboto"/>
                <a:sym typeface="Roboto"/>
              </a:rPr>
              <a:t>$20 to $130 per barrel</a:t>
            </a:r>
            <a:r>
              <a:rPr lang="en-US" sz="1100">
                <a:solidFill>
                  <a:schemeClr val="dk1"/>
                </a:solidFill>
                <a:latin typeface="Roboto"/>
                <a:ea typeface="Roboto"/>
                <a:cs typeface="Roboto"/>
                <a:sym typeface="Roboto"/>
              </a:rPr>
              <a:t> over the period, with three major collapse-and-recovery cycles:</a:t>
            </a:r>
            <a:endParaRPr sz="1100">
              <a:solidFill>
                <a:schemeClr val="dk1"/>
              </a:solidFill>
              <a:latin typeface="Roboto"/>
              <a:ea typeface="Roboto"/>
              <a:cs typeface="Roboto"/>
              <a:sym typeface="Roboto"/>
            </a:endParaRPr>
          </a:p>
        </p:txBody>
      </p:sp>
      <p:pic>
        <p:nvPicPr>
          <p:cNvPr id="259" name="Google Shape;259;p2"/>
          <p:cNvPicPr preferRelativeResize="0"/>
          <p:nvPr/>
        </p:nvPicPr>
        <p:blipFill>
          <a:blip r:embed="rId3">
            <a:alphaModFix/>
          </a:blip>
          <a:stretch>
            <a:fillRect/>
          </a:stretch>
        </p:blipFill>
        <p:spPr>
          <a:xfrm>
            <a:off x="86600" y="1073588"/>
            <a:ext cx="8531350" cy="2167725"/>
          </a:xfrm>
          <a:prstGeom prst="rect">
            <a:avLst/>
          </a:prstGeom>
          <a:noFill/>
          <a:ln>
            <a:noFill/>
          </a:ln>
        </p:spPr>
      </p:pic>
      <p:sp>
        <p:nvSpPr>
          <p:cNvPr id="260" name="Google Shape;260;p2"/>
          <p:cNvSpPr txBox="1"/>
          <p:nvPr/>
        </p:nvSpPr>
        <p:spPr>
          <a:xfrm>
            <a:off x="86600" y="3601083"/>
            <a:ext cx="95271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100"/>
              <a:t>Summary: </a:t>
            </a:r>
            <a:endParaRPr b="1" sz="1100"/>
          </a:p>
          <a:p>
            <a:pPr indent="-298450" lvl="0" marL="457200" rtl="0" algn="l">
              <a:spcBef>
                <a:spcPts val="0"/>
              </a:spcBef>
              <a:spcAft>
                <a:spcPts val="0"/>
              </a:spcAft>
              <a:buSzPts val="1100"/>
              <a:buChar char="●"/>
            </a:pPr>
            <a:r>
              <a:rPr lang="en-US" sz="1100"/>
              <a:t>2014–2016: OPEC supply glut + US shale boom- Brent fell ~70% from $115 to $30</a:t>
            </a:r>
            <a:endParaRPr sz="1100"/>
          </a:p>
          <a:p>
            <a:pPr indent="-298450" lvl="0" marL="457200" rtl="0" algn="l">
              <a:spcBef>
                <a:spcPts val="0"/>
              </a:spcBef>
              <a:spcAft>
                <a:spcPts val="0"/>
              </a:spcAft>
              <a:buSzPts val="1100"/>
              <a:buChar char="●"/>
            </a:pPr>
            <a:r>
              <a:rPr lang="en-US" sz="1100"/>
              <a:t>2020: COVID-19 demand collapse + Russia-Saudi price war- WTI briefly went negative; Brent fell to ~$20</a:t>
            </a:r>
            <a:endParaRPr sz="1100"/>
          </a:p>
          <a:p>
            <a:pPr indent="-298450" lvl="0" marL="457200" rtl="0" algn="l">
              <a:spcBef>
                <a:spcPts val="0"/>
              </a:spcBef>
              <a:spcAft>
                <a:spcPts val="0"/>
              </a:spcAft>
              <a:buSzPts val="1100"/>
              <a:buChar char="●"/>
            </a:pPr>
            <a:r>
              <a:rPr lang="en-US" sz="1100"/>
              <a:t>2022: Russia-Ukraine war- Brent spiked to ~$130</a:t>
            </a:r>
            <a:endParaRPr sz="1100"/>
          </a:p>
          <a:p>
            <a:pPr indent="-298450" lvl="0" marL="457200" rtl="0" algn="l">
              <a:spcBef>
                <a:spcPts val="0"/>
              </a:spcBef>
              <a:spcAft>
                <a:spcPts val="0"/>
              </a:spcAft>
              <a:buSzPts val="1100"/>
              <a:buChar char="●"/>
            </a:pPr>
            <a:r>
              <a:rPr lang="en-US" sz="1100"/>
              <a:t>2026: </a:t>
            </a:r>
            <a:r>
              <a:rPr lang="en-US" sz="1100"/>
              <a:t>Israel</a:t>
            </a:r>
            <a:r>
              <a:rPr lang="en-US" sz="1100"/>
              <a:t> and Iran war: WTI spike </a:t>
            </a:r>
            <a:endParaRPr sz="1100"/>
          </a:p>
        </p:txBody>
      </p:sp>
      <p:sp>
        <p:nvSpPr>
          <p:cNvPr id="261" name="Google Shape;261;p2"/>
          <p:cNvSpPr txBox="1"/>
          <p:nvPr/>
        </p:nvSpPr>
        <p:spPr>
          <a:xfrm>
            <a:off x="151275" y="4546015"/>
            <a:ext cx="88773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100"/>
              <a:t>Conclusion</a:t>
            </a:r>
            <a:r>
              <a:rPr lang="en-US" sz="1100"/>
              <a:t>*: Oil prices are not driven purely by supply-demand fundamentals — geopolitical shocks cause sharp, sudden price dislocations that revert over 6–18 months.</a:t>
            </a:r>
            <a:endParaRPr sz="1100"/>
          </a:p>
        </p:txBody>
      </p:sp>
      <p:sp>
        <p:nvSpPr>
          <p:cNvPr id="262" name="Google Shape;262;p2"/>
          <p:cNvSpPr txBox="1"/>
          <p:nvPr/>
        </p:nvSpPr>
        <p:spPr>
          <a:xfrm>
            <a:off x="417500" y="3241325"/>
            <a:ext cx="9196200" cy="5232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en-US" sz="1100">
                <a:solidFill>
                  <a:srgbClr val="1565C0"/>
                </a:solidFill>
                <a:latin typeface="Calibri"/>
                <a:ea typeface="Calibri"/>
                <a:cs typeface="Calibri"/>
                <a:sym typeface="Calibri"/>
              </a:rPr>
              <a:t>Period                         :  Apr-2010 – Mar 2026 ; Oil price records       :  4,047 daily observations; Geopolitical events  :  35 tagged events</a:t>
            </a:r>
            <a:endParaRPr sz="1100">
              <a:solidFill>
                <a:srgbClr val="1565C0"/>
              </a:solidFill>
              <a:latin typeface="Calibri"/>
              <a:ea typeface="Calibri"/>
              <a:cs typeface="Calibri"/>
              <a:sym typeface="Calibri"/>
            </a:endParaRPr>
          </a:p>
          <a:p>
            <a:pPr indent="0" lvl="0" marL="457200" rtl="0" algn="l">
              <a:spcBef>
                <a:spcPts val="0"/>
              </a:spcBef>
              <a:spcAft>
                <a:spcPts val="0"/>
              </a:spcAft>
              <a:buNone/>
            </a:pPr>
            <a:r>
              <a:rPr lang="en-US" sz="1100">
                <a:solidFill>
                  <a:srgbClr val="1565C0"/>
                </a:solidFill>
                <a:latin typeface="Calibri"/>
                <a:ea typeface="Calibri"/>
                <a:cs typeface="Calibri"/>
                <a:sym typeface="Calibri"/>
              </a:rPr>
              <a:t>Key variables             :  Brent, WTI, DXY, VIX, GPR Index, returns, volatility</a:t>
            </a:r>
            <a:endParaRPr sz="1100">
              <a:solidFill>
                <a:srgbClr val="1565C0"/>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67" name="Shape 267"/>
        <p:cNvGrpSpPr/>
        <p:nvPr/>
      </p:nvGrpSpPr>
      <p:grpSpPr>
        <a:xfrm>
          <a:off x="0" y="0"/>
          <a:ext cx="0" cy="0"/>
          <a:chOff x="0" y="0"/>
          <a:chExt cx="0" cy="0"/>
        </a:xfrm>
      </p:grpSpPr>
      <p:sp>
        <p:nvSpPr>
          <p:cNvPr id="268" name="Google Shape;268;g3d26b78a17e_0_197"/>
          <p:cNvSpPr/>
          <p:nvPr/>
        </p:nvSpPr>
        <p:spPr>
          <a:xfrm>
            <a:off x="0" y="0"/>
            <a:ext cx="9144000" cy="5190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g3d26b78a17e_0_197"/>
          <p:cNvSpPr/>
          <p:nvPr/>
        </p:nvSpPr>
        <p:spPr>
          <a:xfrm>
            <a:off x="139035" y="-37685"/>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400">
                <a:solidFill>
                  <a:srgbClr val="FFFFFF"/>
                </a:solidFill>
                <a:latin typeface="Calibri"/>
                <a:ea typeface="Calibri"/>
                <a:cs typeface="Calibri"/>
                <a:sym typeface="Calibri"/>
              </a:rPr>
              <a:t>Data Analysis &amp; Findings</a:t>
            </a:r>
            <a:endParaRPr b="1" sz="2400">
              <a:solidFill>
                <a:srgbClr val="FFFFFF"/>
              </a:solidFill>
              <a:latin typeface="Calibri"/>
              <a:ea typeface="Calibri"/>
              <a:cs typeface="Calibri"/>
              <a:sym typeface="Calibri"/>
            </a:endParaRPr>
          </a:p>
        </p:txBody>
      </p:sp>
      <p:sp>
        <p:nvSpPr>
          <p:cNvPr id="270" name="Google Shape;270;g3d26b78a17e_0_197"/>
          <p:cNvSpPr txBox="1"/>
          <p:nvPr/>
        </p:nvSpPr>
        <p:spPr>
          <a:xfrm>
            <a:off x="139017" y="1225500"/>
            <a:ext cx="3866400" cy="2692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t/>
            </a:r>
            <a:endParaRPr b="1" sz="1600">
              <a:solidFill>
                <a:schemeClr val="dk1"/>
              </a:solidFill>
              <a:highlight>
                <a:srgbClr val="FFFFFF"/>
              </a:highlight>
              <a:latin typeface="Roboto"/>
              <a:ea typeface="Roboto"/>
              <a:cs typeface="Roboto"/>
              <a:sym typeface="Roboto"/>
            </a:endParaRPr>
          </a:p>
          <a:p>
            <a:pPr indent="0" lvl="0" marL="0" rtl="0" algn="l">
              <a:lnSpc>
                <a:spcPct val="115000"/>
              </a:lnSpc>
              <a:spcBef>
                <a:spcPts val="400"/>
              </a:spcBef>
              <a:spcAft>
                <a:spcPts val="0"/>
              </a:spcAft>
              <a:buNone/>
            </a:pPr>
            <a:r>
              <a:rPr lang="en-US" sz="1200">
                <a:solidFill>
                  <a:schemeClr val="dk1"/>
                </a:solidFill>
                <a:latin typeface="Roboto"/>
                <a:ea typeface="Roboto"/>
                <a:cs typeface="Roboto"/>
                <a:sym typeface="Roboto"/>
              </a:rPr>
              <a:t>The correlation heatmap shows Brent and WTI prices with a correlation of </a:t>
            </a:r>
            <a:r>
              <a:rPr b="1" lang="en-US" sz="1200">
                <a:solidFill>
                  <a:schemeClr val="dk1"/>
                </a:solidFill>
                <a:latin typeface="Roboto"/>
                <a:ea typeface="Roboto"/>
                <a:cs typeface="Roboto"/>
                <a:sym typeface="Roboto"/>
              </a:rPr>
              <a:t>~0.99</a:t>
            </a:r>
            <a:r>
              <a:rPr lang="en-US" sz="1200">
                <a:solidFill>
                  <a:schemeClr val="dk1"/>
                </a:solidFill>
                <a:latin typeface="Roboto"/>
                <a:ea typeface="Roboto"/>
                <a:cs typeface="Roboto"/>
                <a:sym typeface="Roboto"/>
              </a:rPr>
              <a:t> — they move almost identically. However, the </a:t>
            </a:r>
            <a:r>
              <a:rPr b="1" lang="en-US" sz="1200">
                <a:solidFill>
                  <a:schemeClr val="dk1"/>
                </a:solidFill>
                <a:latin typeface="Roboto"/>
                <a:ea typeface="Roboto"/>
                <a:cs typeface="Roboto"/>
                <a:sym typeface="Roboto"/>
              </a:rPr>
              <a:t>Brent-WTI spread</a:t>
            </a:r>
            <a:r>
              <a:rPr lang="en-US" sz="1200">
                <a:solidFill>
                  <a:schemeClr val="dk1"/>
                </a:solidFill>
                <a:latin typeface="Roboto"/>
                <a:ea typeface="Roboto"/>
                <a:cs typeface="Roboto"/>
                <a:sym typeface="Roboto"/>
              </a:rPr>
              <a:t> widens during supply disruptions (Brent trades at a premium during Middle East tensions due to shipping risk).</a:t>
            </a:r>
            <a:endParaRPr sz="1200">
              <a:solidFill>
                <a:schemeClr val="dk1"/>
              </a:solidFill>
              <a:latin typeface="Roboto"/>
              <a:ea typeface="Roboto"/>
              <a:cs typeface="Roboto"/>
              <a:sym typeface="Roboto"/>
            </a:endParaRPr>
          </a:p>
          <a:p>
            <a:pPr indent="0" lvl="0" marL="0" rtl="0" algn="l">
              <a:lnSpc>
                <a:spcPct val="115000"/>
              </a:lnSpc>
              <a:spcBef>
                <a:spcPts val="200"/>
              </a:spcBef>
              <a:spcAft>
                <a:spcPts val="0"/>
              </a:spcAft>
              <a:buNone/>
            </a:pPr>
            <a:r>
              <a:t/>
            </a:r>
            <a:endParaRPr sz="1200">
              <a:solidFill>
                <a:schemeClr val="dk1"/>
              </a:solidFill>
              <a:highlight>
                <a:srgbClr val="FFFFFF"/>
              </a:highlight>
              <a:latin typeface="Roboto"/>
              <a:ea typeface="Roboto"/>
              <a:cs typeface="Roboto"/>
              <a:sym typeface="Roboto"/>
            </a:endParaRPr>
          </a:p>
          <a:p>
            <a:pPr indent="0" lvl="0" marL="0" rtl="0" algn="l">
              <a:lnSpc>
                <a:spcPct val="115000"/>
              </a:lnSpc>
              <a:spcBef>
                <a:spcPts val="200"/>
              </a:spcBef>
              <a:spcAft>
                <a:spcPts val="0"/>
              </a:spcAft>
              <a:buNone/>
            </a:pPr>
            <a:r>
              <a:t/>
            </a:r>
            <a:endParaRPr sz="1200">
              <a:solidFill>
                <a:schemeClr val="dk1"/>
              </a:solidFill>
              <a:highlight>
                <a:srgbClr val="FFFFFF"/>
              </a:highlight>
              <a:latin typeface="Roboto"/>
              <a:ea typeface="Roboto"/>
              <a:cs typeface="Roboto"/>
              <a:sym typeface="Roboto"/>
            </a:endParaRPr>
          </a:p>
          <a:p>
            <a:pPr indent="0" lvl="0" marL="0" rtl="0" algn="l">
              <a:lnSpc>
                <a:spcPct val="115000"/>
              </a:lnSpc>
              <a:spcBef>
                <a:spcPts val="200"/>
              </a:spcBef>
              <a:spcAft>
                <a:spcPts val="200"/>
              </a:spcAft>
              <a:buNone/>
            </a:pPr>
            <a:r>
              <a:rPr b="1" lang="en-US" sz="1200">
                <a:solidFill>
                  <a:schemeClr val="dk1"/>
                </a:solidFill>
                <a:latin typeface="Roboto"/>
                <a:ea typeface="Roboto"/>
                <a:cs typeface="Roboto"/>
                <a:sym typeface="Roboto"/>
              </a:rPr>
              <a:t>Conclusion:</a:t>
            </a:r>
            <a:r>
              <a:rPr lang="en-US" sz="1200">
                <a:solidFill>
                  <a:schemeClr val="dk1"/>
                </a:solidFill>
                <a:latin typeface="Roboto"/>
                <a:ea typeface="Roboto"/>
                <a:cs typeface="Roboto"/>
                <a:sym typeface="Roboto"/>
              </a:rPr>
              <a:t> For global analysis, Brent is the more representative benchmark. WTI is more sensitive to US domestic inventory and pipeline infrastructure.</a:t>
            </a:r>
            <a:endParaRPr sz="1200">
              <a:solidFill>
                <a:schemeClr val="dk1"/>
              </a:solidFill>
              <a:latin typeface="Roboto"/>
              <a:ea typeface="Roboto"/>
              <a:cs typeface="Roboto"/>
              <a:sym typeface="Roboto"/>
            </a:endParaRPr>
          </a:p>
        </p:txBody>
      </p:sp>
      <p:pic>
        <p:nvPicPr>
          <p:cNvPr id="271" name="Google Shape;271;g3d26b78a17e_0_197"/>
          <p:cNvPicPr preferRelativeResize="0"/>
          <p:nvPr/>
        </p:nvPicPr>
        <p:blipFill>
          <a:blip r:embed="rId3">
            <a:alphaModFix/>
          </a:blip>
          <a:stretch>
            <a:fillRect/>
          </a:stretch>
        </p:blipFill>
        <p:spPr>
          <a:xfrm>
            <a:off x="4375000" y="1039975"/>
            <a:ext cx="4704050" cy="3797001"/>
          </a:xfrm>
          <a:prstGeom prst="rect">
            <a:avLst/>
          </a:prstGeom>
          <a:noFill/>
          <a:ln>
            <a:noFill/>
          </a:ln>
        </p:spPr>
      </p:pic>
      <p:sp>
        <p:nvSpPr>
          <p:cNvPr id="272" name="Google Shape;272;g3d26b78a17e_0_197"/>
          <p:cNvSpPr txBox="1"/>
          <p:nvPr/>
        </p:nvSpPr>
        <p:spPr>
          <a:xfrm>
            <a:off x="139025" y="746850"/>
            <a:ext cx="70809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rPr b="1" lang="en-US" sz="1600">
                <a:solidFill>
                  <a:schemeClr val="dk1"/>
                </a:solidFill>
                <a:latin typeface="Roboto"/>
                <a:ea typeface="Roboto"/>
                <a:cs typeface="Roboto"/>
                <a:sym typeface="Roboto"/>
              </a:rPr>
              <a:t>Finding 2: Brent and WTI Are Highly Correlated</a:t>
            </a:r>
            <a:endParaRPr/>
          </a:p>
        </p:txBody>
      </p:sp>
      <p:sp>
        <p:nvSpPr>
          <p:cNvPr id="273" name="Google Shape;273;g3d26b78a17e_0_197"/>
          <p:cNvSpPr txBox="1"/>
          <p:nvPr/>
        </p:nvSpPr>
        <p:spPr>
          <a:xfrm>
            <a:off x="86600" y="3965550"/>
            <a:ext cx="5803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2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78" name="Shape 278"/>
        <p:cNvGrpSpPr/>
        <p:nvPr/>
      </p:nvGrpSpPr>
      <p:grpSpPr>
        <a:xfrm>
          <a:off x="0" y="0"/>
          <a:ext cx="0" cy="0"/>
          <a:chOff x="0" y="0"/>
          <a:chExt cx="0" cy="0"/>
        </a:xfrm>
      </p:grpSpPr>
      <p:sp>
        <p:nvSpPr>
          <p:cNvPr id="279" name="Google Shape;279;g3d26b78a17e_0_234"/>
          <p:cNvSpPr/>
          <p:nvPr/>
        </p:nvSpPr>
        <p:spPr>
          <a:xfrm>
            <a:off x="0" y="0"/>
            <a:ext cx="9144000" cy="5190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g3d26b78a17e_0_234"/>
          <p:cNvSpPr/>
          <p:nvPr/>
        </p:nvSpPr>
        <p:spPr>
          <a:xfrm>
            <a:off x="139035" y="-37685"/>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400">
                <a:solidFill>
                  <a:srgbClr val="FFFFFF"/>
                </a:solidFill>
                <a:latin typeface="Calibri"/>
                <a:ea typeface="Calibri"/>
                <a:cs typeface="Calibri"/>
                <a:sym typeface="Calibri"/>
              </a:rPr>
              <a:t>Data Analysis &amp; Findings</a:t>
            </a:r>
            <a:endParaRPr b="1" sz="2400">
              <a:solidFill>
                <a:srgbClr val="FFFFFF"/>
              </a:solidFill>
              <a:latin typeface="Calibri"/>
              <a:ea typeface="Calibri"/>
              <a:cs typeface="Calibri"/>
              <a:sym typeface="Calibri"/>
            </a:endParaRPr>
          </a:p>
        </p:txBody>
      </p:sp>
      <p:sp>
        <p:nvSpPr>
          <p:cNvPr id="281" name="Google Shape;281;g3d26b78a17e_0_234"/>
          <p:cNvSpPr txBox="1"/>
          <p:nvPr/>
        </p:nvSpPr>
        <p:spPr>
          <a:xfrm>
            <a:off x="139025" y="744150"/>
            <a:ext cx="3556500" cy="337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US" sz="1600">
                <a:solidFill>
                  <a:schemeClr val="dk1"/>
                </a:solidFill>
                <a:latin typeface="Roboto"/>
                <a:ea typeface="Roboto"/>
                <a:cs typeface="Roboto"/>
                <a:sym typeface="Roboto"/>
              </a:rPr>
              <a:t>Finding 3: VIX and Oil Have a Complex, Non-Linear Relationship</a:t>
            </a:r>
            <a:endParaRPr b="1" sz="1600">
              <a:solidFill>
                <a:schemeClr val="dk1"/>
              </a:solidFill>
              <a:latin typeface="Roboto"/>
              <a:ea typeface="Roboto"/>
              <a:cs typeface="Roboto"/>
              <a:sym typeface="Roboto"/>
            </a:endParaRPr>
          </a:p>
          <a:p>
            <a:pPr indent="0" lvl="0" marL="0" rtl="0" algn="l">
              <a:lnSpc>
                <a:spcPct val="115000"/>
              </a:lnSpc>
              <a:spcBef>
                <a:spcPts val="400"/>
              </a:spcBef>
              <a:spcAft>
                <a:spcPts val="0"/>
              </a:spcAft>
              <a:buNone/>
            </a:pPr>
            <a:r>
              <a:rPr lang="en-US" sz="1100">
                <a:solidFill>
                  <a:schemeClr val="dk1"/>
                </a:solidFill>
                <a:latin typeface="Roboto"/>
                <a:ea typeface="Roboto"/>
                <a:cs typeface="Roboto"/>
                <a:sym typeface="Roboto"/>
              </a:rPr>
              <a:t>The VIX vs Brent scatter plot shows:</a:t>
            </a:r>
            <a:endParaRPr sz="1100">
              <a:solidFill>
                <a:schemeClr val="dk1"/>
              </a:solidFill>
              <a:latin typeface="Roboto"/>
              <a:ea typeface="Roboto"/>
              <a:cs typeface="Roboto"/>
              <a:sym typeface="Roboto"/>
            </a:endParaRPr>
          </a:p>
          <a:p>
            <a:pPr indent="-298450" lvl="0" marL="457200" rtl="0" algn="l">
              <a:lnSpc>
                <a:spcPct val="115000"/>
              </a:lnSpc>
              <a:spcBef>
                <a:spcPts val="1000"/>
              </a:spcBef>
              <a:spcAft>
                <a:spcPts val="0"/>
              </a:spcAft>
              <a:buClr>
                <a:schemeClr val="dk1"/>
              </a:buClr>
              <a:buSzPts val="1100"/>
              <a:buFont typeface="Roboto"/>
              <a:buChar char="●"/>
            </a:pPr>
            <a:r>
              <a:rPr b="1" lang="en-US" sz="1100">
                <a:solidFill>
                  <a:schemeClr val="dk1"/>
                </a:solidFill>
                <a:latin typeface="Roboto"/>
                <a:ea typeface="Roboto"/>
                <a:cs typeface="Roboto"/>
                <a:sym typeface="Roboto"/>
              </a:rPr>
              <a:t>Low VIX (calm markets)</a:t>
            </a:r>
            <a:r>
              <a:rPr lang="en-US" sz="1100">
                <a:solidFill>
                  <a:schemeClr val="dk1"/>
                </a:solidFill>
                <a:latin typeface="Roboto"/>
                <a:ea typeface="Roboto"/>
                <a:cs typeface="Roboto"/>
                <a:sym typeface="Roboto"/>
              </a:rPr>
              <a:t> → Oil prices are stable to rising (risk-on environment supports demand)</a:t>
            </a:r>
            <a:endParaRPr sz="1100">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b="1" lang="en-US" sz="1100">
                <a:solidFill>
                  <a:schemeClr val="dk1"/>
                </a:solidFill>
                <a:latin typeface="Roboto"/>
                <a:ea typeface="Roboto"/>
                <a:cs typeface="Roboto"/>
                <a:sym typeface="Roboto"/>
              </a:rPr>
              <a:t>High VIX spikes (&gt;40)</a:t>
            </a:r>
            <a:r>
              <a:rPr lang="en-US" sz="1100">
                <a:solidFill>
                  <a:schemeClr val="dk1"/>
                </a:solidFill>
                <a:latin typeface="Roboto"/>
                <a:ea typeface="Roboto"/>
                <a:cs typeface="Roboto"/>
                <a:sym typeface="Roboto"/>
              </a:rPr>
              <a:t> → Oil prices fall sharply (recession fear reduces demand)</a:t>
            </a:r>
            <a:endParaRPr sz="1100">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b="1" lang="en-US" sz="1100">
                <a:solidFill>
                  <a:schemeClr val="dk1"/>
                </a:solidFill>
                <a:latin typeface="Roboto"/>
                <a:ea typeface="Roboto"/>
                <a:cs typeface="Roboto"/>
                <a:sym typeface="Roboto"/>
              </a:rPr>
              <a:t>Exception:</a:t>
            </a:r>
            <a:r>
              <a:rPr lang="en-US" sz="1100">
                <a:solidFill>
                  <a:schemeClr val="dk1"/>
                </a:solidFill>
                <a:latin typeface="Roboto"/>
                <a:ea typeface="Roboto"/>
                <a:cs typeface="Roboto"/>
                <a:sym typeface="Roboto"/>
              </a:rPr>
              <a:t> The 2022 Ukraine war produced </a:t>
            </a:r>
            <a:r>
              <a:rPr b="1" lang="en-US" sz="1100">
                <a:solidFill>
                  <a:schemeClr val="dk1"/>
                </a:solidFill>
                <a:latin typeface="Roboto"/>
                <a:ea typeface="Roboto"/>
                <a:cs typeface="Roboto"/>
                <a:sym typeface="Roboto"/>
              </a:rPr>
              <a:t>high VIX AND high oil</a:t>
            </a:r>
            <a:r>
              <a:rPr lang="en-US" sz="1100">
                <a:solidFill>
                  <a:schemeClr val="dk1"/>
                </a:solidFill>
                <a:latin typeface="Roboto"/>
                <a:ea typeface="Roboto"/>
                <a:cs typeface="Roboto"/>
                <a:sym typeface="Roboto"/>
              </a:rPr>
              <a:t> simultaneously — supply fear overrode demand fear</a:t>
            </a:r>
            <a:endParaRPr sz="1100">
              <a:solidFill>
                <a:schemeClr val="dk1"/>
              </a:solidFill>
              <a:latin typeface="Roboto"/>
              <a:ea typeface="Roboto"/>
              <a:cs typeface="Roboto"/>
              <a:sym typeface="Roboto"/>
            </a:endParaRPr>
          </a:p>
          <a:p>
            <a:pPr indent="0" lvl="0" marL="0" rtl="0" algn="l">
              <a:lnSpc>
                <a:spcPct val="115000"/>
              </a:lnSpc>
              <a:spcBef>
                <a:spcPts val="1000"/>
              </a:spcBef>
              <a:spcAft>
                <a:spcPts val="200"/>
              </a:spcAft>
              <a:buNone/>
            </a:pPr>
            <a:r>
              <a:rPr b="1" lang="en-US" sz="1100">
                <a:solidFill>
                  <a:schemeClr val="dk1"/>
                </a:solidFill>
                <a:latin typeface="Roboto"/>
                <a:ea typeface="Roboto"/>
                <a:cs typeface="Roboto"/>
                <a:sym typeface="Roboto"/>
              </a:rPr>
              <a:t>Conclusion:</a:t>
            </a:r>
            <a:r>
              <a:rPr lang="en-US" sz="1100">
                <a:solidFill>
                  <a:schemeClr val="dk1"/>
                </a:solidFill>
                <a:latin typeface="Roboto"/>
                <a:ea typeface="Roboto"/>
                <a:cs typeface="Roboto"/>
                <a:sym typeface="Roboto"/>
              </a:rPr>
              <a:t> VIX is a useful risk signal for oil but not a reliable standalone predictor. Geopolitical supply shocks break the typical inverse relationship.</a:t>
            </a:r>
            <a:endParaRPr b="1" sz="1000">
              <a:solidFill>
                <a:schemeClr val="dk1"/>
              </a:solidFill>
              <a:latin typeface="Roboto"/>
              <a:ea typeface="Roboto"/>
              <a:cs typeface="Roboto"/>
              <a:sym typeface="Roboto"/>
            </a:endParaRPr>
          </a:p>
        </p:txBody>
      </p:sp>
      <p:pic>
        <p:nvPicPr>
          <p:cNvPr id="282" name="Google Shape;282;g3d26b78a17e_0_234"/>
          <p:cNvPicPr preferRelativeResize="0"/>
          <p:nvPr/>
        </p:nvPicPr>
        <p:blipFill>
          <a:blip r:embed="rId3">
            <a:alphaModFix/>
          </a:blip>
          <a:stretch>
            <a:fillRect/>
          </a:stretch>
        </p:blipFill>
        <p:spPr>
          <a:xfrm>
            <a:off x="3882978" y="923025"/>
            <a:ext cx="4762848" cy="33702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87" name="Shape 287"/>
        <p:cNvGrpSpPr/>
        <p:nvPr/>
      </p:nvGrpSpPr>
      <p:grpSpPr>
        <a:xfrm>
          <a:off x="0" y="0"/>
          <a:ext cx="0" cy="0"/>
          <a:chOff x="0" y="0"/>
          <a:chExt cx="0" cy="0"/>
        </a:xfrm>
      </p:grpSpPr>
      <p:sp>
        <p:nvSpPr>
          <p:cNvPr id="288" name="Google Shape;288;g3dccfc74559_2_1"/>
          <p:cNvSpPr/>
          <p:nvPr/>
        </p:nvSpPr>
        <p:spPr>
          <a:xfrm>
            <a:off x="0" y="0"/>
            <a:ext cx="9144000" cy="5190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g3dccfc74559_2_1"/>
          <p:cNvSpPr/>
          <p:nvPr/>
        </p:nvSpPr>
        <p:spPr>
          <a:xfrm>
            <a:off x="139035" y="-37685"/>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400">
                <a:solidFill>
                  <a:srgbClr val="FFFFFF"/>
                </a:solidFill>
                <a:latin typeface="Calibri"/>
                <a:ea typeface="Calibri"/>
                <a:cs typeface="Calibri"/>
                <a:sym typeface="Calibri"/>
              </a:rPr>
              <a:t>Data Analysis &amp; Findings</a:t>
            </a:r>
            <a:endParaRPr b="1" sz="2400">
              <a:solidFill>
                <a:srgbClr val="FFFFFF"/>
              </a:solidFill>
              <a:latin typeface="Calibri"/>
              <a:ea typeface="Calibri"/>
              <a:cs typeface="Calibri"/>
              <a:sym typeface="Calibri"/>
            </a:endParaRPr>
          </a:p>
        </p:txBody>
      </p:sp>
      <p:sp>
        <p:nvSpPr>
          <p:cNvPr id="290" name="Google Shape;290;g3dccfc74559_2_1"/>
          <p:cNvSpPr txBox="1"/>
          <p:nvPr/>
        </p:nvSpPr>
        <p:spPr>
          <a:xfrm>
            <a:off x="86600" y="3965550"/>
            <a:ext cx="5803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200">
              <a:solidFill>
                <a:schemeClr val="dk1"/>
              </a:solidFill>
            </a:endParaRPr>
          </a:p>
        </p:txBody>
      </p:sp>
      <p:sp>
        <p:nvSpPr>
          <p:cNvPr id="291" name="Google Shape;291;g3dccfc74559_2_1"/>
          <p:cNvSpPr txBox="1"/>
          <p:nvPr/>
        </p:nvSpPr>
        <p:spPr>
          <a:xfrm>
            <a:off x="0" y="790150"/>
            <a:ext cx="9144000" cy="1929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US" sz="1600">
                <a:solidFill>
                  <a:schemeClr val="dk1"/>
                </a:solidFill>
                <a:latin typeface="Roboto"/>
                <a:ea typeface="Roboto"/>
                <a:cs typeface="Roboto"/>
                <a:sym typeface="Roboto"/>
              </a:rPr>
              <a:t>F</a:t>
            </a:r>
            <a:r>
              <a:rPr b="1" lang="en-US" sz="1600">
                <a:solidFill>
                  <a:schemeClr val="dk1"/>
                </a:solidFill>
                <a:latin typeface="Roboto"/>
                <a:ea typeface="Roboto"/>
                <a:cs typeface="Roboto"/>
                <a:sym typeface="Roboto"/>
              </a:rPr>
              <a:t>inding 4: The GPR Index Leads Price Spikes</a:t>
            </a:r>
            <a:endParaRPr b="1" sz="1600">
              <a:solidFill>
                <a:schemeClr val="dk1"/>
              </a:solidFill>
              <a:latin typeface="Roboto"/>
              <a:ea typeface="Roboto"/>
              <a:cs typeface="Roboto"/>
              <a:sym typeface="Roboto"/>
            </a:endParaRPr>
          </a:p>
          <a:p>
            <a:pPr indent="0" lvl="0" marL="0" rtl="0" algn="l">
              <a:lnSpc>
                <a:spcPct val="115000"/>
              </a:lnSpc>
              <a:spcBef>
                <a:spcPts val="400"/>
              </a:spcBef>
              <a:spcAft>
                <a:spcPts val="0"/>
              </a:spcAft>
              <a:buNone/>
            </a:pPr>
            <a:r>
              <a:rPr lang="en-US" sz="1000">
                <a:solidFill>
                  <a:schemeClr val="dk1"/>
                </a:solidFill>
                <a:latin typeface="Roboto"/>
                <a:ea typeface="Roboto"/>
                <a:cs typeface="Roboto"/>
                <a:sym typeface="Roboto"/>
              </a:rPr>
              <a:t>Th</a:t>
            </a:r>
            <a:r>
              <a:rPr lang="en-US" sz="1100">
                <a:solidFill>
                  <a:schemeClr val="dk1"/>
                </a:solidFill>
                <a:latin typeface="Roboto"/>
                <a:ea typeface="Roboto"/>
                <a:cs typeface="Roboto"/>
                <a:sym typeface="Roboto"/>
              </a:rPr>
              <a:t>e Geopolitical Risk (GPR) index tends to </a:t>
            </a:r>
            <a:r>
              <a:rPr b="1" lang="en-US" sz="1100">
                <a:solidFill>
                  <a:schemeClr val="dk1"/>
                </a:solidFill>
                <a:latin typeface="Roboto"/>
                <a:ea typeface="Roboto"/>
                <a:cs typeface="Roboto"/>
                <a:sym typeface="Roboto"/>
              </a:rPr>
              <a:t>spike before or simultaneously</a:t>
            </a:r>
            <a:r>
              <a:rPr lang="en-US" sz="1100">
                <a:solidFill>
                  <a:schemeClr val="dk1"/>
                </a:solidFill>
                <a:latin typeface="Roboto"/>
                <a:ea typeface="Roboto"/>
                <a:cs typeface="Roboto"/>
                <a:sym typeface="Roboto"/>
              </a:rPr>
              <a:t> with oil price jumps, particularly during:</a:t>
            </a:r>
            <a:endParaRPr sz="1100">
              <a:solidFill>
                <a:schemeClr val="dk1"/>
              </a:solidFill>
              <a:latin typeface="Roboto"/>
              <a:ea typeface="Roboto"/>
              <a:cs typeface="Roboto"/>
              <a:sym typeface="Roboto"/>
            </a:endParaRPr>
          </a:p>
          <a:p>
            <a:pPr indent="-298450" lvl="0" marL="457200" rtl="0" algn="l">
              <a:lnSpc>
                <a:spcPct val="115000"/>
              </a:lnSpc>
              <a:spcBef>
                <a:spcPts val="1000"/>
              </a:spcBef>
              <a:spcAft>
                <a:spcPts val="0"/>
              </a:spcAft>
              <a:buClr>
                <a:schemeClr val="dk1"/>
              </a:buClr>
              <a:buSzPts val="1100"/>
              <a:buFont typeface="Roboto"/>
              <a:buChar char="●"/>
            </a:pPr>
            <a:r>
              <a:rPr lang="en-US" sz="1100">
                <a:solidFill>
                  <a:schemeClr val="dk1"/>
                </a:solidFill>
                <a:latin typeface="Roboto"/>
                <a:ea typeface="Roboto"/>
                <a:cs typeface="Roboto"/>
                <a:sym typeface="Roboto"/>
              </a:rPr>
              <a:t>Middle East conflicts (Syria 2011, Yemen 2015, Gaza 2023)</a:t>
            </a:r>
            <a:endParaRPr sz="1100">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en-US" sz="1100">
                <a:solidFill>
                  <a:schemeClr val="dk1"/>
                </a:solidFill>
                <a:latin typeface="Roboto"/>
                <a:ea typeface="Roboto"/>
                <a:cs typeface="Roboto"/>
                <a:sym typeface="Roboto"/>
              </a:rPr>
              <a:t>Russia-related events (Crimea 2014, Ukraine 2022)</a:t>
            </a:r>
            <a:endParaRPr sz="11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b="1" lang="en-US" sz="1100">
                <a:solidFill>
                  <a:schemeClr val="dk1"/>
                </a:solidFill>
                <a:latin typeface="Roboto"/>
                <a:ea typeface="Roboto"/>
                <a:cs typeface="Roboto"/>
                <a:sym typeface="Roboto"/>
              </a:rPr>
              <a:t>Conclusion:</a:t>
            </a:r>
            <a:r>
              <a:rPr lang="en-US" sz="1100">
                <a:solidFill>
                  <a:schemeClr val="dk1"/>
                </a:solidFill>
                <a:latin typeface="Roboto"/>
                <a:ea typeface="Roboto"/>
                <a:cs typeface="Roboto"/>
                <a:sym typeface="Roboto"/>
              </a:rPr>
              <a:t> GPR index is a useful early-warning signal. An elevated GPR (&gt;200) has historically preceded a Brent price increase of 10–25% within 30–60 days, particularly when Middle East supply routes are at risk.</a:t>
            </a:r>
            <a:endParaRPr sz="1100">
              <a:solidFill>
                <a:schemeClr val="dk1"/>
              </a:solidFill>
              <a:latin typeface="Roboto"/>
              <a:ea typeface="Roboto"/>
              <a:cs typeface="Roboto"/>
              <a:sym typeface="Roboto"/>
            </a:endParaRPr>
          </a:p>
          <a:p>
            <a:pPr indent="0" lvl="0" marL="381000" marR="381000" rtl="0" algn="l">
              <a:lnSpc>
                <a:spcPct val="115000"/>
              </a:lnSpc>
              <a:spcBef>
                <a:spcPts val="200"/>
              </a:spcBef>
              <a:spcAft>
                <a:spcPts val="200"/>
              </a:spcAft>
              <a:buNone/>
            </a:pPr>
            <a:r>
              <a:t/>
            </a:r>
            <a:endParaRPr b="1" sz="1000">
              <a:solidFill>
                <a:schemeClr val="dk1"/>
              </a:solidFill>
              <a:latin typeface="Roboto"/>
              <a:ea typeface="Roboto"/>
              <a:cs typeface="Roboto"/>
              <a:sym typeface="Roboto"/>
            </a:endParaRPr>
          </a:p>
        </p:txBody>
      </p:sp>
      <p:pic>
        <p:nvPicPr>
          <p:cNvPr id="292" name="Google Shape;292;g3dccfc74559_2_1"/>
          <p:cNvPicPr preferRelativeResize="0"/>
          <p:nvPr/>
        </p:nvPicPr>
        <p:blipFill>
          <a:blip r:embed="rId3">
            <a:alphaModFix/>
          </a:blip>
          <a:stretch>
            <a:fillRect/>
          </a:stretch>
        </p:blipFill>
        <p:spPr>
          <a:xfrm>
            <a:off x="307875" y="2487025"/>
            <a:ext cx="8535024" cy="25041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97" name="Shape 297"/>
        <p:cNvGrpSpPr/>
        <p:nvPr/>
      </p:nvGrpSpPr>
      <p:grpSpPr>
        <a:xfrm>
          <a:off x="0" y="0"/>
          <a:ext cx="0" cy="0"/>
          <a:chOff x="0" y="0"/>
          <a:chExt cx="0" cy="0"/>
        </a:xfrm>
      </p:grpSpPr>
      <p:sp>
        <p:nvSpPr>
          <p:cNvPr id="298" name="Google Shape;298;g3dd1eb556c5_4_0"/>
          <p:cNvSpPr/>
          <p:nvPr/>
        </p:nvSpPr>
        <p:spPr>
          <a:xfrm>
            <a:off x="0" y="0"/>
            <a:ext cx="9144000" cy="5190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g3dd1eb556c5_4_0"/>
          <p:cNvSpPr/>
          <p:nvPr/>
        </p:nvSpPr>
        <p:spPr>
          <a:xfrm>
            <a:off x="139035" y="-37685"/>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400">
                <a:solidFill>
                  <a:srgbClr val="FFFFFF"/>
                </a:solidFill>
                <a:latin typeface="Calibri"/>
                <a:ea typeface="Calibri"/>
                <a:cs typeface="Calibri"/>
                <a:sym typeface="Calibri"/>
              </a:rPr>
              <a:t>Data Analysis &amp; Findings</a:t>
            </a:r>
            <a:endParaRPr b="1" sz="2400">
              <a:solidFill>
                <a:srgbClr val="FFFFFF"/>
              </a:solidFill>
              <a:latin typeface="Calibri"/>
              <a:ea typeface="Calibri"/>
              <a:cs typeface="Calibri"/>
              <a:sym typeface="Calibri"/>
            </a:endParaRPr>
          </a:p>
        </p:txBody>
      </p:sp>
      <p:sp>
        <p:nvSpPr>
          <p:cNvPr id="300" name="Google Shape;300;g3dd1eb556c5_4_0"/>
          <p:cNvSpPr txBox="1"/>
          <p:nvPr/>
        </p:nvSpPr>
        <p:spPr>
          <a:xfrm>
            <a:off x="0" y="0"/>
            <a:ext cx="9144000" cy="2248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
              </a:spcBef>
              <a:spcAft>
                <a:spcPts val="0"/>
              </a:spcAft>
              <a:buNone/>
            </a:pPr>
            <a:r>
              <a:t/>
            </a:r>
            <a:endParaRPr sz="1000">
              <a:solidFill>
                <a:schemeClr val="dk1"/>
              </a:solidFill>
              <a:latin typeface="Roboto"/>
              <a:ea typeface="Roboto"/>
              <a:cs typeface="Roboto"/>
              <a:sym typeface="Roboto"/>
            </a:endParaRPr>
          </a:p>
          <a:p>
            <a:pPr indent="0" lvl="0" marL="0" rtl="0" algn="l">
              <a:lnSpc>
                <a:spcPct val="115000"/>
              </a:lnSpc>
              <a:spcBef>
                <a:spcPts val="200"/>
              </a:spcBef>
              <a:spcAft>
                <a:spcPts val="0"/>
              </a:spcAft>
              <a:buNone/>
            </a:pPr>
            <a:r>
              <a:t/>
            </a:r>
            <a:endParaRPr sz="1000">
              <a:solidFill>
                <a:schemeClr val="dk1"/>
              </a:solidFill>
              <a:latin typeface="Roboto"/>
              <a:ea typeface="Roboto"/>
              <a:cs typeface="Roboto"/>
              <a:sym typeface="Roboto"/>
            </a:endParaRPr>
          </a:p>
          <a:p>
            <a:pPr indent="0" lvl="0" marL="0" rtl="0" algn="l">
              <a:lnSpc>
                <a:spcPct val="115000"/>
              </a:lnSpc>
              <a:spcBef>
                <a:spcPts val="1800"/>
              </a:spcBef>
              <a:spcAft>
                <a:spcPts val="0"/>
              </a:spcAft>
              <a:buNone/>
            </a:pPr>
            <a:r>
              <a:rPr b="1" lang="en-US" sz="1600">
                <a:solidFill>
                  <a:schemeClr val="dk1"/>
                </a:solidFill>
                <a:latin typeface="Roboto"/>
                <a:ea typeface="Roboto"/>
                <a:cs typeface="Roboto"/>
                <a:sym typeface="Roboto"/>
              </a:rPr>
              <a:t>Finding 5: The DXY (US Dollar) Has an Inverse Relationship with Oil</a:t>
            </a:r>
            <a:endParaRPr b="1" sz="1600">
              <a:solidFill>
                <a:schemeClr val="dk1"/>
              </a:solidFill>
              <a:latin typeface="Roboto"/>
              <a:ea typeface="Roboto"/>
              <a:cs typeface="Roboto"/>
              <a:sym typeface="Roboto"/>
            </a:endParaRPr>
          </a:p>
          <a:p>
            <a:pPr indent="0" lvl="0" marL="0" rtl="0" algn="l">
              <a:lnSpc>
                <a:spcPct val="115000"/>
              </a:lnSpc>
              <a:spcBef>
                <a:spcPts val="400"/>
              </a:spcBef>
              <a:spcAft>
                <a:spcPts val="0"/>
              </a:spcAft>
              <a:buNone/>
            </a:pPr>
            <a:r>
              <a:rPr lang="en-US" sz="1000">
                <a:solidFill>
                  <a:schemeClr val="dk1"/>
                </a:solidFill>
                <a:latin typeface="Roboto"/>
                <a:ea typeface="Roboto"/>
                <a:cs typeface="Roboto"/>
                <a:sym typeface="Roboto"/>
              </a:rPr>
              <a:t>Since oil is priced in USD, a stronger dollar makes oil more expensive for non-US buyers, suppressing demand:</a:t>
            </a:r>
            <a:endParaRPr sz="1000">
              <a:solidFill>
                <a:schemeClr val="dk1"/>
              </a:solidFill>
              <a:latin typeface="Roboto"/>
              <a:ea typeface="Roboto"/>
              <a:cs typeface="Roboto"/>
              <a:sym typeface="Roboto"/>
            </a:endParaRPr>
          </a:p>
          <a:p>
            <a:pPr indent="-292100" lvl="0" marL="457200" rtl="0" algn="l">
              <a:lnSpc>
                <a:spcPct val="115000"/>
              </a:lnSpc>
              <a:spcBef>
                <a:spcPts val="1000"/>
              </a:spcBef>
              <a:spcAft>
                <a:spcPts val="0"/>
              </a:spcAft>
              <a:buClr>
                <a:schemeClr val="dk1"/>
              </a:buClr>
              <a:buSzPts val="1000"/>
              <a:buFont typeface="Roboto"/>
              <a:buChar char="●"/>
            </a:pPr>
            <a:r>
              <a:rPr lang="en-US" sz="1000">
                <a:solidFill>
                  <a:schemeClr val="dk1"/>
                </a:solidFill>
                <a:latin typeface="Roboto"/>
                <a:ea typeface="Roboto"/>
                <a:cs typeface="Roboto"/>
                <a:sym typeface="Roboto"/>
              </a:rPr>
              <a:t>DXY correlation with Brent: approximately </a:t>
            </a:r>
            <a:r>
              <a:rPr b="1" lang="en-US" sz="1000">
                <a:solidFill>
                  <a:schemeClr val="dk1"/>
                </a:solidFill>
                <a:latin typeface="Roboto"/>
                <a:ea typeface="Roboto"/>
                <a:cs typeface="Roboto"/>
                <a:sym typeface="Roboto"/>
              </a:rPr>
              <a:t>-0.40 to -0.55</a:t>
            </a:r>
            <a:endParaRPr b="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lang="en-US" sz="1000">
                <a:solidFill>
                  <a:schemeClr val="dk1"/>
                </a:solidFill>
                <a:latin typeface="Roboto"/>
                <a:ea typeface="Roboto"/>
                <a:cs typeface="Roboto"/>
                <a:sym typeface="Roboto"/>
              </a:rPr>
              <a:t>This relationship was most pronounced during 2014–2016 and 2022</a:t>
            </a:r>
            <a:endParaRPr sz="1000">
              <a:solidFill>
                <a:schemeClr val="dk1"/>
              </a:solidFill>
              <a:latin typeface="Roboto"/>
              <a:ea typeface="Roboto"/>
              <a:cs typeface="Roboto"/>
              <a:sym typeface="Roboto"/>
            </a:endParaRPr>
          </a:p>
          <a:p>
            <a:pPr indent="0" lvl="0" marL="0" rtl="0" algn="l">
              <a:lnSpc>
                <a:spcPct val="115000"/>
              </a:lnSpc>
              <a:spcBef>
                <a:spcPts val="1000"/>
              </a:spcBef>
              <a:spcAft>
                <a:spcPts val="200"/>
              </a:spcAft>
              <a:buNone/>
            </a:pPr>
            <a:r>
              <a:rPr b="1" lang="en-US" sz="1000">
                <a:solidFill>
                  <a:schemeClr val="dk1"/>
                </a:solidFill>
                <a:latin typeface="Roboto"/>
                <a:ea typeface="Roboto"/>
                <a:cs typeface="Roboto"/>
                <a:sym typeface="Roboto"/>
              </a:rPr>
              <a:t>Conclusion:</a:t>
            </a:r>
            <a:r>
              <a:rPr lang="en-US" sz="1000">
                <a:solidFill>
                  <a:schemeClr val="dk1"/>
                </a:solidFill>
                <a:latin typeface="Roboto"/>
                <a:ea typeface="Roboto"/>
                <a:cs typeface="Roboto"/>
                <a:sym typeface="Roboto"/>
              </a:rPr>
              <a:t> Dollar strength acts as a dampener on oil prices during non-crisis periods. Central bank rate decisions (which strengthen the dollar) indirectly suppress oil demand.</a:t>
            </a:r>
            <a:endParaRPr b="1" sz="1600">
              <a:solidFill>
                <a:schemeClr val="dk1"/>
              </a:solidFill>
              <a:latin typeface="Roboto"/>
              <a:ea typeface="Roboto"/>
              <a:cs typeface="Roboto"/>
              <a:sym typeface="Roboto"/>
            </a:endParaRPr>
          </a:p>
        </p:txBody>
      </p:sp>
      <p:pic>
        <p:nvPicPr>
          <p:cNvPr id="301" name="Google Shape;301;g3dd1eb556c5_4_0"/>
          <p:cNvPicPr preferRelativeResize="0"/>
          <p:nvPr/>
        </p:nvPicPr>
        <p:blipFill>
          <a:blip r:embed="rId3">
            <a:alphaModFix/>
          </a:blip>
          <a:stretch>
            <a:fillRect/>
          </a:stretch>
        </p:blipFill>
        <p:spPr>
          <a:xfrm>
            <a:off x="545150" y="2248200"/>
            <a:ext cx="7584701" cy="276002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306" name="Shape 306"/>
        <p:cNvGrpSpPr/>
        <p:nvPr/>
      </p:nvGrpSpPr>
      <p:grpSpPr>
        <a:xfrm>
          <a:off x="0" y="0"/>
          <a:ext cx="0" cy="0"/>
          <a:chOff x="0" y="0"/>
          <a:chExt cx="0" cy="0"/>
        </a:xfrm>
      </p:grpSpPr>
      <p:sp>
        <p:nvSpPr>
          <p:cNvPr id="307" name="Google Shape;307;g3d26b78a17e_0_222"/>
          <p:cNvSpPr/>
          <p:nvPr/>
        </p:nvSpPr>
        <p:spPr>
          <a:xfrm>
            <a:off x="0" y="0"/>
            <a:ext cx="9144000" cy="5190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g3d26b78a17e_0_222"/>
          <p:cNvSpPr/>
          <p:nvPr/>
        </p:nvSpPr>
        <p:spPr>
          <a:xfrm>
            <a:off x="139035" y="-37685"/>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400">
                <a:solidFill>
                  <a:srgbClr val="FFFFFF"/>
                </a:solidFill>
                <a:latin typeface="Calibri"/>
                <a:ea typeface="Calibri"/>
                <a:cs typeface="Calibri"/>
                <a:sym typeface="Calibri"/>
              </a:rPr>
              <a:t>Data Analysis &amp; Findings</a:t>
            </a:r>
            <a:endParaRPr b="1" sz="2400">
              <a:solidFill>
                <a:srgbClr val="FFFFFF"/>
              </a:solidFill>
              <a:latin typeface="Calibri"/>
              <a:ea typeface="Calibri"/>
              <a:cs typeface="Calibri"/>
              <a:sym typeface="Calibri"/>
            </a:endParaRPr>
          </a:p>
        </p:txBody>
      </p:sp>
      <p:sp>
        <p:nvSpPr>
          <p:cNvPr id="309" name="Google Shape;309;g3d26b78a17e_0_222"/>
          <p:cNvSpPr txBox="1"/>
          <p:nvPr/>
        </p:nvSpPr>
        <p:spPr>
          <a:xfrm>
            <a:off x="86600" y="3965550"/>
            <a:ext cx="5803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200">
              <a:solidFill>
                <a:schemeClr val="dk1"/>
              </a:solidFill>
            </a:endParaRPr>
          </a:p>
        </p:txBody>
      </p:sp>
      <p:sp>
        <p:nvSpPr>
          <p:cNvPr id="310" name="Google Shape;310;g3d26b78a17e_0_222"/>
          <p:cNvSpPr txBox="1"/>
          <p:nvPr/>
        </p:nvSpPr>
        <p:spPr>
          <a:xfrm>
            <a:off x="0" y="0"/>
            <a:ext cx="9144000" cy="1840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
              </a:spcBef>
              <a:spcAft>
                <a:spcPts val="0"/>
              </a:spcAft>
              <a:buNone/>
            </a:pPr>
            <a:r>
              <a:t/>
            </a:r>
            <a:endParaRPr sz="1000">
              <a:solidFill>
                <a:schemeClr val="dk1"/>
              </a:solidFill>
              <a:latin typeface="Roboto"/>
              <a:ea typeface="Roboto"/>
              <a:cs typeface="Roboto"/>
              <a:sym typeface="Roboto"/>
            </a:endParaRPr>
          </a:p>
          <a:p>
            <a:pPr indent="0" lvl="0" marL="0" rtl="0" algn="l">
              <a:lnSpc>
                <a:spcPct val="115000"/>
              </a:lnSpc>
              <a:spcBef>
                <a:spcPts val="200"/>
              </a:spcBef>
              <a:spcAft>
                <a:spcPts val="0"/>
              </a:spcAft>
              <a:buNone/>
            </a:pPr>
            <a:r>
              <a:t/>
            </a:r>
            <a:endParaRPr sz="1000">
              <a:solidFill>
                <a:schemeClr val="dk1"/>
              </a:solidFill>
              <a:latin typeface="Roboto"/>
              <a:ea typeface="Roboto"/>
              <a:cs typeface="Roboto"/>
              <a:sym typeface="Roboto"/>
            </a:endParaRPr>
          </a:p>
          <a:p>
            <a:pPr indent="0" lvl="0" marL="0" rtl="0" algn="l">
              <a:lnSpc>
                <a:spcPct val="115000"/>
              </a:lnSpc>
              <a:spcBef>
                <a:spcPts val="1800"/>
              </a:spcBef>
              <a:spcAft>
                <a:spcPts val="0"/>
              </a:spcAft>
              <a:buNone/>
            </a:pPr>
            <a:r>
              <a:rPr b="1" lang="en-US" sz="1600">
                <a:solidFill>
                  <a:schemeClr val="dk1"/>
                </a:solidFill>
                <a:latin typeface="Roboto"/>
                <a:ea typeface="Roboto"/>
                <a:cs typeface="Roboto"/>
                <a:sym typeface="Roboto"/>
              </a:rPr>
              <a:t>F</a:t>
            </a:r>
            <a:r>
              <a:rPr b="1" lang="en-US" sz="1600">
                <a:solidFill>
                  <a:schemeClr val="dk1"/>
                </a:solidFill>
                <a:latin typeface="Roboto"/>
                <a:ea typeface="Roboto"/>
                <a:cs typeface="Roboto"/>
                <a:sym typeface="Roboto"/>
              </a:rPr>
              <a:t>inding 6: Return Volatility Clusters Around Events</a:t>
            </a:r>
            <a:endParaRPr b="1" sz="1600">
              <a:solidFill>
                <a:schemeClr val="dk1"/>
              </a:solidFill>
              <a:latin typeface="Roboto"/>
              <a:ea typeface="Roboto"/>
              <a:cs typeface="Roboto"/>
              <a:sym typeface="Roboto"/>
            </a:endParaRPr>
          </a:p>
          <a:p>
            <a:pPr indent="0" lvl="0" marL="0" rtl="0" algn="l">
              <a:lnSpc>
                <a:spcPct val="115000"/>
              </a:lnSpc>
              <a:spcBef>
                <a:spcPts val="400"/>
              </a:spcBef>
              <a:spcAft>
                <a:spcPts val="0"/>
              </a:spcAft>
              <a:buNone/>
            </a:pPr>
            <a:r>
              <a:rPr lang="en-US" sz="1000">
                <a:solidFill>
                  <a:schemeClr val="dk1"/>
                </a:solidFill>
                <a:latin typeface="Roboto"/>
                <a:ea typeface="Roboto"/>
                <a:cs typeface="Roboto"/>
                <a:sym typeface="Roboto"/>
              </a:rPr>
              <a:t>Brent and WTI daily returns show </a:t>
            </a:r>
            <a:r>
              <a:rPr b="1" lang="en-US" sz="1000">
                <a:solidFill>
                  <a:schemeClr val="dk1"/>
                </a:solidFill>
                <a:latin typeface="Roboto"/>
                <a:ea typeface="Roboto"/>
                <a:cs typeface="Roboto"/>
                <a:sym typeface="Roboto"/>
              </a:rPr>
              <a:t>volatility clustering</a:t>
            </a:r>
            <a:r>
              <a:rPr lang="en-US" sz="1000">
                <a:solidFill>
                  <a:schemeClr val="dk1"/>
                </a:solidFill>
                <a:latin typeface="Roboto"/>
                <a:ea typeface="Roboto"/>
                <a:cs typeface="Roboto"/>
                <a:sym typeface="Roboto"/>
              </a:rPr>
              <a:t> — large price swings follow other large swings, particularly around the 35 tagged geopolitical events. Calm periods (2017–2019) show returns within ±2%, while shock periods show ±10% daily moves.</a:t>
            </a:r>
            <a:endParaRPr sz="1000">
              <a:solidFill>
                <a:schemeClr val="dk1"/>
              </a:solidFill>
              <a:latin typeface="Roboto"/>
              <a:ea typeface="Roboto"/>
              <a:cs typeface="Roboto"/>
              <a:sym typeface="Roboto"/>
            </a:endParaRPr>
          </a:p>
          <a:p>
            <a:pPr indent="0" lvl="0" marL="0" rtl="0" algn="l">
              <a:lnSpc>
                <a:spcPct val="115000"/>
              </a:lnSpc>
              <a:spcBef>
                <a:spcPts val="200"/>
              </a:spcBef>
              <a:spcAft>
                <a:spcPts val="200"/>
              </a:spcAft>
              <a:buNone/>
            </a:pPr>
            <a:r>
              <a:rPr b="1" lang="en-US" sz="1000">
                <a:solidFill>
                  <a:schemeClr val="dk1"/>
                </a:solidFill>
                <a:latin typeface="Roboto"/>
                <a:ea typeface="Roboto"/>
                <a:cs typeface="Roboto"/>
                <a:sym typeface="Roboto"/>
              </a:rPr>
              <a:t>Conclusion:</a:t>
            </a:r>
            <a:r>
              <a:rPr lang="en-US" sz="1000">
                <a:solidFill>
                  <a:schemeClr val="dk1"/>
                </a:solidFill>
                <a:latin typeface="Roboto"/>
                <a:ea typeface="Roboto"/>
                <a:cs typeface="Roboto"/>
                <a:sym typeface="Roboto"/>
              </a:rPr>
              <a:t> Oil market risk is not constant — it is regime-dependent. A standard deviation-based risk model would underestimate tail risk during geopolitical crises.</a:t>
            </a:r>
            <a:endParaRPr b="1" sz="1000">
              <a:solidFill>
                <a:schemeClr val="dk1"/>
              </a:solidFill>
              <a:latin typeface="Roboto"/>
              <a:ea typeface="Roboto"/>
              <a:cs typeface="Roboto"/>
              <a:sym typeface="Roboto"/>
            </a:endParaRPr>
          </a:p>
        </p:txBody>
      </p:sp>
      <p:pic>
        <p:nvPicPr>
          <p:cNvPr id="311" name="Google Shape;311;g3d26b78a17e_0_222"/>
          <p:cNvPicPr preferRelativeResize="0"/>
          <p:nvPr/>
        </p:nvPicPr>
        <p:blipFill>
          <a:blip r:embed="rId3">
            <a:alphaModFix/>
          </a:blip>
          <a:stretch>
            <a:fillRect/>
          </a:stretch>
        </p:blipFill>
        <p:spPr>
          <a:xfrm>
            <a:off x="223888" y="1774374"/>
            <a:ext cx="8696224" cy="31757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316" name="Shape 316"/>
        <p:cNvGrpSpPr/>
        <p:nvPr/>
      </p:nvGrpSpPr>
      <p:grpSpPr>
        <a:xfrm>
          <a:off x="0" y="0"/>
          <a:ext cx="0" cy="0"/>
          <a:chOff x="0" y="0"/>
          <a:chExt cx="0" cy="0"/>
        </a:xfrm>
      </p:grpSpPr>
      <p:sp>
        <p:nvSpPr>
          <p:cNvPr id="317" name="Google Shape;317;g3dc9337976c_0_34"/>
          <p:cNvSpPr/>
          <p:nvPr/>
        </p:nvSpPr>
        <p:spPr>
          <a:xfrm>
            <a:off x="0" y="0"/>
            <a:ext cx="9144000" cy="5190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g3dc9337976c_0_34"/>
          <p:cNvSpPr/>
          <p:nvPr/>
        </p:nvSpPr>
        <p:spPr>
          <a:xfrm>
            <a:off x="139035" y="-37685"/>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400">
                <a:solidFill>
                  <a:srgbClr val="FFFFFF"/>
                </a:solidFill>
                <a:latin typeface="Calibri"/>
                <a:ea typeface="Calibri"/>
                <a:cs typeface="Calibri"/>
                <a:sym typeface="Calibri"/>
              </a:rPr>
              <a:t>Test Cases</a:t>
            </a:r>
            <a:endParaRPr b="1" sz="2400">
              <a:solidFill>
                <a:srgbClr val="FFFFFF"/>
              </a:solidFill>
              <a:latin typeface="Calibri"/>
              <a:ea typeface="Calibri"/>
              <a:cs typeface="Calibri"/>
              <a:sym typeface="Calibri"/>
            </a:endParaRPr>
          </a:p>
        </p:txBody>
      </p:sp>
      <p:sp>
        <p:nvSpPr>
          <p:cNvPr id="319" name="Google Shape;319;g3dc9337976c_0_34"/>
          <p:cNvSpPr txBox="1"/>
          <p:nvPr/>
        </p:nvSpPr>
        <p:spPr>
          <a:xfrm>
            <a:off x="86600" y="3965550"/>
            <a:ext cx="5803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200">
              <a:solidFill>
                <a:schemeClr val="dk1"/>
              </a:solidFill>
            </a:endParaRPr>
          </a:p>
        </p:txBody>
      </p:sp>
      <p:graphicFrame>
        <p:nvGraphicFramePr>
          <p:cNvPr id="320" name="Google Shape;320;g3dc9337976c_0_34"/>
          <p:cNvGraphicFramePr/>
          <p:nvPr/>
        </p:nvGraphicFramePr>
        <p:xfrm>
          <a:off x="271290" y="1210775"/>
          <a:ext cx="3000000" cy="3000000"/>
        </p:xfrm>
        <a:graphic>
          <a:graphicData uri="http://schemas.openxmlformats.org/drawingml/2006/table">
            <a:tbl>
              <a:tblPr>
                <a:noFill/>
                <a:tableStyleId>{96914E09-2C7A-4806-8AC3-76DB3140FBE1}</a:tableStyleId>
              </a:tblPr>
              <a:tblGrid>
                <a:gridCol w="1044400"/>
                <a:gridCol w="805325"/>
                <a:gridCol w="1761625"/>
                <a:gridCol w="4353725"/>
              </a:tblGrid>
              <a:tr h="432900">
                <a:tc>
                  <a:txBody>
                    <a:bodyPr/>
                    <a:lstStyle/>
                    <a:p>
                      <a:pPr indent="0" lvl="0" marL="0" rtl="0" algn="ctr">
                        <a:lnSpc>
                          <a:spcPct val="115000"/>
                        </a:lnSpc>
                        <a:spcBef>
                          <a:spcPts val="0"/>
                        </a:spcBef>
                        <a:spcAft>
                          <a:spcPts val="0"/>
                        </a:spcAft>
                        <a:buNone/>
                      </a:pPr>
                      <a:r>
                        <a:rPr b="1" lang="en-US" sz="1100">
                          <a:solidFill>
                            <a:schemeClr val="dk1"/>
                          </a:solidFill>
                          <a:latin typeface="Calibri"/>
                          <a:ea typeface="Calibri"/>
                          <a:cs typeface="Calibri"/>
                          <a:sym typeface="Calibri"/>
                        </a:rPr>
                        <a:t>Column</a:t>
                      </a:r>
                      <a:r>
                        <a:rPr b="1" lang="en-US" sz="1100">
                          <a:solidFill>
                            <a:schemeClr val="dk1"/>
                          </a:solidFill>
                          <a:latin typeface="Calibri"/>
                          <a:ea typeface="Calibri"/>
                          <a:cs typeface="Calibri"/>
                          <a:sym typeface="Calibri"/>
                        </a:rPr>
                        <a:t> Header</a:t>
                      </a:r>
                      <a:endParaRPr b="1" sz="11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US" sz="1100">
                          <a:solidFill>
                            <a:schemeClr val="dk1"/>
                          </a:solidFill>
                          <a:latin typeface="Calibri"/>
                          <a:ea typeface="Calibri"/>
                          <a:cs typeface="Calibri"/>
                          <a:sym typeface="Calibri"/>
                        </a:rPr>
                        <a:t>Test</a:t>
                      </a:r>
                      <a:endParaRPr b="1" sz="11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b="1" lang="en-US" sz="1100">
                          <a:solidFill>
                            <a:schemeClr val="dk1"/>
                          </a:solidFill>
                          <a:latin typeface="Calibri"/>
                          <a:ea typeface="Calibri"/>
                          <a:cs typeface="Calibri"/>
                          <a:sym typeface="Calibri"/>
                        </a:rPr>
                        <a:t>Validation</a:t>
                      </a:r>
                      <a:endParaRPr b="1" sz="11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US" sz="1100">
                          <a:solidFill>
                            <a:schemeClr val="dk1"/>
                          </a:solidFill>
                          <a:latin typeface="Calibri"/>
                          <a:ea typeface="Calibri"/>
                          <a:cs typeface="Calibri"/>
                          <a:sym typeface="Calibri"/>
                        </a:rPr>
                        <a:t>Description</a:t>
                      </a:r>
                      <a:endParaRPr b="1" sz="11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CFE2F3"/>
                    </a:solidFill>
                  </a:tcPr>
                </a:tc>
              </a:tr>
              <a:tr h="216450">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date</a:t>
                      </a:r>
                      <a:endParaRPr sz="10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not_null</a:t>
                      </a:r>
                      <a:endParaRPr sz="10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No missing dates</a:t>
                      </a:r>
                      <a:endParaRPr sz="11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Every row must have a date for time series analysis</a:t>
                      </a:r>
                      <a:endParaRPr sz="11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393550">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date</a:t>
                      </a:r>
                      <a:endParaRPr sz="10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unique</a:t>
                      </a:r>
                      <a:endParaRPr sz="10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No duplicate dates</a:t>
                      </a:r>
                      <a:endParaRPr sz="11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Duplicate dates would skew price averages and correlations</a:t>
                      </a:r>
                      <a:endParaRPr sz="11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393550">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brent_price</a:t>
                      </a:r>
                      <a:endParaRPr sz="10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not_null</a:t>
                      </a:r>
                      <a:endParaRPr sz="10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No missing Brent prices</a:t>
                      </a:r>
                      <a:endParaRPr sz="11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Missing prices break the line chart and correlation heatmap</a:t>
                      </a:r>
                      <a:endParaRPr sz="11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16450">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wti_price</a:t>
                      </a:r>
                      <a:endParaRPr sz="10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not_null</a:t>
                      </a:r>
                      <a:endParaRPr sz="10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No missing WTI prices</a:t>
                      </a:r>
                      <a:endParaRPr sz="11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Same — both price series must be complete</a:t>
                      </a:r>
                      <a:endParaRPr sz="11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16450">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vix</a:t>
                      </a:r>
                      <a:endParaRPr sz="10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not_null</a:t>
                      </a:r>
                      <a:endParaRPr sz="10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No missing VIX values</a:t>
                      </a:r>
                      <a:endParaRPr sz="11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Finding 3 (VIX vs Brent) requires complete VIX data</a:t>
                      </a:r>
                      <a:endParaRPr sz="11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16450">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gpr_index</a:t>
                      </a:r>
                      <a:endParaRPr sz="10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not_null</a:t>
                      </a:r>
                      <a:endParaRPr sz="10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No missing GPR values</a:t>
                      </a:r>
                      <a:endParaRPr sz="11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Finding 4 (GPR leads spikes) requires complete GPR data</a:t>
                      </a:r>
                      <a:endParaRPr sz="11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graphicFrame>
        <p:nvGraphicFramePr>
          <p:cNvPr id="321" name="Google Shape;321;g3dc9337976c_0_34"/>
          <p:cNvGraphicFramePr/>
          <p:nvPr/>
        </p:nvGraphicFramePr>
        <p:xfrm>
          <a:off x="288224" y="3399899"/>
          <a:ext cx="3000000" cy="3000000"/>
        </p:xfrm>
        <a:graphic>
          <a:graphicData uri="http://schemas.openxmlformats.org/drawingml/2006/table">
            <a:tbl>
              <a:tblPr>
                <a:noFill/>
                <a:tableStyleId>{96914E09-2C7A-4806-8AC3-76DB3140FBE1}</a:tableStyleId>
              </a:tblPr>
              <a:tblGrid>
                <a:gridCol w="981075"/>
                <a:gridCol w="1038225"/>
                <a:gridCol w="1733550"/>
                <a:gridCol w="3400425"/>
              </a:tblGrid>
              <a:tr h="209550">
                <a:tc>
                  <a:txBody>
                    <a:bodyPr/>
                    <a:lstStyle/>
                    <a:p>
                      <a:pPr indent="0" lvl="0" marL="0" rtl="0" algn="ctr">
                        <a:lnSpc>
                          <a:spcPct val="115000"/>
                        </a:lnSpc>
                        <a:spcBef>
                          <a:spcPts val="0"/>
                        </a:spcBef>
                        <a:spcAft>
                          <a:spcPts val="0"/>
                        </a:spcAft>
                        <a:buNone/>
                      </a:pPr>
                      <a:r>
                        <a:rPr b="1" lang="en-US" sz="1100">
                          <a:solidFill>
                            <a:schemeClr val="dk1"/>
                          </a:solidFill>
                          <a:latin typeface="Calibri"/>
                          <a:ea typeface="Calibri"/>
                          <a:cs typeface="Calibri"/>
                          <a:sym typeface="Calibri"/>
                        </a:rPr>
                        <a:t>Column Header</a:t>
                      </a:r>
                      <a:endParaRPr b="1" sz="11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US" sz="1100">
                          <a:solidFill>
                            <a:schemeClr val="dk1"/>
                          </a:solidFill>
                          <a:latin typeface="Calibri"/>
                          <a:ea typeface="Calibri"/>
                          <a:cs typeface="Calibri"/>
                          <a:sym typeface="Calibri"/>
                        </a:rPr>
                        <a:t>Test</a:t>
                      </a:r>
                      <a:endParaRPr b="1" sz="11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b="1" lang="en-US" sz="1100">
                          <a:solidFill>
                            <a:schemeClr val="dk1"/>
                          </a:solidFill>
                          <a:latin typeface="Calibri"/>
                          <a:ea typeface="Calibri"/>
                          <a:cs typeface="Calibri"/>
                          <a:sym typeface="Calibri"/>
                        </a:rPr>
                        <a:t>Validation</a:t>
                      </a:r>
                      <a:endParaRPr b="1" sz="11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US" sz="1100">
                          <a:solidFill>
                            <a:schemeClr val="dk1"/>
                          </a:solidFill>
                          <a:latin typeface="Calibri"/>
                          <a:ea typeface="Calibri"/>
                          <a:cs typeface="Calibri"/>
                          <a:sym typeface="Calibri"/>
                        </a:rPr>
                        <a:t>Description</a:t>
                      </a:r>
                      <a:endParaRPr b="1" sz="11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CFE2F3"/>
                    </a:solidFill>
                  </a:tcPr>
                </a:tc>
              </a:tr>
              <a:tr h="209550">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date</a:t>
                      </a:r>
                      <a:endParaRPr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19050">
                      <a:solidFill>
                        <a:srgbClr val="666666"/>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not_null</a:t>
                      </a:r>
                      <a:endParaRPr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19050">
                      <a:solidFill>
                        <a:srgbClr val="666666"/>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No missing event dates</a:t>
                      </a:r>
                      <a:endParaRPr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19050">
                      <a:solidFill>
                        <a:srgbClr val="666666"/>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Events without dates cannot be joined to oil prices</a:t>
                      </a:r>
                      <a:endParaRPr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19050">
                      <a:solidFill>
                        <a:srgbClr val="666666"/>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date</a:t>
                      </a:r>
                      <a:endParaRPr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unique</a:t>
                      </a:r>
                      <a:endParaRPr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One event per date</a:t>
                      </a:r>
                      <a:endParaRPr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Prevents duplicate event markers on the price chart</a:t>
                      </a:r>
                      <a:endParaRPr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event_type</a:t>
                      </a:r>
                      <a:endParaRPr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not_null</a:t>
                      </a:r>
                      <a:endParaRPr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All events are categorised</a:t>
                      </a:r>
                      <a:endParaRPr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Needed for Power BI event type filter</a:t>
                      </a:r>
                      <a:endParaRPr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event_type</a:t>
                      </a:r>
                      <a:endParaRPr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accepted_values</a:t>
                      </a:r>
                      <a:endParaRPr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Only valid event categories</a:t>
                      </a:r>
                      <a:endParaRPr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Prevents misspelled or inconsistent categories breaking filters</a:t>
                      </a:r>
                      <a:endParaRPr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event_severity</a:t>
                      </a:r>
                      <a:endParaRPr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not_null</a:t>
                      </a:r>
                      <a:endParaRPr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All events have a severity score</a:t>
                      </a:r>
                      <a:endParaRPr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Severity is used for filtering and colour coding in visuals</a:t>
                      </a:r>
                      <a:endParaRPr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bl>
          </a:graphicData>
        </a:graphic>
      </p:graphicFrame>
      <p:sp>
        <p:nvSpPr>
          <p:cNvPr id="322" name="Google Shape;322;g3dc9337976c_0_34"/>
          <p:cNvSpPr txBox="1"/>
          <p:nvPr/>
        </p:nvSpPr>
        <p:spPr>
          <a:xfrm>
            <a:off x="86600" y="519000"/>
            <a:ext cx="8611200" cy="11082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rgbClr val="3B3B3B"/>
              </a:buClr>
              <a:buSzPts val="1200"/>
              <a:buFont typeface="Calibri"/>
              <a:buChar char="●"/>
            </a:pPr>
            <a:r>
              <a:rPr lang="en-US" sz="1200">
                <a:solidFill>
                  <a:srgbClr val="3B3B3B"/>
                </a:solidFill>
                <a:latin typeface="Calibri"/>
                <a:ea typeface="Calibri"/>
                <a:cs typeface="Calibri"/>
                <a:sym typeface="Calibri"/>
              </a:rPr>
              <a:t>stg</a:t>
            </a:r>
            <a:r>
              <a:rPr lang="en-US" sz="1200">
                <a:solidFill>
                  <a:srgbClr val="3B3B3B"/>
                </a:solidFill>
                <a:latin typeface="Calibri"/>
                <a:ea typeface="Calibri"/>
                <a:cs typeface="Calibri"/>
                <a:sym typeface="Calibri"/>
              </a:rPr>
              <a:t>_oil_prices:     description: Cleaned daily oil price data with macro indicators: </a:t>
            </a:r>
            <a:endParaRPr sz="1200">
              <a:solidFill>
                <a:srgbClr val="3B3B3B"/>
              </a:solidFill>
              <a:latin typeface="Calibri"/>
              <a:ea typeface="Calibri"/>
              <a:cs typeface="Calibri"/>
              <a:sym typeface="Calibri"/>
            </a:endParaRPr>
          </a:p>
          <a:p>
            <a:pPr indent="-304800" lvl="0" marL="457200" rtl="0" algn="l">
              <a:spcBef>
                <a:spcPts val="0"/>
              </a:spcBef>
              <a:spcAft>
                <a:spcPts val="0"/>
              </a:spcAft>
              <a:buClr>
                <a:srgbClr val="3B3B3B"/>
              </a:buClr>
              <a:buSzPts val="1200"/>
              <a:buFont typeface="Calibri"/>
              <a:buChar char="●"/>
            </a:pPr>
            <a:r>
              <a:rPr lang="en-US" sz="1200">
                <a:solidFill>
                  <a:srgbClr val="3B3B3B"/>
                </a:solidFill>
                <a:latin typeface="Calibri"/>
                <a:ea typeface="Calibri"/>
                <a:cs typeface="Calibri"/>
                <a:sym typeface="Calibri"/>
              </a:rPr>
              <a:t>stg_geo_events: description: Cleaned geopolitical events with severity ratings</a:t>
            </a:r>
            <a:endParaRPr sz="1200">
              <a:solidFill>
                <a:srgbClr val="3B3B3B"/>
              </a:solidFill>
              <a:latin typeface="Calibri"/>
              <a:ea typeface="Calibri"/>
              <a:cs typeface="Calibri"/>
              <a:sym typeface="Calibri"/>
            </a:endParaRPr>
          </a:p>
          <a:p>
            <a:pPr indent="-304800" lvl="0" marL="457200" rtl="0" algn="l">
              <a:spcBef>
                <a:spcPts val="0"/>
              </a:spcBef>
              <a:spcAft>
                <a:spcPts val="0"/>
              </a:spcAft>
              <a:buClr>
                <a:srgbClr val="3B3B3B"/>
              </a:buClr>
              <a:buSzPts val="1200"/>
              <a:buFont typeface="Calibri"/>
              <a:buChar char="●"/>
            </a:pPr>
            <a:r>
              <a:rPr lang="en-US" sz="1200">
                <a:solidFill>
                  <a:srgbClr val="3B3B3B"/>
                </a:solidFill>
                <a:latin typeface="Calibri"/>
                <a:ea typeface="Calibri"/>
                <a:cs typeface="Calibri"/>
                <a:sym typeface="Calibri"/>
              </a:rPr>
              <a:t>mart_oil_geopolitics:  description: Joined mart combining oil prices and geopolitical events</a:t>
            </a:r>
            <a:endParaRPr sz="1200">
              <a:solidFill>
                <a:srgbClr val="3B3B3B"/>
              </a:solidFill>
              <a:latin typeface="Calibri"/>
              <a:ea typeface="Calibri"/>
              <a:cs typeface="Calibri"/>
              <a:sym typeface="Calibri"/>
            </a:endParaRPr>
          </a:p>
          <a:p>
            <a:pPr indent="0" lvl="0" marL="0" rtl="0" algn="l">
              <a:spcBef>
                <a:spcPts val="0"/>
              </a:spcBef>
              <a:spcAft>
                <a:spcPts val="0"/>
              </a:spcAft>
              <a:buNone/>
            </a:pPr>
            <a:r>
              <a:t/>
            </a:r>
            <a:endParaRPr sz="1200">
              <a:solidFill>
                <a:srgbClr val="3B3B3B"/>
              </a:solidFill>
              <a:highlight>
                <a:srgbClr val="F8F8F8"/>
              </a:highlight>
              <a:latin typeface="Calibri"/>
              <a:ea typeface="Calibri"/>
              <a:cs typeface="Calibri"/>
              <a:sym typeface="Calibri"/>
            </a:endParaRPr>
          </a:p>
          <a:p>
            <a:pPr indent="0" lvl="0" marL="0" rtl="0" algn="l">
              <a:spcBef>
                <a:spcPts val="0"/>
              </a:spcBef>
              <a:spcAft>
                <a:spcPts val="0"/>
              </a:spcAft>
              <a:buNone/>
            </a:pPr>
            <a:r>
              <a:t/>
            </a:r>
            <a:endParaRPr sz="1200">
              <a:solidFill>
                <a:srgbClr val="3B3B3B"/>
              </a:solidFill>
              <a:highlight>
                <a:srgbClr val="F8F8F8"/>
              </a:highlight>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327" name="Shape 327"/>
        <p:cNvGrpSpPr/>
        <p:nvPr/>
      </p:nvGrpSpPr>
      <p:grpSpPr>
        <a:xfrm>
          <a:off x="0" y="0"/>
          <a:ext cx="0" cy="0"/>
          <a:chOff x="0" y="0"/>
          <a:chExt cx="0" cy="0"/>
        </a:xfrm>
      </p:grpSpPr>
      <p:sp>
        <p:nvSpPr>
          <p:cNvPr id="328" name="Google Shape;328;g3d26b78a17e_0_242"/>
          <p:cNvSpPr/>
          <p:nvPr/>
        </p:nvSpPr>
        <p:spPr>
          <a:xfrm>
            <a:off x="0" y="0"/>
            <a:ext cx="9144000" cy="5190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g3d26b78a17e_0_242"/>
          <p:cNvSpPr/>
          <p:nvPr/>
        </p:nvSpPr>
        <p:spPr>
          <a:xfrm>
            <a:off x="139035" y="-37685"/>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400">
                <a:solidFill>
                  <a:srgbClr val="FFFFFF"/>
                </a:solidFill>
                <a:latin typeface="Calibri"/>
                <a:ea typeface="Calibri"/>
                <a:cs typeface="Calibri"/>
                <a:sym typeface="Calibri"/>
              </a:rPr>
              <a:t>Test Cases</a:t>
            </a:r>
            <a:endParaRPr b="1" sz="2400">
              <a:solidFill>
                <a:srgbClr val="FFFFFF"/>
              </a:solidFill>
              <a:latin typeface="Calibri"/>
              <a:ea typeface="Calibri"/>
              <a:cs typeface="Calibri"/>
              <a:sym typeface="Calibri"/>
            </a:endParaRPr>
          </a:p>
        </p:txBody>
      </p:sp>
      <p:graphicFrame>
        <p:nvGraphicFramePr>
          <p:cNvPr id="330" name="Google Shape;330;g3d26b78a17e_0_242"/>
          <p:cNvGraphicFramePr/>
          <p:nvPr/>
        </p:nvGraphicFramePr>
        <p:xfrm>
          <a:off x="511263" y="672303"/>
          <a:ext cx="3000000" cy="3000000"/>
        </p:xfrm>
        <a:graphic>
          <a:graphicData uri="http://schemas.openxmlformats.org/drawingml/2006/table">
            <a:tbl>
              <a:tblPr>
                <a:noFill/>
                <a:tableStyleId>{96914E09-2C7A-4806-8AC3-76DB3140FBE1}</a:tableStyleId>
              </a:tblPr>
              <a:tblGrid>
                <a:gridCol w="912275"/>
                <a:gridCol w="703450"/>
                <a:gridCol w="2011425"/>
                <a:gridCol w="3857975"/>
              </a:tblGrid>
              <a:tr h="227000">
                <a:tc>
                  <a:txBody>
                    <a:bodyPr/>
                    <a:lstStyle/>
                    <a:p>
                      <a:pPr indent="0" lvl="0" marL="0" rtl="0" algn="ctr">
                        <a:lnSpc>
                          <a:spcPct val="115000"/>
                        </a:lnSpc>
                        <a:spcBef>
                          <a:spcPts val="0"/>
                        </a:spcBef>
                        <a:spcAft>
                          <a:spcPts val="0"/>
                        </a:spcAft>
                        <a:buNone/>
                      </a:pPr>
                      <a:r>
                        <a:rPr b="1" lang="en-US" sz="1000">
                          <a:solidFill>
                            <a:schemeClr val="dk1"/>
                          </a:solidFill>
                          <a:latin typeface="Calibri"/>
                          <a:ea typeface="Calibri"/>
                          <a:cs typeface="Calibri"/>
                          <a:sym typeface="Calibri"/>
                        </a:rPr>
                        <a:t>Column</a:t>
                      </a:r>
                      <a:endParaRPr b="1"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solidFill>
                      <a:srgbClr val="9FC5E8"/>
                    </a:solidFill>
                  </a:tcPr>
                </a:tc>
                <a:tc>
                  <a:txBody>
                    <a:bodyPr/>
                    <a:lstStyle/>
                    <a:p>
                      <a:pPr indent="0" lvl="0" marL="0" rtl="0" algn="ctr">
                        <a:lnSpc>
                          <a:spcPct val="115000"/>
                        </a:lnSpc>
                        <a:spcBef>
                          <a:spcPts val="0"/>
                        </a:spcBef>
                        <a:spcAft>
                          <a:spcPts val="0"/>
                        </a:spcAft>
                        <a:buNone/>
                      </a:pPr>
                      <a:r>
                        <a:rPr b="1" lang="en-US" sz="1000">
                          <a:solidFill>
                            <a:schemeClr val="dk1"/>
                          </a:solidFill>
                          <a:latin typeface="Calibri"/>
                          <a:ea typeface="Calibri"/>
                          <a:cs typeface="Calibri"/>
                          <a:sym typeface="Calibri"/>
                        </a:rPr>
                        <a:t>Test</a:t>
                      </a:r>
                      <a:endParaRPr b="1"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solidFill>
                      <a:srgbClr val="9FC5E8"/>
                    </a:solidFill>
                  </a:tcPr>
                </a:tc>
                <a:tc>
                  <a:txBody>
                    <a:bodyPr/>
                    <a:lstStyle/>
                    <a:p>
                      <a:pPr indent="0" lvl="0" marL="0" rtl="0" algn="ctr">
                        <a:lnSpc>
                          <a:spcPct val="115000"/>
                        </a:lnSpc>
                        <a:spcBef>
                          <a:spcPts val="0"/>
                        </a:spcBef>
                        <a:spcAft>
                          <a:spcPts val="0"/>
                        </a:spcAft>
                        <a:buNone/>
                      </a:pPr>
                      <a:r>
                        <a:rPr b="1" lang="en-US" sz="1000">
                          <a:solidFill>
                            <a:schemeClr val="dk1"/>
                          </a:solidFill>
                          <a:latin typeface="Calibri"/>
                          <a:ea typeface="Calibri"/>
                          <a:cs typeface="Calibri"/>
                          <a:sym typeface="Calibri"/>
                        </a:rPr>
                        <a:t>What it checks</a:t>
                      </a:r>
                      <a:endParaRPr b="1"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solidFill>
                      <a:srgbClr val="9FC5E8"/>
                    </a:solidFill>
                  </a:tcPr>
                </a:tc>
                <a:tc>
                  <a:txBody>
                    <a:bodyPr/>
                    <a:lstStyle/>
                    <a:p>
                      <a:pPr indent="0" lvl="0" marL="0" rtl="0" algn="ctr">
                        <a:lnSpc>
                          <a:spcPct val="115000"/>
                        </a:lnSpc>
                        <a:spcBef>
                          <a:spcPts val="0"/>
                        </a:spcBef>
                        <a:spcAft>
                          <a:spcPts val="0"/>
                        </a:spcAft>
                        <a:buNone/>
                      </a:pPr>
                      <a:r>
                        <a:rPr b="1" lang="en-US" sz="1000">
                          <a:solidFill>
                            <a:schemeClr val="dk1"/>
                          </a:solidFill>
                          <a:latin typeface="Calibri"/>
                          <a:ea typeface="Calibri"/>
                          <a:cs typeface="Calibri"/>
                          <a:sym typeface="Calibri"/>
                        </a:rPr>
                        <a:t>Why it matters</a:t>
                      </a:r>
                      <a:endParaRPr b="1"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solidFill>
                      <a:srgbClr val="9FC5E8"/>
                    </a:solidFill>
                  </a:tcPr>
                </a:tc>
              </a:tr>
              <a:tr h="371450">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date</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not_null</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 missing dates in mart</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The mart is the final analytical table — must be clean</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r>
              <a:tr h="227000">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date</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unique</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 duplicate rows in mart</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JOIN could produce duplicates if source data had issues</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r>
              <a:tr h="371450">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brent_price</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not_null</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Prices carried through correctly</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Confirms the staging-to-mart transformation preserved data</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r>
              <a:tr h="402400">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wti_price</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not_null</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Prices carried through correctly</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Same as above</a:t>
                      </a:r>
                      <a:endParaRPr sz="1000">
                        <a:solidFill>
                          <a:schemeClr val="dk1"/>
                        </a:solidFill>
                        <a:latin typeface="Calibri"/>
                        <a:ea typeface="Calibri"/>
                        <a:cs typeface="Calibri"/>
                        <a:sym typeface="Calibri"/>
                      </a:endParaRPr>
                    </a:p>
                    <a:p>
                      <a:pPr indent="0" lvl="0" marL="0" rtl="0" algn="l">
                        <a:spcBef>
                          <a:spcPts val="0"/>
                        </a:spcBef>
                        <a:spcAft>
                          <a:spcPts val="0"/>
                        </a:spcAft>
                        <a:buNone/>
                      </a:pPr>
                      <a:r>
                        <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r>
            </a:tbl>
          </a:graphicData>
        </a:graphic>
      </p:graphicFrame>
      <p:graphicFrame>
        <p:nvGraphicFramePr>
          <p:cNvPr id="331" name="Google Shape;331;g3d26b78a17e_0_242"/>
          <p:cNvGraphicFramePr/>
          <p:nvPr/>
        </p:nvGraphicFramePr>
        <p:xfrm>
          <a:off x="5249000" y="2897475"/>
          <a:ext cx="3000000" cy="3000000"/>
        </p:xfrm>
        <a:graphic>
          <a:graphicData uri="http://schemas.openxmlformats.org/drawingml/2006/table">
            <a:tbl>
              <a:tblPr>
                <a:noFill/>
                <a:tableStyleId>{96914E09-2C7A-4806-8AC3-76DB3140FBE1}</a:tableStyleId>
              </a:tblPr>
              <a:tblGrid>
                <a:gridCol w="1094825"/>
                <a:gridCol w="2212950"/>
                <a:gridCol w="434825"/>
              </a:tblGrid>
              <a:tr h="209550">
                <a:tc>
                  <a:txBody>
                    <a:bodyPr/>
                    <a:lstStyle/>
                    <a:p>
                      <a:pPr indent="0" lvl="0" marL="0" rtl="0" algn="ctr">
                        <a:lnSpc>
                          <a:spcPct val="115000"/>
                        </a:lnSpc>
                        <a:spcBef>
                          <a:spcPts val="0"/>
                        </a:spcBef>
                        <a:spcAft>
                          <a:spcPts val="0"/>
                        </a:spcAft>
                        <a:buNone/>
                      </a:pPr>
                      <a:r>
                        <a:rPr b="1" lang="en-US" sz="1000">
                          <a:solidFill>
                            <a:schemeClr val="dk1"/>
                          </a:solidFill>
                          <a:latin typeface="Calibri"/>
                          <a:ea typeface="Calibri"/>
                          <a:cs typeface="Calibri"/>
                          <a:sym typeface="Calibri"/>
                        </a:rPr>
                        <a:t>Model</a:t>
                      </a:r>
                      <a:endParaRPr b="1"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000">
                          <a:solidFill>
                            <a:schemeClr val="dk1"/>
                          </a:solidFill>
                          <a:latin typeface="Calibri"/>
                          <a:ea typeface="Calibri"/>
                          <a:cs typeface="Calibri"/>
                          <a:sym typeface="Calibri"/>
                        </a:rPr>
                        <a:t>Tests</a:t>
                      </a:r>
                      <a:endParaRPr b="1"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000">
                          <a:solidFill>
                            <a:schemeClr val="dk1"/>
                          </a:solidFill>
                          <a:latin typeface="Calibri"/>
                          <a:ea typeface="Calibri"/>
                          <a:cs typeface="Calibri"/>
                          <a:sym typeface="Calibri"/>
                        </a:rPr>
                        <a:t>Result</a:t>
                      </a:r>
                      <a:endParaRPr b="1"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Calibri"/>
                          <a:ea typeface="Calibri"/>
                          <a:cs typeface="Calibri"/>
                          <a:sym typeface="Calibri"/>
                        </a:rPr>
                        <a:t>stg_oil_prices</a:t>
                      </a:r>
                      <a:endParaRPr sz="9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not_null: date, brent, wti, vix, gpr / unique: date</a:t>
                      </a:r>
                      <a:endParaRPr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6/6 PASS</a:t>
                      </a:r>
                      <a:endParaRPr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Calibri"/>
                          <a:ea typeface="Calibri"/>
                          <a:cs typeface="Calibri"/>
                          <a:sym typeface="Calibri"/>
                        </a:rPr>
                        <a:t>stg_geo_events</a:t>
                      </a:r>
                      <a:endParaRPr sz="9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not_null: date, event_type, severity / unique: date</a:t>
                      </a:r>
                      <a:endParaRPr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4/4 PASS</a:t>
                      </a:r>
                      <a:endParaRPr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Calibri"/>
                          <a:ea typeface="Calibri"/>
                          <a:cs typeface="Calibri"/>
                          <a:sym typeface="Calibri"/>
                        </a:rPr>
                        <a:t>mart_oil_geopolitics</a:t>
                      </a:r>
                      <a:endParaRPr sz="9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not_null: date, brent, wti / unique: date</a:t>
                      </a:r>
                      <a:endParaRPr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4/4 PASS</a:t>
                      </a:r>
                      <a:endParaRPr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bl>
          </a:graphicData>
        </a:graphic>
      </p:graphicFrame>
      <p:graphicFrame>
        <p:nvGraphicFramePr>
          <p:cNvPr id="332" name="Google Shape;332;g3d26b78a17e_0_242"/>
          <p:cNvGraphicFramePr/>
          <p:nvPr/>
        </p:nvGraphicFramePr>
        <p:xfrm>
          <a:off x="511275" y="2597039"/>
          <a:ext cx="3000000" cy="3000000"/>
        </p:xfrm>
        <a:graphic>
          <a:graphicData uri="http://schemas.openxmlformats.org/drawingml/2006/table">
            <a:tbl>
              <a:tblPr>
                <a:noFill/>
                <a:tableStyleId>{96914E09-2C7A-4806-8AC3-76DB3140FBE1}</a:tableStyleId>
              </a:tblPr>
              <a:tblGrid>
                <a:gridCol w="1200200"/>
                <a:gridCol w="2510975"/>
                <a:gridCol w="663275"/>
              </a:tblGrid>
              <a:tr h="277475">
                <a:tc>
                  <a:txBody>
                    <a:bodyPr/>
                    <a:lstStyle/>
                    <a:p>
                      <a:pPr indent="0" lvl="0" marL="0" rtl="0" algn="ctr">
                        <a:lnSpc>
                          <a:spcPct val="115000"/>
                        </a:lnSpc>
                        <a:spcBef>
                          <a:spcPts val="0"/>
                        </a:spcBef>
                        <a:spcAft>
                          <a:spcPts val="0"/>
                        </a:spcAft>
                        <a:buNone/>
                      </a:pPr>
                      <a:r>
                        <a:rPr b="1" lang="en-US" sz="1000">
                          <a:solidFill>
                            <a:schemeClr val="dk1"/>
                          </a:solidFill>
                          <a:latin typeface="Calibri"/>
                          <a:ea typeface="Calibri"/>
                          <a:cs typeface="Calibri"/>
                          <a:sym typeface="Calibri"/>
                        </a:rPr>
                        <a:t>Component</a:t>
                      </a:r>
                      <a:endParaRPr b="1"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000">
                          <a:solidFill>
                            <a:schemeClr val="dk1"/>
                          </a:solidFill>
                          <a:latin typeface="Calibri"/>
                          <a:ea typeface="Calibri"/>
                          <a:cs typeface="Calibri"/>
                          <a:sym typeface="Calibri"/>
                        </a:rPr>
                        <a:t>Validation</a:t>
                      </a:r>
                      <a:endParaRPr b="1"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000">
                          <a:solidFill>
                            <a:schemeClr val="dk1"/>
                          </a:solidFill>
                          <a:latin typeface="Calibri"/>
                          <a:ea typeface="Calibri"/>
                          <a:cs typeface="Calibri"/>
                          <a:sym typeface="Calibri"/>
                        </a:rPr>
                        <a:t>Result</a:t>
                      </a:r>
                      <a:endParaRPr b="1"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59925">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DuckDB</a:t>
                      </a:r>
                      <a:endParaRPr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Row counts (4047 + 35)</a:t>
                      </a:r>
                      <a:endParaRPr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PASS</a:t>
                      </a:r>
                      <a:endParaRPr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59925">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Meltano</a:t>
                      </a:r>
                      <a:endParaRPr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Version + tap-csv</a:t>
                      </a:r>
                      <a:endParaRPr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PASS</a:t>
                      </a:r>
                      <a:endParaRPr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59925">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BigQuery</a:t>
                      </a:r>
                      <a:endParaRPr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Raw tables + dbt views</a:t>
                      </a:r>
                      <a:endParaRPr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PASS</a:t>
                      </a:r>
                      <a:endParaRPr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425325">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dbt</a:t>
                      </a:r>
                      <a:endParaRPr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Connection + 14 data tests</a:t>
                      </a:r>
                      <a:endParaRPr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PASS</a:t>
                      </a:r>
                      <a:endParaRPr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59925">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GCP Auth</a:t>
                      </a:r>
                      <a:endParaRPr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ADC credentials</a:t>
                      </a:r>
                      <a:endParaRPr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PASS</a:t>
                      </a:r>
                      <a:endParaRPr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59925">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Dagster</a:t>
                      </a:r>
                      <a:endParaRPr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Assets materialized</a:t>
                      </a:r>
                      <a:endParaRPr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PASS</a:t>
                      </a:r>
                      <a:endParaRPr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59925">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Jupyter</a:t>
                      </a:r>
                      <a:endParaRPr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Connected + data loaded</a:t>
                      </a:r>
                      <a:endParaRPr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PASS</a:t>
                      </a:r>
                      <a:endParaRPr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337" name="Shape 337"/>
        <p:cNvGrpSpPr/>
        <p:nvPr/>
      </p:nvGrpSpPr>
      <p:grpSpPr>
        <a:xfrm>
          <a:off x="0" y="0"/>
          <a:ext cx="0" cy="0"/>
          <a:chOff x="0" y="0"/>
          <a:chExt cx="0" cy="0"/>
        </a:xfrm>
      </p:grpSpPr>
      <p:sp>
        <p:nvSpPr>
          <p:cNvPr id="338" name="Google Shape;338;g3d26b78a17e_0_252"/>
          <p:cNvSpPr/>
          <p:nvPr/>
        </p:nvSpPr>
        <p:spPr>
          <a:xfrm>
            <a:off x="0" y="0"/>
            <a:ext cx="9144000" cy="5190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g3d26b78a17e_0_252"/>
          <p:cNvSpPr/>
          <p:nvPr/>
        </p:nvSpPr>
        <p:spPr>
          <a:xfrm>
            <a:off x="139035" y="-37685"/>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400">
                <a:solidFill>
                  <a:srgbClr val="FFFFFF"/>
                </a:solidFill>
                <a:latin typeface="Calibri"/>
                <a:ea typeface="Calibri"/>
                <a:cs typeface="Calibri"/>
                <a:sym typeface="Calibri"/>
              </a:rPr>
              <a:t>Key Challenges</a:t>
            </a:r>
            <a:endParaRPr b="1" sz="2400">
              <a:solidFill>
                <a:srgbClr val="FFFFFF"/>
              </a:solidFill>
              <a:latin typeface="Calibri"/>
              <a:ea typeface="Calibri"/>
              <a:cs typeface="Calibri"/>
              <a:sym typeface="Calibri"/>
            </a:endParaRPr>
          </a:p>
        </p:txBody>
      </p:sp>
      <p:sp>
        <p:nvSpPr>
          <p:cNvPr id="340" name="Google Shape;340;g3d26b78a17e_0_252"/>
          <p:cNvSpPr txBox="1"/>
          <p:nvPr/>
        </p:nvSpPr>
        <p:spPr>
          <a:xfrm>
            <a:off x="86600" y="3965550"/>
            <a:ext cx="5803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200">
              <a:solidFill>
                <a:schemeClr val="dk1"/>
              </a:solidFill>
            </a:endParaRPr>
          </a:p>
        </p:txBody>
      </p:sp>
      <p:sp>
        <p:nvSpPr>
          <p:cNvPr id="341" name="Google Shape;341;g3d26b78a17e_0_252"/>
          <p:cNvSpPr txBox="1"/>
          <p:nvPr/>
        </p:nvSpPr>
        <p:spPr>
          <a:xfrm>
            <a:off x="270550" y="443775"/>
            <a:ext cx="8873400" cy="432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latin typeface="Calibri"/>
              <a:ea typeface="Calibri"/>
              <a:cs typeface="Calibri"/>
              <a:sym typeface="Calibri"/>
            </a:endParaRPr>
          </a:p>
          <a:p>
            <a:pPr indent="-304800" lvl="0" marL="457200" rtl="0" algn="l">
              <a:spcBef>
                <a:spcPts val="0"/>
              </a:spcBef>
              <a:spcAft>
                <a:spcPts val="0"/>
              </a:spcAft>
              <a:buSzPts val="1200"/>
              <a:buAutoNum type="arabicPeriod"/>
            </a:pPr>
            <a:r>
              <a:rPr b="1" lang="en-US" sz="1200">
                <a:latin typeface="Calibri"/>
                <a:ea typeface="Calibri"/>
                <a:cs typeface="Calibri"/>
                <a:sym typeface="Calibri"/>
              </a:rPr>
              <a:t>Python</a:t>
            </a:r>
            <a:r>
              <a:rPr lang="en-US" sz="1200">
                <a:latin typeface="Calibri"/>
                <a:ea typeface="Calibri"/>
                <a:cs typeface="Calibri"/>
                <a:sym typeface="Calibri"/>
              </a:rPr>
              <a:t> 3.13 </a:t>
            </a:r>
            <a:r>
              <a:rPr lang="en-US" sz="1200">
                <a:latin typeface="Calibri"/>
                <a:ea typeface="Calibri"/>
                <a:cs typeface="Calibri"/>
                <a:sym typeface="Calibri"/>
              </a:rPr>
              <a:t>compatibility</a:t>
            </a:r>
            <a:r>
              <a:rPr lang="en-US" sz="1200">
                <a:latin typeface="Calibri"/>
                <a:ea typeface="Calibri"/>
                <a:cs typeface="Calibri"/>
                <a:sym typeface="Calibri"/>
              </a:rPr>
              <a:t> issue- </a:t>
            </a:r>
            <a:r>
              <a:rPr lang="en-US" sz="1200">
                <a:solidFill>
                  <a:schemeClr val="dk1"/>
                </a:solidFill>
                <a:latin typeface="Calibri"/>
                <a:ea typeface="Calibri"/>
                <a:cs typeface="Calibri"/>
                <a:sym typeface="Calibri"/>
              </a:rPr>
              <a:t>Created a dedicated conda environment (meltano-env) with Python 3.11 inside WSL Ubuntu, which provided a stable Linux environment for all pipeline tools</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Roboto"/>
              <a:buAutoNum type="arabicPeriod"/>
            </a:pPr>
            <a:r>
              <a:rPr b="1" lang="en-US" sz="1200">
                <a:solidFill>
                  <a:schemeClr val="dk1"/>
                </a:solidFill>
                <a:latin typeface="Calibri"/>
                <a:ea typeface="Calibri"/>
                <a:cs typeface="Calibri"/>
                <a:sym typeface="Calibri"/>
              </a:rPr>
              <a:t>OneDrive Path Causing WSL Disconnects- </a:t>
            </a:r>
            <a:r>
              <a:rPr lang="en-US" sz="1200">
                <a:solidFill>
                  <a:schemeClr val="dk1"/>
                </a:solidFill>
                <a:latin typeface="Calibri"/>
                <a:ea typeface="Calibri"/>
                <a:cs typeface="Calibri"/>
                <a:sym typeface="Calibri"/>
              </a:rPr>
              <a:t>Moved the entire Meltano project into the WSL home directory (~/meltano-ingestion/) to avoid OneDrive path conflicts.</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Roboto"/>
              <a:buAutoNum type="arabicPeriod"/>
            </a:pPr>
            <a:r>
              <a:rPr b="1" lang="en-US" sz="1200">
                <a:solidFill>
                  <a:schemeClr val="dk1"/>
                </a:solidFill>
                <a:latin typeface="Calibri"/>
                <a:ea typeface="Calibri"/>
                <a:cs typeface="Calibri"/>
                <a:sym typeface="Calibri"/>
              </a:rPr>
              <a:t>GCP JSON Key Blocked</a:t>
            </a:r>
            <a:r>
              <a:rPr lang="en-US" sz="1200">
                <a:solidFill>
                  <a:schemeClr val="dk1"/>
                </a:solidFill>
                <a:latin typeface="Calibri"/>
                <a:ea typeface="Calibri"/>
                <a:cs typeface="Calibri"/>
                <a:sym typeface="Calibri"/>
              </a:rPr>
              <a:t> by Organisation Policy- Could not create a service account JSON key — blocked by a Google Cloud Organisation Policy restricting key creation. Used Application Default Credentials (ADC) via gcloud auth application-default login, then copied the credentials from Windows to WSL manually.</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AutoNum type="arabicPeriod"/>
            </a:pPr>
            <a:r>
              <a:rPr b="1" lang="en-US" sz="1200">
                <a:solidFill>
                  <a:schemeClr val="dk1"/>
                </a:solidFill>
                <a:latin typeface="Calibri"/>
                <a:ea typeface="Calibri"/>
                <a:cs typeface="Calibri"/>
                <a:sym typeface="Calibri"/>
              </a:rPr>
              <a:t>pkg_resources- “Module Not Found’ </a:t>
            </a:r>
            <a:r>
              <a:rPr lang="en-US" sz="1200">
                <a:solidFill>
                  <a:schemeClr val="dk1"/>
                </a:solidFill>
                <a:latin typeface="Calibri"/>
                <a:ea typeface="Calibri"/>
                <a:cs typeface="Calibri"/>
                <a:sym typeface="Calibri"/>
              </a:rPr>
              <a:t>target-bigquery loader failed on startup with ModuleNotFoundError: No module named 'pkg_resources' — a known issue where newer Python versions no longer bundle setuptools by default in virtual environments.Installed setuptools==69.5.1 directly into the target-bigquery venv using the venv's Python binary, restoring the pkg_resources module.</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AutoNum type="arabicPeriod"/>
            </a:pPr>
            <a:r>
              <a:rPr b="1" lang="en-US" sz="1200">
                <a:solidFill>
                  <a:schemeClr val="dk1"/>
                </a:solidFill>
                <a:latin typeface="Calibri"/>
                <a:ea typeface="Calibri"/>
                <a:cs typeface="Calibri"/>
                <a:sym typeface="Calibri"/>
              </a:rPr>
              <a:t>Wrong Config Key Name:</a:t>
            </a:r>
            <a:r>
              <a:rPr lang="en-US" sz="1200">
                <a:solidFill>
                  <a:schemeClr val="dk1"/>
                </a:solidFill>
                <a:latin typeface="Calibri"/>
                <a:ea typeface="Calibri"/>
                <a:cs typeface="Calibri"/>
                <a:sym typeface="Calibri"/>
              </a:rPr>
              <a:t> Meltano pipeline ran but BigQuery rejected the config with KeyError: 'project' — the config had project_id but the z3z1ma variant expects project. Corrected the key name in meltano.yml from project_id to project.</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AutoNum type="arabicPeriod"/>
            </a:pPr>
            <a:r>
              <a:rPr b="1" lang="en-US" sz="1200">
                <a:solidFill>
                  <a:schemeClr val="dk1"/>
                </a:solidFill>
                <a:latin typeface="Calibri"/>
                <a:ea typeface="Calibri"/>
                <a:cs typeface="Calibri"/>
                <a:sym typeface="Calibri"/>
              </a:rPr>
              <a:t>BigQuery Columns Not Flat (JSON Schema Mode): </a:t>
            </a:r>
            <a:r>
              <a:rPr lang="en-US" sz="1200">
                <a:solidFill>
                  <a:schemeClr val="dk1"/>
                </a:solidFill>
                <a:latin typeface="Calibri"/>
                <a:ea typeface="Calibri"/>
                <a:cs typeface="Calibri"/>
                <a:sym typeface="Calibri"/>
              </a:rPr>
              <a:t>dbt models failed with Unrecognized name: date — because target-bigquery defaults to storing records as a JSON blob in a data column rather than individual columns. Added denormalized: true and overwrite: true to the loader config and reloaded the data, producing flat, queryable columns in BigQuery.</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AutoNum type="arabicPeriod"/>
            </a:pPr>
            <a:r>
              <a:rPr b="1" lang="en-US" sz="1200">
                <a:solidFill>
                  <a:schemeClr val="dk1"/>
                </a:solidFill>
                <a:latin typeface="Calibri"/>
                <a:ea typeface="Calibri"/>
                <a:cs typeface="Calibri"/>
                <a:sym typeface="Calibri"/>
              </a:rPr>
              <a:t>Terminal Heredoc Corruption: </a:t>
            </a:r>
            <a:r>
              <a:rPr lang="en-US" sz="1200">
                <a:solidFill>
                  <a:schemeClr val="dk1"/>
                </a:solidFill>
                <a:latin typeface="Calibri"/>
                <a:ea typeface="Calibri"/>
                <a:cs typeface="Calibri"/>
                <a:sym typeface="Calibri"/>
              </a:rPr>
              <a:t>Pasting multi-line bash heredoc commands into the WSL terminal caused lines to get mixed up and files to be written incorrectly. Switched to using python3 - &lt;&lt; 'PYEOF' Python inline scripts for all file writing, which handled multi-line content reliably.</a:t>
            </a:r>
            <a:endParaRPr sz="12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346" name="Shape 346"/>
        <p:cNvGrpSpPr/>
        <p:nvPr/>
      </p:nvGrpSpPr>
      <p:grpSpPr>
        <a:xfrm>
          <a:off x="0" y="0"/>
          <a:ext cx="0" cy="0"/>
          <a:chOff x="0" y="0"/>
          <a:chExt cx="0" cy="0"/>
        </a:xfrm>
      </p:grpSpPr>
      <p:graphicFrame>
        <p:nvGraphicFramePr>
          <p:cNvPr id="347" name="Google Shape;347;g3dc97b155af_0_26"/>
          <p:cNvGraphicFramePr/>
          <p:nvPr/>
        </p:nvGraphicFramePr>
        <p:xfrm>
          <a:off x="4892800" y="2988325"/>
          <a:ext cx="3000000" cy="3000000"/>
        </p:xfrm>
        <a:graphic>
          <a:graphicData uri="http://schemas.openxmlformats.org/drawingml/2006/table">
            <a:tbl>
              <a:tblPr>
                <a:noFill/>
                <a:tableStyleId>{96914E09-2C7A-4806-8AC3-76DB3140FBE1}</a:tableStyleId>
              </a:tblPr>
              <a:tblGrid>
                <a:gridCol w="1162050"/>
                <a:gridCol w="1228725"/>
                <a:gridCol w="1647825"/>
              </a:tblGrid>
              <a:tr h="209550">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Column</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Type (auto-inferred)</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Description</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date</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DATE / VARCHAR</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Event date — join key</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event_type</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VARCHAR</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conflict, sanctions, policy, etc.</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event_description</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VARCHAR</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Narrative description</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event_severity</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INTEGER</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Severity score 1–5</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bl>
          </a:graphicData>
        </a:graphic>
      </p:graphicFrame>
      <p:sp>
        <p:nvSpPr>
          <p:cNvPr id="348" name="Google Shape;348;g3dc97b155af_0_26"/>
          <p:cNvSpPr/>
          <p:nvPr/>
        </p:nvSpPr>
        <p:spPr>
          <a:xfrm>
            <a:off x="0" y="0"/>
            <a:ext cx="9144000" cy="5190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g3dc97b155af_0_26"/>
          <p:cNvSpPr/>
          <p:nvPr/>
        </p:nvSpPr>
        <p:spPr>
          <a:xfrm>
            <a:off x="139035" y="-37685"/>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400">
                <a:solidFill>
                  <a:srgbClr val="FFFFFF"/>
                </a:solidFill>
                <a:latin typeface="Calibri"/>
                <a:ea typeface="Calibri"/>
                <a:cs typeface="Calibri"/>
                <a:sym typeface="Calibri"/>
              </a:rPr>
              <a:t>Schema View</a:t>
            </a:r>
            <a:endParaRPr b="1" sz="2400">
              <a:solidFill>
                <a:srgbClr val="FFFFFF"/>
              </a:solidFill>
              <a:latin typeface="Calibri"/>
              <a:ea typeface="Calibri"/>
              <a:cs typeface="Calibri"/>
              <a:sym typeface="Calibri"/>
            </a:endParaRPr>
          </a:p>
        </p:txBody>
      </p:sp>
      <p:sp>
        <p:nvSpPr>
          <p:cNvPr id="350" name="Google Shape;350;g3dc97b155af_0_26"/>
          <p:cNvSpPr txBox="1"/>
          <p:nvPr/>
        </p:nvSpPr>
        <p:spPr>
          <a:xfrm>
            <a:off x="86600" y="3965550"/>
            <a:ext cx="5803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200">
              <a:solidFill>
                <a:schemeClr val="dk1"/>
              </a:solidFill>
            </a:endParaRPr>
          </a:p>
        </p:txBody>
      </p:sp>
      <p:sp>
        <p:nvSpPr>
          <p:cNvPr id="351" name="Google Shape;351;g3dc97b155af_0_26"/>
          <p:cNvSpPr txBox="1"/>
          <p:nvPr/>
        </p:nvSpPr>
        <p:spPr>
          <a:xfrm>
            <a:off x="383675" y="677660"/>
            <a:ext cx="80307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latin typeface="Calibri"/>
                <a:ea typeface="Calibri"/>
                <a:cs typeface="Calibri"/>
                <a:sym typeface="Calibri"/>
              </a:rPr>
              <a:t>Table 1: raw_oil_prices — 4,047 rows</a:t>
            </a:r>
            <a:endParaRPr b="1" sz="1200">
              <a:latin typeface="Calibri"/>
              <a:ea typeface="Calibri"/>
              <a:cs typeface="Calibri"/>
              <a:sym typeface="Calibri"/>
            </a:endParaRPr>
          </a:p>
          <a:p>
            <a:pPr indent="0" lvl="0" marL="0" rtl="0" algn="l">
              <a:spcBef>
                <a:spcPts val="0"/>
              </a:spcBef>
              <a:spcAft>
                <a:spcPts val="0"/>
              </a:spcAft>
              <a:buNone/>
            </a:pPr>
            <a:r>
              <a:rPr b="1" lang="en-US" sz="1200">
                <a:latin typeface="Calibri"/>
                <a:ea typeface="Calibri"/>
                <a:cs typeface="Calibri"/>
                <a:sym typeface="Calibri"/>
              </a:rPr>
              <a:t>Table 2: raw_geo_events — 35 rows</a:t>
            </a:r>
            <a:endParaRPr b="1" sz="1200">
              <a:latin typeface="Calibri"/>
              <a:ea typeface="Calibri"/>
              <a:cs typeface="Calibri"/>
              <a:sym typeface="Calibri"/>
            </a:endParaRPr>
          </a:p>
          <a:p>
            <a:pPr indent="0" lvl="0" marL="0" rtl="0" algn="l">
              <a:spcBef>
                <a:spcPts val="0"/>
              </a:spcBef>
              <a:spcAft>
                <a:spcPts val="0"/>
              </a:spcAft>
              <a:buNone/>
            </a:pPr>
            <a:r>
              <a:rPr lang="en-US" sz="1100">
                <a:latin typeface="Calibri"/>
                <a:ea typeface="Calibri"/>
                <a:cs typeface="Calibri"/>
                <a:sym typeface="Calibri"/>
              </a:rPr>
              <a:t>Schema Flows Into BigQuery via dbt </a:t>
            </a:r>
            <a:endParaRPr sz="1100">
              <a:latin typeface="Calibri"/>
              <a:ea typeface="Calibri"/>
              <a:cs typeface="Calibri"/>
              <a:sym typeface="Calibri"/>
            </a:endParaRPr>
          </a:p>
          <a:p>
            <a:pPr indent="0" lvl="0" marL="0" rtl="0" algn="l">
              <a:spcBef>
                <a:spcPts val="0"/>
              </a:spcBef>
              <a:spcAft>
                <a:spcPts val="0"/>
              </a:spcAft>
              <a:buNone/>
            </a:pPr>
            <a:r>
              <a:rPr lang="en-US" sz="1100">
                <a:latin typeface="Calibri"/>
                <a:ea typeface="Calibri"/>
                <a:cs typeface="Calibri"/>
                <a:sym typeface="Calibri"/>
              </a:rPr>
              <a:t>DuckDB (auto-inferred) → Meltano → BigQuery raw tables</a:t>
            </a:r>
            <a:endParaRPr sz="1100">
              <a:latin typeface="Calibri"/>
              <a:ea typeface="Calibri"/>
              <a:cs typeface="Calibri"/>
              <a:sym typeface="Calibri"/>
            </a:endParaRPr>
          </a:p>
          <a:p>
            <a:pPr indent="0" lvl="0" marL="0" rtl="0" algn="l">
              <a:spcBef>
                <a:spcPts val="0"/>
              </a:spcBef>
              <a:spcAft>
                <a:spcPts val="0"/>
              </a:spcAft>
              <a:buNone/>
            </a:pPr>
            <a:r>
              <a:rPr lang="en-US" sz="1100">
                <a:latin typeface="Calibri"/>
                <a:ea typeface="Calibri"/>
                <a:cs typeface="Calibri"/>
                <a:sym typeface="Calibri"/>
              </a:rPr>
              <a:t>                                          ↓dbt</a:t>
            </a:r>
            <a:endParaRPr sz="1100">
              <a:latin typeface="Calibri"/>
              <a:ea typeface="Calibri"/>
              <a:cs typeface="Calibri"/>
              <a:sym typeface="Calibri"/>
            </a:endParaRPr>
          </a:p>
          <a:p>
            <a:pPr indent="0" lvl="0" marL="0" rtl="0" algn="l">
              <a:spcBef>
                <a:spcPts val="0"/>
              </a:spcBef>
              <a:spcAft>
                <a:spcPts val="0"/>
              </a:spcAft>
              <a:buNone/>
            </a:pPr>
            <a:r>
              <a:rPr lang="en-US" sz="1100">
                <a:latin typeface="Calibri"/>
                <a:ea typeface="Calibri"/>
                <a:cs typeface="Calibri"/>
                <a:sym typeface="Calibri"/>
              </a:rPr>
              <a:t>                              dbt stg_oil_prices     → casts date→DATE, prices→FLOAT64</a:t>
            </a:r>
            <a:endParaRPr sz="1100">
              <a:latin typeface="Calibri"/>
              <a:ea typeface="Calibri"/>
              <a:cs typeface="Calibri"/>
              <a:sym typeface="Calibri"/>
            </a:endParaRPr>
          </a:p>
          <a:p>
            <a:pPr indent="0" lvl="0" marL="0" rtl="0" algn="l">
              <a:spcBef>
                <a:spcPts val="0"/>
              </a:spcBef>
              <a:spcAft>
                <a:spcPts val="0"/>
              </a:spcAft>
              <a:buNone/>
            </a:pPr>
            <a:r>
              <a:rPr lang="en-US" sz="1100">
                <a:latin typeface="Calibri"/>
                <a:ea typeface="Calibri"/>
                <a:cs typeface="Calibri"/>
                <a:sym typeface="Calibri"/>
              </a:rPr>
              <a:t>                              dbt stg_geo_events     → casts date→DATE, severity→INT64</a:t>
            </a:r>
            <a:endParaRPr sz="1100">
              <a:latin typeface="Calibri"/>
              <a:ea typeface="Calibri"/>
              <a:cs typeface="Calibri"/>
              <a:sym typeface="Calibri"/>
            </a:endParaRPr>
          </a:p>
          <a:p>
            <a:pPr indent="0" lvl="0" marL="0" rtl="0" algn="l">
              <a:spcBef>
                <a:spcPts val="0"/>
              </a:spcBef>
              <a:spcAft>
                <a:spcPts val="0"/>
              </a:spcAft>
              <a:buNone/>
            </a:pPr>
            <a:r>
              <a:rPr lang="en-US" sz="1100">
                <a:latin typeface="Calibri"/>
                <a:ea typeface="Calibri"/>
                <a:cs typeface="Calibri"/>
                <a:sym typeface="Calibri"/>
              </a:rPr>
              <a:t>                              dbt mart_oil_geopolitics → LEFT JOIN on date</a:t>
            </a:r>
            <a:endParaRPr sz="1100">
              <a:latin typeface="Calibri"/>
              <a:ea typeface="Calibri"/>
              <a:cs typeface="Calibri"/>
              <a:sym typeface="Calibri"/>
            </a:endParaRPr>
          </a:p>
        </p:txBody>
      </p:sp>
      <p:graphicFrame>
        <p:nvGraphicFramePr>
          <p:cNvPr id="352" name="Google Shape;352;g3dc97b155af_0_26"/>
          <p:cNvGraphicFramePr/>
          <p:nvPr/>
        </p:nvGraphicFramePr>
        <p:xfrm>
          <a:off x="139025" y="2512075"/>
          <a:ext cx="3000000" cy="3000000"/>
        </p:xfrm>
        <a:graphic>
          <a:graphicData uri="http://schemas.openxmlformats.org/drawingml/2006/table">
            <a:tbl>
              <a:tblPr>
                <a:noFill/>
                <a:tableStyleId>{96914E09-2C7A-4806-8AC3-76DB3140FBE1}</a:tableStyleId>
              </a:tblPr>
              <a:tblGrid>
                <a:gridCol w="990600"/>
                <a:gridCol w="1228725"/>
                <a:gridCol w="1857375"/>
              </a:tblGrid>
              <a:tr h="209550">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Column</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Type (auto-inferred)</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Description</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date</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DATE / VARCHAR</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Trading date</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brent_price</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DOUBLE</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Brent crude USD/barrel</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wti_price</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DOUBLE</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WTI crude USD/barrel</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dxy_index</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DOUBLE</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US Dollar Index</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vix</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DOUBLE</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CBOE Volatility Index</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gpr_index</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DOUBLE</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Geopolitical Risk Index</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brent_return</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DOUBLE</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Daily log return — Brent</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wti_return</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DOUBLE</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Daily log return — WTI</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Lag/volatility cols</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DOUBLE</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Rolling volatility + lagged returns</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357" name="Shape 357"/>
        <p:cNvGrpSpPr/>
        <p:nvPr/>
      </p:nvGrpSpPr>
      <p:grpSpPr>
        <a:xfrm>
          <a:off x="0" y="0"/>
          <a:ext cx="0" cy="0"/>
          <a:chOff x="0" y="0"/>
          <a:chExt cx="0" cy="0"/>
        </a:xfrm>
      </p:grpSpPr>
      <p:sp>
        <p:nvSpPr>
          <p:cNvPr id="358" name="Google Shape;358;g3dccfc74559_0_45"/>
          <p:cNvSpPr/>
          <p:nvPr/>
        </p:nvSpPr>
        <p:spPr>
          <a:xfrm>
            <a:off x="0" y="0"/>
            <a:ext cx="9144000" cy="5190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g3dccfc74559_0_45"/>
          <p:cNvSpPr/>
          <p:nvPr/>
        </p:nvSpPr>
        <p:spPr>
          <a:xfrm>
            <a:off x="139035" y="-37685"/>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400">
                <a:solidFill>
                  <a:srgbClr val="FFFFFF"/>
                </a:solidFill>
                <a:latin typeface="Calibri"/>
                <a:ea typeface="Calibri"/>
                <a:cs typeface="Calibri"/>
                <a:sym typeface="Calibri"/>
              </a:rPr>
              <a:t>Schema </a:t>
            </a:r>
            <a:endParaRPr b="1" sz="2400">
              <a:solidFill>
                <a:srgbClr val="FFFFFF"/>
              </a:solidFill>
              <a:latin typeface="Calibri"/>
              <a:ea typeface="Calibri"/>
              <a:cs typeface="Calibri"/>
              <a:sym typeface="Calibri"/>
            </a:endParaRPr>
          </a:p>
        </p:txBody>
      </p:sp>
      <p:sp>
        <p:nvSpPr>
          <p:cNvPr id="360" name="Google Shape;360;g3dccfc74559_0_45"/>
          <p:cNvSpPr txBox="1"/>
          <p:nvPr/>
        </p:nvSpPr>
        <p:spPr>
          <a:xfrm>
            <a:off x="86600" y="3965550"/>
            <a:ext cx="5803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200">
              <a:solidFill>
                <a:schemeClr val="dk1"/>
              </a:solidFill>
            </a:endParaRPr>
          </a:p>
        </p:txBody>
      </p:sp>
      <p:graphicFrame>
        <p:nvGraphicFramePr>
          <p:cNvPr id="361" name="Google Shape;361;g3dccfc74559_0_45"/>
          <p:cNvGraphicFramePr/>
          <p:nvPr/>
        </p:nvGraphicFramePr>
        <p:xfrm>
          <a:off x="4833675" y="1164575"/>
          <a:ext cx="3000000" cy="3000000"/>
        </p:xfrm>
        <a:graphic>
          <a:graphicData uri="http://schemas.openxmlformats.org/drawingml/2006/table">
            <a:tbl>
              <a:tblPr>
                <a:noFill/>
                <a:tableStyleId>{96914E09-2C7A-4806-8AC3-76DB3140FBE1}</a:tableStyleId>
              </a:tblPr>
              <a:tblGrid>
                <a:gridCol w="990600"/>
                <a:gridCol w="1228725"/>
                <a:gridCol w="1866900"/>
              </a:tblGrid>
              <a:tr h="209550">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Column</a:t>
                      </a:r>
                      <a:endParaRPr b="1"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Type (auto-inferred)</a:t>
                      </a:r>
                      <a:endParaRPr b="1"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Description</a:t>
                      </a:r>
                      <a:endParaRPr b="1"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date</a:t>
                      </a:r>
                      <a:endParaRPr sz="900">
                        <a:solidFill>
                          <a:schemeClr val="dk1"/>
                        </a:solidFill>
                        <a:latin typeface="Roboto Mono"/>
                        <a:ea typeface="Roboto Mono"/>
                        <a:cs typeface="Roboto Mono"/>
                        <a:sym typeface="Roboto Mon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DATE / VARCHAR</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Trading date</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brent_price</a:t>
                      </a:r>
                      <a:endParaRPr sz="900">
                        <a:solidFill>
                          <a:schemeClr val="dk1"/>
                        </a:solidFill>
                        <a:latin typeface="Roboto Mono"/>
                        <a:ea typeface="Roboto Mono"/>
                        <a:cs typeface="Roboto Mono"/>
                        <a:sym typeface="Roboto Mon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DOUBLE</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Brent crude USD/barrel</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wti_price</a:t>
                      </a:r>
                      <a:endParaRPr sz="900">
                        <a:solidFill>
                          <a:schemeClr val="dk1"/>
                        </a:solidFill>
                        <a:latin typeface="Roboto Mono"/>
                        <a:ea typeface="Roboto Mono"/>
                        <a:cs typeface="Roboto Mono"/>
                        <a:sym typeface="Roboto Mon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DOUBLE</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WTI crude USD/barrel</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dxy_index</a:t>
                      </a:r>
                      <a:endParaRPr sz="900">
                        <a:solidFill>
                          <a:schemeClr val="dk1"/>
                        </a:solidFill>
                        <a:latin typeface="Roboto Mono"/>
                        <a:ea typeface="Roboto Mono"/>
                        <a:cs typeface="Roboto Mono"/>
                        <a:sym typeface="Roboto Mon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DOUBLE</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US Dollar Index</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vix</a:t>
                      </a:r>
                      <a:endParaRPr sz="900">
                        <a:solidFill>
                          <a:schemeClr val="dk1"/>
                        </a:solidFill>
                        <a:latin typeface="Roboto Mono"/>
                        <a:ea typeface="Roboto Mono"/>
                        <a:cs typeface="Roboto Mono"/>
                        <a:sym typeface="Roboto Mon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DOUBLE</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CBOE Volatility Index</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gpr_index</a:t>
                      </a:r>
                      <a:endParaRPr sz="900">
                        <a:solidFill>
                          <a:schemeClr val="dk1"/>
                        </a:solidFill>
                        <a:latin typeface="Roboto Mono"/>
                        <a:ea typeface="Roboto Mono"/>
                        <a:cs typeface="Roboto Mono"/>
                        <a:sym typeface="Roboto Mon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DOUBLE</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Geopolitical Risk Index</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brent_return</a:t>
                      </a:r>
                      <a:endParaRPr sz="900">
                        <a:solidFill>
                          <a:schemeClr val="dk1"/>
                        </a:solidFill>
                        <a:latin typeface="Roboto Mono"/>
                        <a:ea typeface="Roboto Mono"/>
                        <a:cs typeface="Roboto Mono"/>
                        <a:sym typeface="Roboto Mon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DOUBLE</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Daily log return — Brent</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wti_return</a:t>
                      </a:r>
                      <a:endParaRPr sz="900">
                        <a:solidFill>
                          <a:schemeClr val="dk1"/>
                        </a:solidFill>
                        <a:latin typeface="Roboto Mono"/>
                        <a:ea typeface="Roboto Mono"/>
                        <a:cs typeface="Roboto Mono"/>
                        <a:sym typeface="Roboto Mon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DOUBLE</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Daily log return — WTI</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Lag/volatility cols</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DOUBLE</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Rolling volatility + lagged returns</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r>
            </a:tbl>
          </a:graphicData>
        </a:graphic>
      </p:graphicFrame>
      <p:graphicFrame>
        <p:nvGraphicFramePr>
          <p:cNvPr id="362" name="Google Shape;362;g3dccfc74559_0_45"/>
          <p:cNvGraphicFramePr/>
          <p:nvPr/>
        </p:nvGraphicFramePr>
        <p:xfrm>
          <a:off x="4857488" y="3867150"/>
          <a:ext cx="3000000" cy="3000000"/>
        </p:xfrm>
        <a:graphic>
          <a:graphicData uri="http://schemas.openxmlformats.org/drawingml/2006/table">
            <a:tbl>
              <a:tblPr>
                <a:noFill/>
                <a:tableStyleId>{96914E09-2C7A-4806-8AC3-76DB3140FBE1}</a:tableStyleId>
              </a:tblPr>
              <a:tblGrid>
                <a:gridCol w="1162050"/>
                <a:gridCol w="1228725"/>
                <a:gridCol w="1647825"/>
              </a:tblGrid>
              <a:tr h="209550">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Column</a:t>
                      </a:r>
                      <a:endParaRPr b="1"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Type (auto-inferred)</a:t>
                      </a:r>
                      <a:endParaRPr b="1"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Description</a:t>
                      </a:r>
                      <a:endParaRPr b="1"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date</a:t>
                      </a:r>
                      <a:endParaRPr sz="900">
                        <a:solidFill>
                          <a:schemeClr val="dk1"/>
                        </a:solidFill>
                        <a:latin typeface="Roboto Mono"/>
                        <a:ea typeface="Roboto Mono"/>
                        <a:cs typeface="Roboto Mono"/>
                        <a:sym typeface="Roboto Mon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DATE / VARCHAR</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Event date — join key</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event_type</a:t>
                      </a:r>
                      <a:endParaRPr sz="900">
                        <a:solidFill>
                          <a:schemeClr val="dk1"/>
                        </a:solidFill>
                        <a:latin typeface="Roboto Mono"/>
                        <a:ea typeface="Roboto Mono"/>
                        <a:cs typeface="Roboto Mono"/>
                        <a:sym typeface="Roboto Mon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VARCHAR</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conflict, sanctions, policy, etc.</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event_description</a:t>
                      </a:r>
                      <a:endParaRPr sz="900">
                        <a:solidFill>
                          <a:schemeClr val="dk1"/>
                        </a:solidFill>
                        <a:latin typeface="Roboto Mono"/>
                        <a:ea typeface="Roboto Mono"/>
                        <a:cs typeface="Roboto Mono"/>
                        <a:sym typeface="Roboto Mon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VARCHAR</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Narrative description</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event_severity</a:t>
                      </a:r>
                      <a:endParaRPr sz="900">
                        <a:solidFill>
                          <a:schemeClr val="dk1"/>
                        </a:solidFill>
                        <a:latin typeface="Roboto Mono"/>
                        <a:ea typeface="Roboto Mono"/>
                        <a:cs typeface="Roboto Mono"/>
                        <a:sym typeface="Roboto Mon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INTEGER</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Severity score 1–5</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r>
            </a:tbl>
          </a:graphicData>
        </a:graphic>
      </p:graphicFrame>
      <p:sp>
        <p:nvSpPr>
          <p:cNvPr id="363" name="Google Shape;363;g3dccfc74559_0_45"/>
          <p:cNvSpPr txBox="1"/>
          <p:nvPr/>
        </p:nvSpPr>
        <p:spPr>
          <a:xfrm>
            <a:off x="227150" y="1286250"/>
            <a:ext cx="4193400" cy="3000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100">
              <a:solidFill>
                <a:schemeClr val="dk1"/>
              </a:solidFill>
              <a:latin typeface="Calibri"/>
              <a:ea typeface="Calibri"/>
              <a:cs typeface="Calibri"/>
              <a:sym typeface="Calibri"/>
            </a:endParaRPr>
          </a:p>
          <a:p>
            <a:pPr indent="0" lvl="0" marL="0" rtl="0" algn="l">
              <a:lnSpc>
                <a:spcPct val="115000"/>
              </a:lnSpc>
              <a:spcBef>
                <a:spcPts val="1800"/>
              </a:spcBef>
              <a:spcAft>
                <a:spcPts val="0"/>
              </a:spcAft>
              <a:buNone/>
            </a:pPr>
            <a:r>
              <a:rPr b="1" lang="en-US" sz="1100">
                <a:solidFill>
                  <a:schemeClr val="dk1"/>
                </a:solidFill>
                <a:latin typeface="Calibri"/>
                <a:ea typeface="Calibri"/>
                <a:cs typeface="Calibri"/>
                <a:sym typeface="Calibri"/>
              </a:rPr>
              <a:t>Two Tables in DuckDB (oil_pipeline.duckdb)</a:t>
            </a:r>
            <a:endParaRPr b="1" sz="1100">
              <a:solidFill>
                <a:schemeClr val="dk1"/>
              </a:solidFill>
              <a:latin typeface="Calibri"/>
              <a:ea typeface="Calibri"/>
              <a:cs typeface="Calibri"/>
              <a:sym typeface="Calibri"/>
            </a:endParaRPr>
          </a:p>
          <a:p>
            <a:pPr indent="0" lvl="0" marL="0" rtl="0" algn="l">
              <a:lnSpc>
                <a:spcPct val="115000"/>
              </a:lnSpc>
              <a:spcBef>
                <a:spcPts val="1400"/>
              </a:spcBef>
              <a:spcAft>
                <a:spcPts val="0"/>
              </a:spcAft>
              <a:buNone/>
            </a:pPr>
            <a:r>
              <a:rPr b="1" lang="en-US" sz="1100">
                <a:solidFill>
                  <a:schemeClr val="dk1"/>
                </a:solidFill>
                <a:latin typeface="Calibri"/>
                <a:ea typeface="Calibri"/>
                <a:cs typeface="Calibri"/>
                <a:sym typeface="Calibri"/>
              </a:rPr>
              <a:t>Table 1: raw_oil_prices — 4,047 rows</a:t>
            </a:r>
            <a:endParaRPr b="1" sz="1100">
              <a:solidFill>
                <a:schemeClr val="dk1"/>
              </a:solidFill>
              <a:latin typeface="Calibri"/>
              <a:ea typeface="Calibri"/>
              <a:cs typeface="Calibri"/>
              <a:sym typeface="Calibri"/>
            </a:endParaRPr>
          </a:p>
          <a:p>
            <a:pPr indent="0" lvl="0" marL="0" rtl="0" algn="l">
              <a:lnSpc>
                <a:spcPct val="115000"/>
              </a:lnSpc>
              <a:spcBef>
                <a:spcPts val="1400"/>
              </a:spcBef>
              <a:spcAft>
                <a:spcPts val="0"/>
              </a:spcAft>
              <a:buNone/>
            </a:pPr>
            <a:r>
              <a:rPr b="1" lang="en-US" sz="1100">
                <a:solidFill>
                  <a:schemeClr val="dk1"/>
                </a:solidFill>
                <a:latin typeface="Calibri"/>
                <a:ea typeface="Calibri"/>
                <a:cs typeface="Calibri"/>
                <a:sym typeface="Calibri"/>
              </a:rPr>
              <a:t>Table 2: raw_geo_events — 35 rows</a:t>
            </a:r>
            <a:endParaRPr b="1" sz="1100">
              <a:solidFill>
                <a:schemeClr val="dk1"/>
              </a:solidFill>
              <a:latin typeface="Calibri"/>
              <a:ea typeface="Calibri"/>
              <a:cs typeface="Calibri"/>
              <a:sym typeface="Calibri"/>
            </a:endParaRPr>
          </a:p>
          <a:p>
            <a:pPr indent="0" lvl="0" marL="0" rtl="0" algn="l">
              <a:lnSpc>
                <a:spcPct val="115000"/>
              </a:lnSpc>
              <a:spcBef>
                <a:spcPts val="1800"/>
              </a:spcBef>
              <a:spcAft>
                <a:spcPts val="0"/>
              </a:spcAft>
              <a:buNone/>
            </a:pPr>
            <a:r>
              <a:rPr b="1" lang="en-US" sz="1100">
                <a:solidFill>
                  <a:schemeClr val="dk1"/>
                </a:solidFill>
                <a:latin typeface="Calibri"/>
                <a:ea typeface="Calibri"/>
                <a:cs typeface="Calibri"/>
                <a:sym typeface="Calibri"/>
              </a:rPr>
              <a:t>How the Schema Flows Into BigQuery via dbt</a:t>
            </a:r>
            <a:endParaRPr b="1" sz="1100">
              <a:solidFill>
                <a:schemeClr val="dk1"/>
              </a:solidFill>
              <a:latin typeface="Calibri"/>
              <a:ea typeface="Calibri"/>
              <a:cs typeface="Calibri"/>
              <a:sym typeface="Calibri"/>
            </a:endParaRPr>
          </a:p>
          <a:p>
            <a:pPr indent="0" lvl="0" marL="0" rtl="0" algn="l">
              <a:spcBef>
                <a:spcPts val="400"/>
              </a:spcBef>
              <a:spcAft>
                <a:spcPts val="0"/>
              </a:spcAft>
              <a:buNone/>
            </a:pPr>
            <a:r>
              <a:rPr lang="en-US" sz="1100">
                <a:solidFill>
                  <a:schemeClr val="dk1"/>
                </a:solidFill>
                <a:latin typeface="Calibri"/>
                <a:ea typeface="Calibri"/>
                <a:cs typeface="Calibri"/>
                <a:sym typeface="Calibri"/>
              </a:rPr>
              <a:t>DuckDB (auto-inferred) → Meltano → BigQuery raw tables</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US"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US" sz="1100">
                <a:solidFill>
                  <a:schemeClr val="dk1"/>
                </a:solidFill>
                <a:latin typeface="Calibri"/>
                <a:ea typeface="Calibri"/>
                <a:cs typeface="Calibri"/>
                <a:sym typeface="Calibri"/>
              </a:rPr>
              <a:t>                              dbt stg_oil_prices     → casts date→DATE, prices→FLOAT64</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US" sz="1100">
                <a:solidFill>
                  <a:schemeClr val="dk1"/>
                </a:solidFill>
                <a:latin typeface="Calibri"/>
                <a:ea typeface="Calibri"/>
                <a:cs typeface="Calibri"/>
                <a:sym typeface="Calibri"/>
              </a:rPr>
              <a:t>                              dbt stg_geo_events     → casts date→DATE, severity→INT64</a:t>
            </a:r>
            <a:endParaRPr sz="1100">
              <a:solidFill>
                <a:schemeClr val="dk1"/>
              </a:solidFill>
              <a:latin typeface="Calibri"/>
              <a:ea typeface="Calibri"/>
              <a:cs typeface="Calibri"/>
              <a:sym typeface="Calibri"/>
            </a:endParaRPr>
          </a:p>
          <a:p>
            <a:pPr indent="0" lvl="0" marL="76200" marR="76200" rtl="0" algn="l">
              <a:lnSpc>
                <a:spcPct val="115000"/>
              </a:lnSpc>
              <a:spcBef>
                <a:spcPts val="600"/>
              </a:spcBef>
              <a:spcAft>
                <a:spcPts val="600"/>
              </a:spcAft>
              <a:buNone/>
            </a:pPr>
            <a:r>
              <a:rPr lang="en-US" sz="1100">
                <a:solidFill>
                  <a:schemeClr val="dk1"/>
                </a:solidFill>
                <a:latin typeface="Calibri"/>
                <a:ea typeface="Calibri"/>
                <a:cs typeface="Calibri"/>
                <a:sym typeface="Calibri"/>
              </a:rPr>
              <a:t>                              dbt mart_oil_geopolitics → LEFT JOIN on date</a:t>
            </a:r>
            <a:endParaRPr sz="1100">
              <a:solidFill>
                <a:schemeClr val="dk1"/>
              </a:solidFill>
              <a:latin typeface="Calibri"/>
              <a:ea typeface="Calibri"/>
              <a:cs typeface="Calibri"/>
              <a:sym typeface="Calibri"/>
            </a:endParaRPr>
          </a:p>
        </p:txBody>
      </p:sp>
      <p:sp>
        <p:nvSpPr>
          <p:cNvPr id="364" name="Google Shape;364;g3dccfc74559_0_45"/>
          <p:cNvSpPr txBox="1"/>
          <p:nvPr/>
        </p:nvSpPr>
        <p:spPr>
          <a:xfrm>
            <a:off x="139025" y="586250"/>
            <a:ext cx="7173300" cy="5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
              </a:spcBef>
              <a:spcAft>
                <a:spcPts val="200"/>
              </a:spcAft>
              <a:buNone/>
            </a:pPr>
            <a:r>
              <a:rPr lang="en-US" sz="1100">
                <a:solidFill>
                  <a:schemeClr val="dk1"/>
                </a:solidFill>
                <a:latin typeface="Calibri"/>
                <a:ea typeface="Calibri"/>
                <a:cs typeface="Calibri"/>
                <a:sym typeface="Calibri"/>
              </a:rPr>
              <a:t>DuckDB uses CREATE TABLE AS SELECT * — it </a:t>
            </a:r>
            <a:r>
              <a:rPr b="1" lang="en-US" sz="1100">
                <a:solidFill>
                  <a:schemeClr val="dk1"/>
                </a:solidFill>
                <a:latin typeface="Calibri"/>
                <a:ea typeface="Calibri"/>
                <a:cs typeface="Calibri"/>
                <a:sym typeface="Calibri"/>
              </a:rPr>
              <a:t>auto-infers the schema from the CSV</a:t>
            </a:r>
            <a:r>
              <a:rPr lang="en-US" sz="1100">
                <a:solidFill>
                  <a:schemeClr val="dk1"/>
                </a:solidFill>
                <a:latin typeface="Calibri"/>
                <a:ea typeface="Calibri"/>
                <a:cs typeface="Calibri"/>
                <a:sym typeface="Calibri"/>
              </a:rPr>
              <a:t>. The schema is defined by the data itself so n</a:t>
            </a:r>
            <a:r>
              <a:rPr lang="en-US" sz="1100">
                <a:solidFill>
                  <a:schemeClr val="dk1"/>
                </a:solidFill>
                <a:latin typeface="Calibri"/>
                <a:ea typeface="Calibri"/>
                <a:cs typeface="Calibri"/>
                <a:sym typeface="Calibri"/>
              </a:rPr>
              <a:t>o SQL schema file exists. </a:t>
            </a:r>
            <a:endParaRPr sz="11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369" name="Shape 369"/>
        <p:cNvGrpSpPr/>
        <p:nvPr/>
      </p:nvGrpSpPr>
      <p:grpSpPr>
        <a:xfrm>
          <a:off x="0" y="0"/>
          <a:ext cx="0" cy="0"/>
          <a:chOff x="0" y="0"/>
          <a:chExt cx="0" cy="0"/>
        </a:xfrm>
      </p:grpSpPr>
      <p:sp>
        <p:nvSpPr>
          <p:cNvPr id="370" name="Google Shape;370;g3dccfc74559_0_0"/>
          <p:cNvSpPr/>
          <p:nvPr/>
        </p:nvSpPr>
        <p:spPr>
          <a:xfrm>
            <a:off x="0" y="0"/>
            <a:ext cx="9144000" cy="5190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g3dccfc74559_0_0"/>
          <p:cNvSpPr/>
          <p:nvPr/>
        </p:nvSpPr>
        <p:spPr>
          <a:xfrm>
            <a:off x="139035" y="-37685"/>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400">
                <a:solidFill>
                  <a:srgbClr val="FFFFFF"/>
                </a:solidFill>
                <a:latin typeface="Calibri"/>
                <a:ea typeface="Calibri"/>
                <a:cs typeface="Calibri"/>
                <a:sym typeface="Calibri"/>
              </a:rPr>
              <a:t>Reference</a:t>
            </a:r>
            <a:endParaRPr b="1" sz="2400">
              <a:solidFill>
                <a:srgbClr val="FFFFFF"/>
              </a:solidFill>
              <a:latin typeface="Calibri"/>
              <a:ea typeface="Calibri"/>
              <a:cs typeface="Calibri"/>
              <a:sym typeface="Calibri"/>
            </a:endParaRPr>
          </a:p>
        </p:txBody>
      </p:sp>
      <p:sp>
        <p:nvSpPr>
          <p:cNvPr id="372" name="Google Shape;372;g3dccfc74559_0_0"/>
          <p:cNvSpPr txBox="1"/>
          <p:nvPr/>
        </p:nvSpPr>
        <p:spPr>
          <a:xfrm>
            <a:off x="86600" y="3965550"/>
            <a:ext cx="5803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200">
              <a:solidFill>
                <a:schemeClr val="dk1"/>
              </a:solidFill>
            </a:endParaRPr>
          </a:p>
        </p:txBody>
      </p:sp>
      <p:sp>
        <p:nvSpPr>
          <p:cNvPr id="373" name="Google Shape;373;g3dccfc74559_0_0"/>
          <p:cNvSpPr txBox="1"/>
          <p:nvPr/>
        </p:nvSpPr>
        <p:spPr>
          <a:xfrm>
            <a:off x="139025" y="556625"/>
            <a:ext cx="8616300" cy="42252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US" sz="1100">
                <a:solidFill>
                  <a:schemeClr val="dk1"/>
                </a:solidFill>
                <a:latin typeface="Calibri"/>
                <a:ea typeface="Calibri"/>
                <a:cs typeface="Calibri"/>
                <a:sym typeface="Calibri"/>
              </a:rPr>
              <a:t>Macroeconomic and geopolitical indicators, along with engineered financial features, provide a comprehensive framework for assessing market volatility and risk. </a:t>
            </a:r>
            <a:endParaRPr sz="1100">
              <a:solidFill>
                <a:schemeClr val="dk1"/>
              </a:solidFill>
              <a:latin typeface="Calibri"/>
              <a:ea typeface="Calibri"/>
              <a:cs typeface="Calibri"/>
              <a:sym typeface="Calibri"/>
            </a:endParaRPr>
          </a:p>
          <a:p>
            <a:pPr indent="0" lvl="0" marL="0" rtl="0" algn="l">
              <a:lnSpc>
                <a:spcPct val="100000"/>
              </a:lnSpc>
              <a:spcBef>
                <a:spcPts val="0"/>
              </a:spcBef>
              <a:spcAft>
                <a:spcPts val="0"/>
              </a:spcAft>
              <a:buNone/>
            </a:pPr>
            <a:r>
              <a:rPr lang="en-US" sz="1100">
                <a:solidFill>
                  <a:schemeClr val="dk1"/>
                </a:solidFill>
                <a:latin typeface="Calibri"/>
                <a:ea typeface="Calibri"/>
                <a:cs typeface="Calibri"/>
                <a:sym typeface="Calibri"/>
              </a:rPr>
              <a:t>Key metrics include the U.S. Dollar Index (DXY), VIX volatility index, and the Geopolitical Risk (GPR) Index, often enhanced by daily returns, lagged prices, and Brent–WTI spread analysis to model asset price behaviors</a:t>
            </a:r>
            <a:r>
              <a:rPr lang="en-US" sz="1100">
                <a:solidFill>
                  <a:srgbClr val="0A0A0A"/>
                </a:solidFill>
                <a:latin typeface="Calibri"/>
                <a:ea typeface="Calibri"/>
                <a:cs typeface="Calibri"/>
                <a:sym typeface="Calibri"/>
              </a:rPr>
              <a:t>.</a:t>
            </a:r>
            <a:endParaRPr sz="1100">
              <a:solidFill>
                <a:srgbClr val="0A0A0A"/>
              </a:solidFill>
              <a:latin typeface="Calibri"/>
              <a:ea typeface="Calibri"/>
              <a:cs typeface="Calibri"/>
              <a:sym typeface="Calibri"/>
            </a:endParaRPr>
          </a:p>
          <a:p>
            <a:pPr indent="0" lvl="0" marL="0" rtl="0" algn="l">
              <a:lnSpc>
                <a:spcPct val="100000"/>
              </a:lnSpc>
              <a:spcBef>
                <a:spcPts val="0"/>
              </a:spcBef>
              <a:spcAft>
                <a:spcPts val="0"/>
              </a:spcAft>
              <a:buNone/>
            </a:pPr>
            <a:r>
              <a:t/>
            </a:r>
            <a:endParaRPr sz="1100">
              <a:solidFill>
                <a:srgbClr val="0A0A0A"/>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lang="en-US" sz="1100">
                <a:solidFill>
                  <a:srgbClr val="0A0A0A"/>
                </a:solidFill>
                <a:latin typeface="Calibri"/>
                <a:ea typeface="Calibri"/>
                <a:cs typeface="Calibri"/>
                <a:sym typeface="Calibri"/>
              </a:rPr>
              <a:t>Macroeconomic Indicators</a:t>
            </a:r>
            <a:endParaRPr sz="1100">
              <a:solidFill>
                <a:srgbClr val="0A0A0A"/>
              </a:solidFill>
              <a:latin typeface="Calibri"/>
              <a:ea typeface="Calibri"/>
              <a:cs typeface="Calibri"/>
              <a:sym typeface="Calibri"/>
            </a:endParaRPr>
          </a:p>
          <a:p>
            <a:pPr indent="-298450" lvl="0" marL="457200" rtl="0" algn="l">
              <a:lnSpc>
                <a:spcPct val="100000"/>
              </a:lnSpc>
              <a:spcBef>
                <a:spcPts val="900"/>
              </a:spcBef>
              <a:spcAft>
                <a:spcPts val="0"/>
              </a:spcAft>
              <a:buClr>
                <a:srgbClr val="0A0A0A"/>
              </a:buClr>
              <a:buSzPts val="1100"/>
              <a:buFont typeface="Calibri"/>
              <a:buChar char="●"/>
            </a:pPr>
            <a:r>
              <a:rPr lang="en-US" sz="1100" u="sng">
                <a:solidFill>
                  <a:schemeClr val="hlink"/>
                </a:solidFill>
                <a:latin typeface="Calibri"/>
                <a:ea typeface="Calibri"/>
                <a:cs typeface="Calibri"/>
                <a:sym typeface="Calibri"/>
                <a:hlinkClick r:id="rId3"/>
              </a:rPr>
              <a:t>U.S. Dollar Index (DXY)</a:t>
            </a:r>
            <a:r>
              <a:rPr lang="en-US" sz="1100">
                <a:solidFill>
                  <a:srgbClr val="0A0A0A"/>
                </a:solidFill>
                <a:latin typeface="Calibri"/>
                <a:ea typeface="Calibri"/>
                <a:cs typeface="Calibri"/>
                <a:sym typeface="Calibri"/>
              </a:rPr>
              <a:t>: Measures the USD against a basket of foreign currencies; its depreciation often boosts commodity demand, while high volatility (often linked to the VIX) can impact global equities.</a:t>
            </a:r>
            <a:endParaRPr sz="1100">
              <a:solidFill>
                <a:srgbClr val="0A0A0A"/>
              </a:solidFill>
              <a:latin typeface="Calibri"/>
              <a:ea typeface="Calibri"/>
              <a:cs typeface="Calibri"/>
              <a:sym typeface="Calibri"/>
            </a:endParaRPr>
          </a:p>
          <a:p>
            <a:pPr indent="-298450" lvl="0" marL="457200" rtl="0" algn="l">
              <a:lnSpc>
                <a:spcPct val="100000"/>
              </a:lnSpc>
              <a:spcBef>
                <a:spcPts val="0"/>
              </a:spcBef>
              <a:spcAft>
                <a:spcPts val="0"/>
              </a:spcAft>
              <a:buClr>
                <a:srgbClr val="0A0A0A"/>
              </a:buClr>
              <a:buSzPts val="1100"/>
              <a:buChar char="●"/>
            </a:pPr>
            <a:r>
              <a:rPr lang="en-US" sz="1100" u="sng">
                <a:solidFill>
                  <a:schemeClr val="hlink"/>
                </a:solidFill>
                <a:latin typeface="Calibri"/>
                <a:ea typeface="Calibri"/>
                <a:cs typeface="Calibri"/>
                <a:sym typeface="Calibri"/>
                <a:hlinkClick r:id="rId4"/>
              </a:rPr>
              <a:t>VIX Volatility Index</a:t>
            </a:r>
            <a:r>
              <a:rPr lang="en-US" sz="1100">
                <a:solidFill>
                  <a:srgbClr val="0A0A0A"/>
                </a:solidFill>
                <a:latin typeface="Calibri"/>
                <a:ea typeface="Calibri"/>
                <a:cs typeface="Calibri"/>
                <a:sym typeface="Calibri"/>
              </a:rPr>
              <a:t>: Known as the "fear gauge," it provides a forward-looking measure of market sentiment regarding expected price volatility, often used to identify high-risk regimes. </a:t>
            </a:r>
            <a:endParaRPr sz="1100">
              <a:solidFill>
                <a:srgbClr val="0A0A0A"/>
              </a:solidFill>
              <a:latin typeface="Calibri"/>
              <a:ea typeface="Calibri"/>
              <a:cs typeface="Calibri"/>
              <a:sym typeface="Calibri"/>
            </a:endParaRPr>
          </a:p>
          <a:p>
            <a:pPr indent="0" lvl="0" marL="0" rtl="0" algn="l">
              <a:lnSpc>
                <a:spcPct val="100000"/>
              </a:lnSpc>
              <a:spcBef>
                <a:spcPts val="2100"/>
              </a:spcBef>
              <a:spcAft>
                <a:spcPts val="0"/>
              </a:spcAft>
              <a:buNone/>
            </a:pPr>
            <a:r>
              <a:rPr b="1" lang="en-US" sz="1100">
                <a:solidFill>
                  <a:srgbClr val="0A0A0A"/>
                </a:solidFill>
                <a:latin typeface="Calibri"/>
                <a:ea typeface="Calibri"/>
                <a:cs typeface="Calibri"/>
                <a:sym typeface="Calibri"/>
              </a:rPr>
              <a:t>Geopolitical Indicators</a:t>
            </a:r>
            <a:endParaRPr b="1" sz="1100">
              <a:solidFill>
                <a:srgbClr val="0A0A0A"/>
              </a:solidFill>
              <a:latin typeface="Calibri"/>
              <a:ea typeface="Calibri"/>
              <a:cs typeface="Calibri"/>
              <a:sym typeface="Calibri"/>
            </a:endParaRPr>
          </a:p>
          <a:p>
            <a:pPr indent="0" lvl="0" marL="0" rtl="0" algn="l">
              <a:lnSpc>
                <a:spcPct val="100000"/>
              </a:lnSpc>
              <a:spcBef>
                <a:spcPts val="0"/>
              </a:spcBef>
              <a:spcAft>
                <a:spcPts val="0"/>
              </a:spcAft>
              <a:buNone/>
            </a:pPr>
            <a:r>
              <a:rPr lang="en-US" sz="1100">
                <a:solidFill>
                  <a:srgbClr val="0A0A0A"/>
                </a:solidFill>
                <a:latin typeface="Calibri"/>
                <a:ea typeface="Calibri"/>
                <a:cs typeface="Calibri"/>
                <a:sym typeface="Calibri"/>
              </a:rPr>
              <a:t>Geopolitical Risk Index (GPR): Compiled by Fed economists Caldara and Iacoviello, this index counts keywords in newspapers to quantify the impact of wars, threats, and terror acts on economic activity. High GPR is associated with lower equity returns and higher volatility, especially in energy and materials sectors. </a:t>
            </a:r>
            <a:endParaRPr sz="1100">
              <a:solidFill>
                <a:srgbClr val="0A0A0A"/>
              </a:solidFill>
              <a:latin typeface="Calibri"/>
              <a:ea typeface="Calibri"/>
              <a:cs typeface="Calibri"/>
              <a:sym typeface="Calibri"/>
            </a:endParaRPr>
          </a:p>
          <a:p>
            <a:pPr indent="0" lvl="0" marL="0" rtl="0" algn="l">
              <a:lnSpc>
                <a:spcPct val="100000"/>
              </a:lnSpc>
              <a:spcBef>
                <a:spcPts val="0"/>
              </a:spcBef>
              <a:spcAft>
                <a:spcPts val="0"/>
              </a:spcAft>
              <a:buNone/>
            </a:pPr>
            <a:r>
              <a:rPr b="1" lang="en-US" sz="1100">
                <a:solidFill>
                  <a:srgbClr val="0A0A0A"/>
                </a:solidFill>
                <a:latin typeface="Calibri"/>
                <a:ea typeface="Calibri"/>
                <a:cs typeface="Calibri"/>
                <a:sym typeface="Calibri"/>
              </a:rPr>
              <a:t>Engineered Features </a:t>
            </a:r>
            <a:endParaRPr b="1" sz="1100">
              <a:solidFill>
                <a:srgbClr val="0A0A0A"/>
              </a:solidFill>
              <a:latin typeface="Calibri"/>
              <a:ea typeface="Calibri"/>
              <a:cs typeface="Calibri"/>
              <a:sym typeface="Calibri"/>
            </a:endParaRPr>
          </a:p>
          <a:p>
            <a:pPr indent="0" lvl="0" marL="0" rtl="0" algn="l">
              <a:lnSpc>
                <a:spcPct val="100000"/>
              </a:lnSpc>
              <a:spcBef>
                <a:spcPts val="0"/>
              </a:spcBef>
              <a:spcAft>
                <a:spcPts val="0"/>
              </a:spcAft>
              <a:buNone/>
            </a:pPr>
            <a:r>
              <a:rPr lang="en-US" sz="1100">
                <a:solidFill>
                  <a:srgbClr val="0A0A0A"/>
                </a:solidFill>
                <a:latin typeface="Calibri"/>
                <a:ea typeface="Calibri"/>
                <a:cs typeface="Calibri"/>
                <a:sym typeface="Calibri"/>
              </a:rPr>
              <a:t>Daily Returns: Percentage change in price from the previous day's close.</a:t>
            </a:r>
            <a:endParaRPr sz="1100">
              <a:solidFill>
                <a:srgbClr val="0A0A0A"/>
              </a:solidFill>
              <a:latin typeface="Calibri"/>
              <a:ea typeface="Calibri"/>
              <a:cs typeface="Calibri"/>
              <a:sym typeface="Calibri"/>
            </a:endParaRPr>
          </a:p>
          <a:p>
            <a:pPr indent="0" lvl="0" marL="0" rtl="0" algn="l">
              <a:lnSpc>
                <a:spcPct val="100000"/>
              </a:lnSpc>
              <a:spcBef>
                <a:spcPts val="0"/>
              </a:spcBef>
              <a:spcAft>
                <a:spcPts val="0"/>
              </a:spcAft>
              <a:buNone/>
            </a:pPr>
            <a:r>
              <a:rPr lang="en-US" sz="1100">
                <a:solidFill>
                  <a:srgbClr val="0A0A0A"/>
                </a:solidFill>
                <a:latin typeface="Calibri"/>
                <a:ea typeface="Calibri"/>
                <a:cs typeface="Calibri"/>
                <a:sym typeface="Calibri"/>
              </a:rPr>
              <a:t>Lagged Prices: Using past prices ( ) to predict future movements.</a:t>
            </a:r>
            <a:endParaRPr sz="1100">
              <a:solidFill>
                <a:srgbClr val="0A0A0A"/>
              </a:solidFill>
              <a:latin typeface="Calibri"/>
              <a:ea typeface="Calibri"/>
              <a:cs typeface="Calibri"/>
              <a:sym typeface="Calibri"/>
            </a:endParaRPr>
          </a:p>
          <a:p>
            <a:pPr indent="0" lvl="0" marL="0" rtl="0" algn="l">
              <a:lnSpc>
                <a:spcPct val="100000"/>
              </a:lnSpc>
              <a:spcBef>
                <a:spcPts val="0"/>
              </a:spcBef>
              <a:spcAft>
                <a:spcPts val="0"/>
              </a:spcAft>
              <a:buNone/>
            </a:pPr>
            <a:r>
              <a:rPr lang="en-US" sz="1100">
                <a:solidFill>
                  <a:srgbClr val="0A0A0A"/>
                </a:solidFill>
                <a:latin typeface="Calibri"/>
                <a:ea typeface="Calibri"/>
                <a:cs typeface="Calibri"/>
                <a:sym typeface="Calibri"/>
              </a:rPr>
              <a:t>Rolling Volatility Measures: A moving standard deviation of returns that captures changing risk levels over a specified window.</a:t>
            </a:r>
            <a:endParaRPr sz="1100">
              <a:solidFill>
                <a:srgbClr val="0A0A0A"/>
              </a:solidFill>
              <a:latin typeface="Calibri"/>
              <a:ea typeface="Calibri"/>
              <a:cs typeface="Calibri"/>
              <a:sym typeface="Calibri"/>
            </a:endParaRPr>
          </a:p>
          <a:p>
            <a:pPr indent="0" lvl="0" marL="0" rtl="0" algn="l">
              <a:lnSpc>
                <a:spcPct val="100000"/>
              </a:lnSpc>
              <a:spcBef>
                <a:spcPts val="0"/>
              </a:spcBef>
              <a:spcAft>
                <a:spcPts val="0"/>
              </a:spcAft>
              <a:buNone/>
            </a:pPr>
            <a:r>
              <a:rPr lang="en-US" sz="1100">
                <a:solidFill>
                  <a:srgbClr val="0A0A0A"/>
                </a:solidFill>
                <a:latin typeface="Calibri"/>
                <a:ea typeface="Calibri"/>
                <a:cs typeface="Calibri"/>
                <a:sym typeface="Calibri"/>
              </a:rPr>
              <a:t>Brent–WTI Spread: The price difference between Brent and WTI crude oil, used to gauge regional supply/demand imbalances.</a:t>
            </a:r>
            <a:endParaRPr sz="1100">
              <a:solidFill>
                <a:srgbClr val="0A0A0A"/>
              </a:solidFill>
              <a:latin typeface="Calibri"/>
              <a:ea typeface="Calibri"/>
              <a:cs typeface="Calibri"/>
              <a:sym typeface="Calibri"/>
            </a:endParaRPr>
          </a:p>
          <a:p>
            <a:pPr indent="0" lvl="0" marL="0" rtl="0" algn="l">
              <a:lnSpc>
                <a:spcPct val="100000"/>
              </a:lnSpc>
              <a:spcBef>
                <a:spcPts val="2100"/>
              </a:spcBef>
              <a:spcAft>
                <a:spcPts val="0"/>
              </a:spcAft>
              <a:buNone/>
            </a:pPr>
            <a:r>
              <a:t/>
            </a:r>
            <a:endParaRPr sz="1100">
              <a:solidFill>
                <a:srgbClr val="0A0A0A"/>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2026-03-15T14:30:12Z</dcterms:created>
  <dc:creator>Data Engineering Team</dc:creator>
</cp:coreProperties>
</file>